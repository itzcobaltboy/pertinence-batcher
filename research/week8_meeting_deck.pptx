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yolov8n</c:v>
                </c:pt>
              </c:strCache>
            </c:strRef>
          </c:tx>
          <c:spPr>
            <a:solidFill>
              <a:srgbClr val="2A78D6"/>
            </a:solidFill>
            <a:effectLst/>
          </c:spPr>
          <c:invertIfNegative val="0"/>
          <c:dLbls>
            <c:numFmt formatCode="#,##0" sourceLinked="0"/>
            <c:txPr>
              <a:bodyPr/>
              <a:lstStyle/>
              <a:p>
                <a:pPr>
                  <a:defRPr b="0" i="0" strike="noStrike" sz="1000" u="none">
                    <a:solidFill>
                      <a:srgbClr val="000000"/>
                    </a:solidFill>
                    <a:latin typeface="Calibri"/>
                  </a:defRPr>
                </a:pPr>
              </a:p>
            </c:txPr>
            <c:showLegendKey val="0"/>
            <c:showVal val="0"/>
            <c:showCatName val="0"/>
            <c:showSerName val="0"/>
            <c:showPercent val="0"/>
            <c:showBubbleSize val="0"/>
            <c:showLeaderLines val="0"/>
          </c:dLbls>
          <c:cat>
            <c:multiLvlStrRef>
              <c:f>Sheet1!$A$2:$A$9</c:f>
              <c:multiLvlStrCache>
                <c:ptCount val="8"/>
                <c:lvl>
                  <c:pt idx="0">
                    <c:v>l85 (13.3)</c:v>
                  </c:pt>
                  <c:pt idx="1">
                    <c:v>l55 (16.7)</c:v>
                  </c:pt>
                  <c:pt idx="2">
                    <c:v>balanced (22.4)</c:v>
                  </c:pt>
                  <c:pt idx="3">
                    <c:v>n40 (25.8)</c:v>
                  </c:pt>
                  <c:pt idx="4">
                    <c:v>skewed (27.5)</c:v>
                  </c:pt>
                  <c:pt idx="5">
                    <c:v>n55 (30.3)</c:v>
                  </c:pt>
                  <c:pt idx="6">
                    <c:v>n70 (36.8)</c:v>
                  </c:pt>
                  <c:pt idx="7">
                    <c:v>n85 (46.9)</c:v>
                  </c:pt>
                </c:lvl>
              </c:multiLvlStrCache>
            </c:multiLvlStrRef>
          </c:cat>
          <c:val>
            <c:numRef>
              <c:f>Sheet1!$B$2:$B$9</c:f>
              <c:numCache>
                <c:formatCode>General</c:formatCode>
                <c:ptCount val="8"/>
                <c:pt idx="0">
                  <c:v>5</c:v>
                </c:pt>
                <c:pt idx="1">
                  <c:v>15</c:v>
                </c:pt>
                <c:pt idx="2">
                  <c:v>25</c:v>
                </c:pt>
                <c:pt idx="3">
                  <c:v>40</c:v>
                </c:pt>
                <c:pt idx="4">
                  <c:v>52.8</c:v>
                </c:pt>
                <c:pt idx="5">
                  <c:v>55</c:v>
                </c:pt>
                <c:pt idx="6">
                  <c:v>70</c:v>
                </c:pt>
                <c:pt idx="7">
                  <c:v>85</c:v>
                </c:pt>
              </c:numCache>
            </c:numRef>
          </c:val>
        </c:ser>
        <c:ser>
          <c:idx val="1"/>
          <c:order val="1"/>
          <c:tx>
            <c:strRef>
              <c:f>Sheet1!$C$1</c:f>
              <c:strCache>
                <c:ptCount val="1"/>
                <c:pt idx="0">
                  <c:v>yolov8s</c:v>
                </c:pt>
              </c:strCache>
            </c:strRef>
          </c:tx>
          <c:spPr>
            <a:solidFill>
              <a:srgbClr val="EB6834"/>
            </a:solidFill>
            <a:effectLst/>
          </c:spPr>
          <c:invertIfNegative val="0"/>
          <c:dLbls>
            <c:numFmt formatCode="#,##0" sourceLinked="0"/>
            <c:txPr>
              <a:bodyPr/>
              <a:lstStyle/>
              <a:p>
                <a:pPr>
                  <a:defRPr b="0" i="0" strike="noStrike" sz="1000" u="none">
                    <a:solidFill>
                      <a:srgbClr val="000000"/>
                    </a:solidFill>
                    <a:latin typeface="Calibri"/>
                  </a:defRPr>
                </a:pPr>
              </a:p>
            </c:txPr>
            <c:showLegendKey val="0"/>
            <c:showVal val="0"/>
            <c:showCatName val="0"/>
            <c:showSerName val="0"/>
            <c:showPercent val="0"/>
            <c:showBubbleSize val="0"/>
            <c:showLeaderLines val="0"/>
          </c:dLbls>
          <c:cat>
            <c:multiLvlStrRef>
              <c:f>Sheet1!$A$2:$A$9</c:f>
              <c:multiLvlStrCache>
                <c:ptCount val="8"/>
                <c:lvl>
                  <c:pt idx="0">
                    <c:v>l85 (13.3)</c:v>
                  </c:pt>
                  <c:pt idx="1">
                    <c:v>l55 (16.7)</c:v>
                  </c:pt>
                  <c:pt idx="2">
                    <c:v>balanced (22.4)</c:v>
                  </c:pt>
                  <c:pt idx="3">
                    <c:v>n40 (25.8)</c:v>
                  </c:pt>
                  <c:pt idx="4">
                    <c:v>skewed (27.5)</c:v>
                  </c:pt>
                  <c:pt idx="5">
                    <c:v>n55 (30.3)</c:v>
                  </c:pt>
                  <c:pt idx="6">
                    <c:v>n70 (36.8)</c:v>
                  </c:pt>
                  <c:pt idx="7">
                    <c:v>n85 (46.9)</c:v>
                  </c:pt>
                </c:lvl>
              </c:multiLvlStrCache>
            </c:multiLvlStrRef>
          </c:cat>
          <c:val>
            <c:numRef>
              <c:f>Sheet1!$C$2:$C$9</c:f>
              <c:numCache>
                <c:formatCode>General</c:formatCode>
                <c:ptCount val="8"/>
                <c:pt idx="0">
                  <c:v>5</c:v>
                </c:pt>
                <c:pt idx="1">
                  <c:v>15</c:v>
                </c:pt>
                <c:pt idx="2">
                  <c:v>25</c:v>
                </c:pt>
                <c:pt idx="3">
                  <c:v>20</c:v>
                </c:pt>
                <c:pt idx="4">
                  <c:v>14.9</c:v>
                </c:pt>
                <c:pt idx="5">
                  <c:v>15</c:v>
                </c:pt>
                <c:pt idx="6">
                  <c:v>10</c:v>
                </c:pt>
                <c:pt idx="7">
                  <c:v>5</c:v>
                </c:pt>
              </c:numCache>
            </c:numRef>
          </c:val>
        </c:ser>
        <c:ser>
          <c:idx val="2"/>
          <c:order val="2"/>
          <c:tx>
            <c:strRef>
              <c:f>Sheet1!$D$1</c:f>
              <c:strCache>
                <c:ptCount val="1"/>
                <c:pt idx="0">
                  <c:v>yolov8m</c:v>
                </c:pt>
              </c:strCache>
            </c:strRef>
          </c:tx>
          <c:spPr>
            <a:solidFill>
              <a:srgbClr val="1BAF7A"/>
            </a:solidFill>
            <a:effectLst/>
          </c:spPr>
          <c:invertIfNegative val="0"/>
          <c:dLbls>
            <c:numFmt formatCode="#,##0" sourceLinked="0"/>
            <c:txPr>
              <a:bodyPr/>
              <a:lstStyle/>
              <a:p>
                <a:pPr>
                  <a:defRPr b="0" i="0" strike="noStrike" sz="1000" u="none">
                    <a:solidFill>
                      <a:srgbClr val="000000"/>
                    </a:solidFill>
                    <a:latin typeface="Calibri"/>
                  </a:defRPr>
                </a:pPr>
              </a:p>
            </c:txPr>
            <c:showLegendKey val="0"/>
            <c:showVal val="0"/>
            <c:showCatName val="0"/>
            <c:showSerName val="0"/>
            <c:showPercent val="0"/>
            <c:showBubbleSize val="0"/>
            <c:showLeaderLines val="0"/>
          </c:dLbls>
          <c:cat>
            <c:multiLvlStrRef>
              <c:f>Sheet1!$A$2:$A$9</c:f>
              <c:multiLvlStrCache>
                <c:ptCount val="8"/>
                <c:lvl>
                  <c:pt idx="0">
                    <c:v>l85 (13.3)</c:v>
                  </c:pt>
                  <c:pt idx="1">
                    <c:v>l55 (16.7)</c:v>
                  </c:pt>
                  <c:pt idx="2">
                    <c:v>balanced (22.4)</c:v>
                  </c:pt>
                  <c:pt idx="3">
                    <c:v>n40 (25.8)</c:v>
                  </c:pt>
                  <c:pt idx="4">
                    <c:v>skewed (27.5)</c:v>
                  </c:pt>
                  <c:pt idx="5">
                    <c:v>n55 (30.3)</c:v>
                  </c:pt>
                  <c:pt idx="6">
                    <c:v>n70 (36.8)</c:v>
                  </c:pt>
                  <c:pt idx="7">
                    <c:v>n85 (46.9)</c:v>
                  </c:pt>
                </c:lvl>
              </c:multiLvlStrCache>
            </c:multiLvlStrRef>
          </c:cat>
          <c:val>
            <c:numRef>
              <c:f>Sheet1!$D$2:$D$9</c:f>
              <c:numCache>
                <c:formatCode>General</c:formatCode>
                <c:ptCount val="8"/>
                <c:pt idx="0">
                  <c:v>5</c:v>
                </c:pt>
                <c:pt idx="1">
                  <c:v>15</c:v>
                </c:pt>
                <c:pt idx="2">
                  <c:v>25</c:v>
                </c:pt>
                <c:pt idx="3">
                  <c:v>20</c:v>
                </c:pt>
                <c:pt idx="4">
                  <c:v>8.3</c:v>
                </c:pt>
                <c:pt idx="5">
                  <c:v>15</c:v>
                </c:pt>
                <c:pt idx="6">
                  <c:v>10</c:v>
                </c:pt>
                <c:pt idx="7">
                  <c:v>5</c:v>
                </c:pt>
              </c:numCache>
            </c:numRef>
          </c:val>
        </c:ser>
        <c:ser>
          <c:idx val="3"/>
          <c:order val="3"/>
          <c:tx>
            <c:strRef>
              <c:f>Sheet1!$E$1</c:f>
              <c:strCache>
                <c:ptCount val="1"/>
                <c:pt idx="0">
                  <c:v>yolov8l</c:v>
                </c:pt>
              </c:strCache>
            </c:strRef>
          </c:tx>
          <c:spPr>
            <a:solidFill>
              <a:srgbClr val="EDA100"/>
            </a:solidFill>
            <a:effectLst/>
          </c:spPr>
          <c:invertIfNegative val="0"/>
          <c:dLbls>
            <c:numFmt formatCode="#,##0" sourceLinked="0"/>
            <c:txPr>
              <a:bodyPr/>
              <a:lstStyle/>
              <a:p>
                <a:pPr>
                  <a:defRPr b="0" i="0" strike="noStrike" sz="1000" u="none">
                    <a:solidFill>
                      <a:srgbClr val="000000"/>
                    </a:solidFill>
                    <a:latin typeface="Calibri"/>
                  </a:defRPr>
                </a:pPr>
              </a:p>
            </c:txPr>
            <c:showLegendKey val="0"/>
            <c:showVal val="0"/>
            <c:showCatName val="0"/>
            <c:showSerName val="0"/>
            <c:showPercent val="0"/>
            <c:showBubbleSize val="0"/>
            <c:showLeaderLines val="0"/>
          </c:dLbls>
          <c:cat>
            <c:multiLvlStrRef>
              <c:f>Sheet1!$A$2:$A$9</c:f>
              <c:multiLvlStrCache>
                <c:ptCount val="8"/>
                <c:lvl>
                  <c:pt idx="0">
                    <c:v>l85 (13.3)</c:v>
                  </c:pt>
                  <c:pt idx="1">
                    <c:v>l55 (16.7)</c:v>
                  </c:pt>
                  <c:pt idx="2">
                    <c:v>balanced (22.4)</c:v>
                  </c:pt>
                  <c:pt idx="3">
                    <c:v>n40 (25.8)</c:v>
                  </c:pt>
                  <c:pt idx="4">
                    <c:v>skewed (27.5)</c:v>
                  </c:pt>
                  <c:pt idx="5">
                    <c:v>n55 (30.3)</c:v>
                  </c:pt>
                  <c:pt idx="6">
                    <c:v>n70 (36.8)</c:v>
                  </c:pt>
                  <c:pt idx="7">
                    <c:v>n85 (46.9)</c:v>
                  </c:pt>
                </c:lvl>
              </c:multiLvlStrCache>
            </c:multiLvlStrRef>
          </c:cat>
          <c:val>
            <c:numRef>
              <c:f>Sheet1!$E$2:$E$9</c:f>
              <c:numCache>
                <c:formatCode>General</c:formatCode>
                <c:ptCount val="8"/>
                <c:pt idx="0">
                  <c:v>85</c:v>
                </c:pt>
                <c:pt idx="1">
                  <c:v>55</c:v>
                </c:pt>
                <c:pt idx="2">
                  <c:v>25</c:v>
                </c:pt>
                <c:pt idx="3">
                  <c:v>20</c:v>
                </c:pt>
                <c:pt idx="4">
                  <c:v>24</c:v>
                </c:pt>
                <c:pt idx="5">
                  <c:v>15</c:v>
                </c:pt>
                <c:pt idx="6">
                  <c:v>10</c:v>
                </c:pt>
                <c:pt idx="7">
                  <c:v>5</c:v>
                </c:pt>
              </c:numCache>
            </c:numRef>
          </c:val>
        </c:ser>
        <c:dLbls>
          <c:numFmt formatCode="#,##0" sourceLinked="0"/>
          <c:txPr>
            <a:bodyPr/>
            <a:lstStyle/>
            <a:p>
              <a:pPr>
                <a:defRPr b="0" i="0" strike="noStrike" sz="1000" u="none">
                  <a:solidFill>
                    <a:srgbClr val="000000"/>
                  </a:solidFill>
                  <a:latin typeface="Calibri"/>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title>
          <c:tx>
            <c:rich>
              <a:bodyPr/>
              <a:lstStyle/>
              <a:p>
                <a:pPr>
                  <a:defRPr sz="1100" b="0" i="0" u="none" strike="noStrike">
                    <a:solidFill>
                      <a:srgbClr val="595959"/>
                    </a:solidFill>
                    <a:latin typeface="Calibri"/>
                  </a:defRPr>
                </a:pPr>
                <a:r>
                  <a:rPr sz="1100" b="0" i="0" u="none" strike="noStrike">
                    <a:solidFill>
                      <a:srgbClr val="595959"/>
                    </a:solidFill>
                    <a:latin typeface="Calibri"/>
                  </a:rPr>
                  <a:t>traffic mix (capacity in req/s)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1E0D9"/>
              </a:solidFill>
              <a:prstDash val="solid"/>
              <a:round/>
            </a:ln>
          </c:spPr>
        </c:majorGridlines>
        <c:title>
          <c:tx>
            <c:rich>
              <a:bodyPr/>
              <a:lstStyle/>
              <a:p>
                <a:pPr>
                  <a:defRPr sz="1100" b="0" i="0" u="none" strike="noStrike">
                    <a:solidFill>
                      <a:srgbClr val="595959"/>
                    </a:solidFill>
                    <a:latin typeface="Calibri"/>
                  </a:defRPr>
                </a:pPr>
                <a:r>
                  <a:rPr sz="1100" b="0" i="0" u="none" strike="noStrike">
                    <a:solidFill>
                      <a:srgbClr val="595959"/>
                    </a:solidFill>
                    <a:latin typeface="Calibri"/>
                  </a:rPr>
                  <a:t>share of requests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yolov8n</c:v>
                </c:pt>
              </c:strCache>
            </c:strRef>
          </c:tx>
          <c:spPr>
            <a:solidFill>
              <a:srgbClr val="2A78D6"/>
            </a:solidFill>
            <a:ln w="25400" cap="flat">
              <a:solidFill>
                <a:srgbClr val="2A78D6"/>
              </a:solidFill>
              <a:prstDash val="solid"/>
              <a:round/>
            </a:ln>
            <a:effectLst/>
          </c:spPr>
          <c:marker>
            <c:symbol val="circle"/>
            <c:size val="7"/>
            <c:spPr>
              <a:solidFill>
                <a:srgbClr val="2A78D6"/>
              </a:solidFill>
              <a:ln w="9525" cap="flat">
                <a:solidFill>
                  <a:srgbClr val="2A78D6"/>
                </a:solidFill>
                <a:prstDash val="solid"/>
                <a:round/>
              </a:ln>
              <a:effectLst/>
            </c:spPr>
          </c:marker>
          <c:xVal>
            <c:numRef>
              <c:f>Sheet1!$A$2:$A$9</c:f>
              <c:numCache>
                <c:formatCode>General</c:formatCode>
                <c:ptCount val="8"/>
                <c:pt idx="0">
                  <c:v>1</c:v>
                </c:pt>
                <c:pt idx="1">
                  <c:v>2</c:v>
                </c:pt>
                <c:pt idx="2">
                  <c:v>3</c:v>
                </c:pt>
                <c:pt idx="3">
                  <c:v>4</c:v>
                </c:pt>
                <c:pt idx="4">
                  <c:v>6</c:v>
                </c:pt>
                <c:pt idx="5">
                  <c:v>8</c:v>
                </c:pt>
                <c:pt idx="6">
                  <c:v>12</c:v>
                </c:pt>
                <c:pt idx="7">
                  <c:v>16</c:v>
                </c:pt>
              </c:numCache>
            </c:numRef>
          </c:xVal>
          <c:yVal>
            <c:numRef>
              <c:f>Sheet1!$B$2:$B$9</c:f>
              <c:numCache>
                <c:formatCode>General</c:formatCode>
                <c:ptCount val="8"/>
                <c:pt idx="0">
                  <c:v>21.9</c:v>
                </c:pt>
                <c:pt idx="1">
                  <c:v>38.9</c:v>
                </c:pt>
                <c:pt idx="2">
                  <c:v>54.8</c:v>
                </c:pt>
                <c:pt idx="3">
                  <c:v>69.6</c:v>
                </c:pt>
                <c:pt idx="4">
                  <c:v>100</c:v>
                </c:pt>
                <c:pt idx="5">
                  <c:v>128.8</c:v>
                </c:pt>
                <c:pt idx="6">
                  <c:v>188.3</c:v>
                </c:pt>
                <c:pt idx="7">
                  <c:v>248</c:v>
                </c:pt>
              </c:numCache>
            </c:numRef>
          </c:yVal>
          <c:smooth val="0"/>
        </c:ser>
        <c:ser>
          <c:idx val="1"/>
          <c:order val="1"/>
          <c:tx>
            <c:strRef>
              <c:f>Sheet1!$C$1</c:f>
              <c:strCache>
                <c:ptCount val="1"/>
                <c:pt idx="0">
                  <c:v>yolov8s</c:v>
                </c:pt>
              </c:strCache>
            </c:strRef>
          </c:tx>
          <c:spPr>
            <a:solidFill>
              <a:srgbClr val="EB6834"/>
            </a:solidFill>
            <a:ln w="25400" cap="flat">
              <a:solidFill>
                <a:srgbClr val="EB6834"/>
              </a:solidFill>
              <a:prstDash val="solid"/>
              <a:round/>
            </a:ln>
            <a:effectLst/>
          </c:spPr>
          <c:marker>
            <c:symbol val="circle"/>
            <c:size val="7"/>
            <c:spPr>
              <a:solidFill>
                <a:srgbClr val="EB6834"/>
              </a:solidFill>
              <a:ln w="9525" cap="flat">
                <a:solidFill>
                  <a:srgbClr val="EB6834"/>
                </a:solidFill>
                <a:prstDash val="solid"/>
                <a:round/>
              </a:ln>
              <a:effectLst/>
            </c:spPr>
          </c:marker>
          <c:xVal>
            <c:numRef>
              <c:f>Sheet1!$A$2:$A$9</c:f>
              <c:numCache>
                <c:formatCode>General</c:formatCode>
                <c:ptCount val="8"/>
                <c:pt idx="0">
                  <c:v>1</c:v>
                </c:pt>
                <c:pt idx="1">
                  <c:v>2</c:v>
                </c:pt>
                <c:pt idx="2">
                  <c:v>3</c:v>
                </c:pt>
                <c:pt idx="3">
                  <c:v>4</c:v>
                </c:pt>
                <c:pt idx="4">
                  <c:v>6</c:v>
                </c:pt>
                <c:pt idx="5">
                  <c:v>8</c:v>
                </c:pt>
                <c:pt idx="6">
                  <c:v>12</c:v>
                </c:pt>
                <c:pt idx="7">
                  <c:v>16</c:v>
                </c:pt>
              </c:numCache>
            </c:numRef>
          </c:xVal>
          <c:yVal>
            <c:numRef>
              <c:f>Sheet1!$C$2:$C$9</c:f>
              <c:numCache>
                <c:formatCode>General</c:formatCode>
                <c:ptCount val="8"/>
                <c:pt idx="0">
                  <c:v>36</c:v>
                </c:pt>
                <c:pt idx="1">
                  <c:v>66.2</c:v>
                </c:pt>
                <c:pt idx="2">
                  <c:v>91.8</c:v>
                </c:pt>
                <c:pt idx="3">
                  <c:v>115.2</c:v>
                </c:pt>
                <c:pt idx="4">
                  <c:v>167.6</c:v>
                </c:pt>
                <c:pt idx="5">
                  <c:v>218.4</c:v>
                </c:pt>
                <c:pt idx="6">
                  <c:v>318.7</c:v>
                </c:pt>
                <c:pt idx="7">
                  <c:v>420.1</c:v>
                </c:pt>
              </c:numCache>
            </c:numRef>
          </c:yVal>
          <c:smooth val="0"/>
        </c:ser>
        <c:ser>
          <c:idx val="2"/>
          <c:order val="2"/>
          <c:tx>
            <c:strRef>
              <c:f>Sheet1!$D$1</c:f>
              <c:strCache>
                <c:ptCount val="1"/>
                <c:pt idx="0">
                  <c:v>yolov8m</c:v>
                </c:pt>
              </c:strCache>
            </c:strRef>
          </c:tx>
          <c:spPr>
            <a:solidFill>
              <a:srgbClr val="1BAF7A"/>
            </a:solidFill>
            <a:ln w="25400" cap="flat">
              <a:solidFill>
                <a:srgbClr val="1BAF7A"/>
              </a:solidFill>
              <a:prstDash val="solid"/>
              <a:round/>
            </a:ln>
            <a:effectLst/>
          </c:spPr>
          <c:marker>
            <c:symbol val="circle"/>
            <c:size val="7"/>
            <c:spPr>
              <a:solidFill>
                <a:srgbClr val="1BAF7A"/>
              </a:solidFill>
              <a:ln w="9525" cap="flat">
                <a:solidFill>
                  <a:srgbClr val="1BAF7A"/>
                </a:solidFill>
                <a:prstDash val="solid"/>
                <a:round/>
              </a:ln>
              <a:effectLst/>
            </c:spPr>
          </c:marker>
          <c:xVal>
            <c:numRef>
              <c:f>Sheet1!$A$2:$A$9</c:f>
              <c:numCache>
                <c:formatCode>General</c:formatCode>
                <c:ptCount val="8"/>
                <c:pt idx="0">
                  <c:v>1</c:v>
                </c:pt>
                <c:pt idx="1">
                  <c:v>2</c:v>
                </c:pt>
                <c:pt idx="2">
                  <c:v>3</c:v>
                </c:pt>
                <c:pt idx="3">
                  <c:v>4</c:v>
                </c:pt>
                <c:pt idx="4">
                  <c:v>6</c:v>
                </c:pt>
                <c:pt idx="5">
                  <c:v>8</c:v>
                </c:pt>
                <c:pt idx="6">
                  <c:v>12</c:v>
                </c:pt>
                <c:pt idx="7">
                  <c:v>16</c:v>
                </c:pt>
              </c:numCache>
            </c:numRef>
          </c:xVal>
          <c:yVal>
            <c:numRef>
              <c:f>Sheet1!$D$2:$D$9</c:f>
              <c:numCache>
                <c:formatCode>General</c:formatCode>
                <c:ptCount val="8"/>
                <c:pt idx="0">
                  <c:v>71.7</c:v>
                </c:pt>
                <c:pt idx="1">
                  <c:v>128</c:v>
                </c:pt>
                <c:pt idx="2">
                  <c:v>179.2</c:v>
                </c:pt>
                <c:pt idx="3">
                  <c:v>229.2</c:v>
                </c:pt>
                <c:pt idx="4">
                  <c:v>339</c:v>
                </c:pt>
                <c:pt idx="5">
                  <c:v>446.4</c:v>
                </c:pt>
                <c:pt idx="6">
                  <c:v>655.1</c:v>
                </c:pt>
                <c:pt idx="7">
                  <c:v>863.8</c:v>
                </c:pt>
              </c:numCache>
            </c:numRef>
          </c:yVal>
          <c:smooth val="0"/>
        </c:ser>
        <c:ser>
          <c:idx val="3"/>
          <c:order val="3"/>
          <c:tx>
            <c:strRef>
              <c:f>Sheet1!$E$1</c:f>
              <c:strCache>
                <c:ptCount val="1"/>
                <c:pt idx="0">
                  <c:v>yolov8l</c:v>
                </c:pt>
              </c:strCache>
            </c:strRef>
          </c:tx>
          <c:spPr>
            <a:solidFill>
              <a:srgbClr val="EDA100"/>
            </a:solidFill>
            <a:ln w="25400" cap="flat">
              <a:solidFill>
                <a:srgbClr val="EDA100"/>
              </a:solidFill>
              <a:prstDash val="solid"/>
              <a:round/>
            </a:ln>
            <a:effectLst/>
          </c:spPr>
          <c:marker>
            <c:symbol val="circle"/>
            <c:size val="7"/>
            <c:spPr>
              <a:solidFill>
                <a:srgbClr val="EDA100"/>
              </a:solidFill>
              <a:ln w="9525" cap="flat">
                <a:solidFill>
                  <a:srgbClr val="EDA100"/>
                </a:solidFill>
                <a:prstDash val="solid"/>
                <a:round/>
              </a:ln>
              <a:effectLst/>
            </c:spPr>
          </c:marker>
          <c:xVal>
            <c:numRef>
              <c:f>Sheet1!$A$2:$A$9</c:f>
              <c:numCache>
                <c:formatCode>General</c:formatCode>
                <c:ptCount val="8"/>
                <c:pt idx="0">
                  <c:v>1</c:v>
                </c:pt>
                <c:pt idx="1">
                  <c:v>2</c:v>
                </c:pt>
                <c:pt idx="2">
                  <c:v>3</c:v>
                </c:pt>
                <c:pt idx="3">
                  <c:v>4</c:v>
                </c:pt>
                <c:pt idx="4">
                  <c:v>6</c:v>
                </c:pt>
                <c:pt idx="5">
                  <c:v>8</c:v>
                </c:pt>
                <c:pt idx="6">
                  <c:v>12</c:v>
                </c:pt>
                <c:pt idx="7">
                  <c:v>16</c:v>
                </c:pt>
              </c:numCache>
            </c:numRef>
          </c:xVal>
          <c:yVal>
            <c:numRef>
              <c:f>Sheet1!$E$2:$E$9</c:f>
              <c:numCache>
                <c:formatCode>General</c:formatCode>
                <c:ptCount val="8"/>
                <c:pt idx="0">
                  <c:v>109.9</c:v>
                </c:pt>
                <c:pt idx="1">
                  <c:v>197.3</c:v>
                </c:pt>
                <c:pt idx="2">
                  <c:v>278</c:v>
                </c:pt>
                <c:pt idx="3">
                  <c:v>353.6</c:v>
                </c:pt>
                <c:pt idx="4">
                  <c:v>514</c:v>
                </c:pt>
                <c:pt idx="5">
                  <c:v>675.4</c:v>
                </c:pt>
                <c:pt idx="6">
                  <c:v>1010.8</c:v>
                </c:pt>
                <c:pt idx="7">
                  <c:v>1323.2</c:v>
                </c:pt>
              </c:numCache>
            </c:numRef>
          </c:yVal>
          <c:smooth val="0"/>
        </c:ser>
        <c:dLbls>
          <c:numFmt formatCode="General" sourceLinked="0"/>
          <c:txPr>
            <a:bodyPr/>
            <a:lstStyle/>
            <a:p>
              <a:pPr>
                <a:defRPr b="0" i="0" strike="noStrike" sz="1000" u="none">
                  <a:solidFill>
                    <a:srgbClr val="000000"/>
                  </a:solidFill>
                  <a:latin typeface="Calibri"/>
                </a:defRPr>
              </a:pPr>
            </a:p>
          </c:txPr>
          <c:showLegendKey val="0"/>
          <c:showVal val="0"/>
          <c:showCatName val="0"/>
          <c:showSerName val="0"/>
          <c:showPercent val="0"/>
          <c:showBubbleSize val="0"/>
        </c:dLbls>
        <c:axId val="2094734554"/>
        <c:axId val="2094734552"/>
      </c:scatterChart>
      <c:valAx>
        <c:axId val="2094734554"/>
        <c:scaling>
          <c:orientation val="minMax"/>
          <c:max val="16"/>
          <c:min val="0"/>
        </c:scaling>
        <c:delete val="0"/>
        <c:axPos val="b"/>
        <c:title>
          <c:tx>
            <c:rich>
              <a:bodyPr/>
              <a:lstStyle/>
              <a:p>
                <a:pPr>
                  <a:defRPr sz="1100" b="0" i="0" u="none" strike="noStrike">
                    <a:solidFill>
                      <a:srgbClr val="595959"/>
                    </a:solidFill>
                    <a:latin typeface="Calibri"/>
                  </a:defRPr>
                </a:pPr>
                <a:r>
                  <a:rPr sz="1100" b="0" i="0" u="none" strike="noStrike">
                    <a:solidFill>
                      <a:srgbClr val="595959"/>
                    </a:solidFill>
                    <a:latin typeface="Calibri"/>
                  </a:rPr>
                  <a:t>batch size b</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2"/>
        <c:crosses val="autoZero"/>
        <c:auto val="1"/>
        <c:lblAlgn val="ctr"/>
        <c:noMultiLvlLbl val="1"/>
      </c:valAx>
      <c:valAx>
        <c:axId val="2094734552"/>
        <c:scaling>
          <c:orientation val="minMax"/>
          <c:max val="1400"/>
          <c:min val="0"/>
        </c:scaling>
        <c:delete val="0"/>
        <c:axPos val="l"/>
        <c:majorGridlines>
          <c:spPr>
            <a:ln w="6350" cap="flat">
              <a:solidFill>
                <a:srgbClr val="E1E0D9"/>
              </a:solidFill>
              <a:prstDash val="solid"/>
              <a:round/>
            </a:ln>
          </c:spPr>
        </c:majorGridlines>
        <c:title>
          <c:tx>
            <c:rich>
              <a:bodyPr/>
              <a:lstStyle/>
              <a:p>
                <a:pPr>
                  <a:defRPr sz="1100" b="0" i="0" u="none" strike="noStrike">
                    <a:solidFill>
                      <a:srgbClr val="595959"/>
                    </a:solidFill>
                    <a:latin typeface="Calibri"/>
                  </a:defRPr>
                </a:pPr>
                <a:r>
                  <a:rPr sz="1100" b="0" i="0" u="none" strike="noStrike">
                    <a:solidFill>
                      <a:srgbClr val="595959"/>
                    </a:solidFill>
                    <a:latin typeface="Calibri"/>
                  </a:rPr>
                  <a:t>batch time (ms)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midCat"/>
      </c:valAx>
      <c:spPr>
        <a:noFill/>
        <a:ln>
          <a:noFill/>
        </a:ln>
        <a:effectLst/>
      </c:spPr>
    </c:plotArea>
    <c:legend>
      <c:legendPos val="t"/>
      <c:overlay val="0"/>
      <c:txPr>
        <a:bodyPr/>
        <a:lstStyle/>
        <a:p>
          <a:pPr>
            <a:defRPr sz="1100">
              <a:solidFill>
                <a:srgbClr val="000000"/>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Calibri"/>
              </a:defRPr>
            </a:pPr>
            <a:r>
              <a:rPr sz="1200" b="0" i="0" u="none" strike="noStrike">
                <a:solidFill>
                  <a:srgbClr val="000000"/>
                </a:solidFill>
                <a:latin typeface="Calibri"/>
              </a:rPr>
              <a:t>Energy per batch</a:t>
            </a:r>
          </a:p>
        </c:rich>
      </c:tx>
      <c:layout/>
      <c:overlay val="0"/>
    </c:title>
    <c:autoTitleDeleted val="0"/>
    <c:plotArea>
      <c:layout/>
      <c:scatterChart>
        <c:scatterStyle val="lineMarker"/>
        <c:varyColors val="0"/>
        <c:ser>
          <c:idx val="0"/>
          <c:order val="0"/>
          <c:tx>
            <c:strRef>
              <c:f>Sheet1!$B$1</c:f>
              <c:strCache>
                <c:ptCount val="1"/>
                <c:pt idx="0">
                  <c:v>yolov8n</c:v>
                </c:pt>
              </c:strCache>
            </c:strRef>
          </c:tx>
          <c:spPr>
            <a:solidFill>
              <a:srgbClr val="2A78D6"/>
            </a:solidFill>
            <a:ln w="25400" cap="flat">
              <a:solidFill>
                <a:srgbClr val="2A78D6"/>
              </a:solidFill>
              <a:prstDash val="solid"/>
              <a:round/>
            </a:ln>
            <a:effectLst/>
          </c:spPr>
          <c:marker>
            <c:symbol val="circle"/>
            <c:size val="4"/>
            <c:spPr>
              <a:solidFill>
                <a:srgbClr val="2A78D6"/>
              </a:solidFill>
              <a:ln w="9525" cap="flat">
                <a:solidFill>
                  <a:srgbClr val="2A78D6"/>
                </a:solidFill>
                <a:prstDash val="solid"/>
                <a:round/>
              </a:ln>
              <a:effectLst/>
            </c:spPr>
          </c:marker>
          <c:xVal>
            <c:numRef>
              <c:f>Sheet1!$A$2:$A$17</c:f>
              <c:numCache>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Cache>
            </c:numRef>
          </c:xVal>
          <c:yVal>
            <c:numRef>
              <c:f>Sheet1!$B$2:$B$17</c:f>
              <c:numCache>
                <c:formatCode>General</c:formatCode>
                <c:ptCount val="16"/>
                <c:pt idx="0">
                  <c:v>0.216</c:v>
                </c:pt>
                <c:pt idx="1">
                  <c:v>0.371</c:v>
                </c:pt>
                <c:pt idx="2">
                  <c:v>0.526</c:v>
                </c:pt>
                <c:pt idx="3">
                  <c:v>0.681</c:v>
                </c:pt>
                <c:pt idx="4">
                  <c:v>0.836</c:v>
                </c:pt>
                <c:pt idx="5">
                  <c:v>0.991</c:v>
                </c:pt>
                <c:pt idx="6">
                  <c:v>1.146</c:v>
                </c:pt>
                <c:pt idx="7">
                  <c:v>1.301</c:v>
                </c:pt>
                <c:pt idx="8">
                  <c:v>1.456</c:v>
                </c:pt>
                <c:pt idx="9">
                  <c:v>1.611</c:v>
                </c:pt>
                <c:pt idx="10">
                  <c:v>1.766</c:v>
                </c:pt>
                <c:pt idx="11">
                  <c:v>1.921</c:v>
                </c:pt>
                <c:pt idx="12">
                  <c:v>2.076</c:v>
                </c:pt>
                <c:pt idx="13">
                  <c:v>2.231</c:v>
                </c:pt>
                <c:pt idx="14">
                  <c:v>2.386</c:v>
                </c:pt>
                <c:pt idx="15">
                  <c:v>2.541</c:v>
                </c:pt>
              </c:numCache>
            </c:numRef>
          </c:yVal>
          <c:smooth val="0"/>
        </c:ser>
        <c:ser>
          <c:idx val="1"/>
          <c:order val="1"/>
          <c:tx>
            <c:strRef>
              <c:f>Sheet1!$C$1</c:f>
              <c:strCache>
                <c:ptCount val="1"/>
                <c:pt idx="0">
                  <c:v>yolov8s</c:v>
                </c:pt>
              </c:strCache>
            </c:strRef>
          </c:tx>
          <c:spPr>
            <a:solidFill>
              <a:srgbClr val="EB6834"/>
            </a:solidFill>
            <a:ln w="25400" cap="flat">
              <a:solidFill>
                <a:srgbClr val="EB6834"/>
              </a:solidFill>
              <a:prstDash val="solid"/>
              <a:round/>
            </a:ln>
            <a:effectLst/>
          </c:spPr>
          <c:marker>
            <c:symbol val="circle"/>
            <c:size val="4"/>
            <c:spPr>
              <a:solidFill>
                <a:srgbClr val="EB6834"/>
              </a:solidFill>
              <a:ln w="9525" cap="flat">
                <a:solidFill>
                  <a:srgbClr val="EB6834"/>
                </a:solidFill>
                <a:prstDash val="solid"/>
                <a:round/>
              </a:ln>
              <a:effectLst/>
            </c:spPr>
          </c:marker>
          <c:xVal>
            <c:numRef>
              <c:f>Sheet1!$A$2:$A$17</c:f>
              <c:numCache>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Cache>
            </c:numRef>
          </c:xVal>
          <c:yVal>
            <c:numRef>
              <c:f>Sheet1!$C$2:$C$17</c:f>
              <c:numCache>
                <c:formatCode>General</c:formatCode>
                <c:ptCount val="16"/>
                <c:pt idx="0">
                  <c:v>0.367</c:v>
                </c:pt>
                <c:pt idx="1">
                  <c:v>0.638</c:v>
                </c:pt>
                <c:pt idx="2">
                  <c:v>0.91</c:v>
                </c:pt>
                <c:pt idx="3">
                  <c:v>1.182</c:v>
                </c:pt>
                <c:pt idx="4">
                  <c:v>1.453</c:v>
                </c:pt>
                <c:pt idx="5">
                  <c:v>1.725</c:v>
                </c:pt>
                <c:pt idx="6">
                  <c:v>1.996</c:v>
                </c:pt>
                <c:pt idx="7">
                  <c:v>2.268</c:v>
                </c:pt>
                <c:pt idx="8">
                  <c:v>2.54</c:v>
                </c:pt>
                <c:pt idx="9">
                  <c:v>2.811</c:v>
                </c:pt>
                <c:pt idx="10">
                  <c:v>3.083</c:v>
                </c:pt>
                <c:pt idx="11">
                  <c:v>3.354</c:v>
                </c:pt>
                <c:pt idx="12">
                  <c:v>3.626</c:v>
                </c:pt>
                <c:pt idx="13">
                  <c:v>3.898</c:v>
                </c:pt>
                <c:pt idx="14">
                  <c:v>4.169</c:v>
                </c:pt>
                <c:pt idx="15">
                  <c:v>4.441</c:v>
                </c:pt>
              </c:numCache>
            </c:numRef>
          </c:yVal>
          <c:smooth val="0"/>
        </c:ser>
        <c:ser>
          <c:idx val="2"/>
          <c:order val="2"/>
          <c:tx>
            <c:strRef>
              <c:f>Sheet1!$D$1</c:f>
              <c:strCache>
                <c:ptCount val="1"/>
                <c:pt idx="0">
                  <c:v>yolov8m</c:v>
                </c:pt>
              </c:strCache>
            </c:strRef>
          </c:tx>
          <c:spPr>
            <a:solidFill>
              <a:srgbClr val="1BAF7A"/>
            </a:solidFill>
            <a:ln w="25400" cap="flat">
              <a:solidFill>
                <a:srgbClr val="1BAF7A"/>
              </a:solidFill>
              <a:prstDash val="solid"/>
              <a:round/>
            </a:ln>
            <a:effectLst/>
          </c:spPr>
          <c:marker>
            <c:symbol val="circle"/>
            <c:size val="4"/>
            <c:spPr>
              <a:solidFill>
                <a:srgbClr val="1BAF7A"/>
              </a:solidFill>
              <a:ln w="9525" cap="flat">
                <a:solidFill>
                  <a:srgbClr val="1BAF7A"/>
                </a:solidFill>
                <a:prstDash val="solid"/>
                <a:round/>
              </a:ln>
              <a:effectLst/>
            </c:spPr>
          </c:marker>
          <c:xVal>
            <c:numRef>
              <c:f>Sheet1!$A$2:$A$17</c:f>
              <c:numCache>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Cache>
            </c:numRef>
          </c:xVal>
          <c:yVal>
            <c:numRef>
              <c:f>Sheet1!$D$2:$D$17</c:f>
              <c:numCache>
                <c:formatCode>General</c:formatCode>
                <c:ptCount val="16"/>
                <c:pt idx="0">
                  <c:v>0.785</c:v>
                </c:pt>
                <c:pt idx="1">
                  <c:v>1.428</c:v>
                </c:pt>
                <c:pt idx="2">
                  <c:v>2.071</c:v>
                </c:pt>
                <c:pt idx="3">
                  <c:v>2.714</c:v>
                </c:pt>
                <c:pt idx="4">
                  <c:v>3.357</c:v>
                </c:pt>
                <c:pt idx="5">
                  <c:v>4.001</c:v>
                </c:pt>
                <c:pt idx="6">
                  <c:v>4.644</c:v>
                </c:pt>
                <c:pt idx="7">
                  <c:v>5.287</c:v>
                </c:pt>
                <c:pt idx="8">
                  <c:v>5.93</c:v>
                </c:pt>
                <c:pt idx="9">
                  <c:v>6.573</c:v>
                </c:pt>
                <c:pt idx="10">
                  <c:v>7.217</c:v>
                </c:pt>
                <c:pt idx="11">
                  <c:v>7.86</c:v>
                </c:pt>
                <c:pt idx="12">
                  <c:v>8.503</c:v>
                </c:pt>
                <c:pt idx="13">
                  <c:v>9.146</c:v>
                </c:pt>
                <c:pt idx="14">
                  <c:v>9.789</c:v>
                </c:pt>
                <c:pt idx="15">
                  <c:v>10.433</c:v>
                </c:pt>
              </c:numCache>
            </c:numRef>
          </c:yVal>
          <c:smooth val="0"/>
        </c:ser>
        <c:ser>
          <c:idx val="3"/>
          <c:order val="3"/>
          <c:tx>
            <c:strRef>
              <c:f>Sheet1!$E$1</c:f>
              <c:strCache>
                <c:ptCount val="1"/>
                <c:pt idx="0">
                  <c:v>yolov8l</c:v>
                </c:pt>
              </c:strCache>
            </c:strRef>
          </c:tx>
          <c:spPr>
            <a:solidFill>
              <a:srgbClr val="EDA100"/>
            </a:solidFill>
            <a:ln w="25400" cap="flat">
              <a:solidFill>
                <a:srgbClr val="EDA100"/>
              </a:solidFill>
              <a:prstDash val="solid"/>
              <a:round/>
            </a:ln>
            <a:effectLst/>
          </c:spPr>
          <c:marker>
            <c:symbol val="circle"/>
            <c:size val="4"/>
            <c:spPr>
              <a:solidFill>
                <a:srgbClr val="EDA100"/>
              </a:solidFill>
              <a:ln w="9525" cap="flat">
                <a:solidFill>
                  <a:srgbClr val="EDA100"/>
                </a:solidFill>
                <a:prstDash val="solid"/>
                <a:round/>
              </a:ln>
              <a:effectLst/>
            </c:spPr>
          </c:marker>
          <c:xVal>
            <c:numRef>
              <c:f>Sheet1!$A$2:$A$17</c:f>
              <c:numCache>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Cache>
            </c:numRef>
          </c:xVal>
          <c:yVal>
            <c:numRef>
              <c:f>Sheet1!$E$2:$E$17</c:f>
              <c:numCache>
                <c:formatCode>General</c:formatCode>
                <c:ptCount val="16"/>
                <c:pt idx="0">
                  <c:v>1.266</c:v>
                </c:pt>
                <c:pt idx="1">
                  <c:v>2.316</c:v>
                </c:pt>
                <c:pt idx="2">
                  <c:v>3.366</c:v>
                </c:pt>
                <c:pt idx="3">
                  <c:v>4.416</c:v>
                </c:pt>
                <c:pt idx="4">
                  <c:v>5.466</c:v>
                </c:pt>
                <c:pt idx="5">
                  <c:v>6.516</c:v>
                </c:pt>
                <c:pt idx="6">
                  <c:v>7.566</c:v>
                </c:pt>
                <c:pt idx="7">
                  <c:v>8.616</c:v>
                </c:pt>
                <c:pt idx="8">
                  <c:v>9.666</c:v>
                </c:pt>
                <c:pt idx="9">
                  <c:v>10.716</c:v>
                </c:pt>
                <c:pt idx="10">
                  <c:v>11.766</c:v>
                </c:pt>
                <c:pt idx="11">
                  <c:v>12.816</c:v>
                </c:pt>
                <c:pt idx="12">
                  <c:v>13.866</c:v>
                </c:pt>
                <c:pt idx="13">
                  <c:v>14.916</c:v>
                </c:pt>
                <c:pt idx="14">
                  <c:v>15.966</c:v>
                </c:pt>
                <c:pt idx="15">
                  <c:v>17.016</c:v>
                </c:pt>
              </c:numCache>
            </c:numRef>
          </c:yVal>
          <c:smooth val="0"/>
        </c:ser>
        <c:dLbls>
          <c:numFmt formatCode="General" sourceLinked="0"/>
          <c:txPr>
            <a:bodyPr/>
            <a:lstStyle/>
            <a:p>
              <a:pPr>
                <a:defRPr b="0" i="0" strike="noStrike" sz="1000" u="none">
                  <a:solidFill>
                    <a:srgbClr val="000000"/>
                  </a:solidFill>
                  <a:latin typeface="Calibri"/>
                </a:defRPr>
              </a:pPr>
            </a:p>
          </c:txPr>
          <c:showLegendKey val="0"/>
          <c:showVal val="0"/>
          <c:showCatName val="0"/>
          <c:showSerName val="0"/>
          <c:showPercent val="0"/>
          <c:showBubbleSize val="0"/>
        </c:dLbls>
        <c:axId val="2094734554"/>
        <c:axId val="2094734552"/>
      </c:scatterChart>
      <c:valAx>
        <c:axId val="2094734554"/>
        <c:scaling>
          <c:orientation val="minMax"/>
          <c:max val="16"/>
          <c:min val="0"/>
        </c:scaling>
        <c:delete val="0"/>
        <c:axPos val="b"/>
        <c:title>
          <c:tx>
            <c:rich>
              <a:bodyPr/>
              <a:lstStyle/>
              <a:p>
                <a:pPr>
                  <a:defRPr sz="1100" b="0" i="0" u="none" strike="noStrike">
                    <a:solidFill>
                      <a:srgbClr val="595959"/>
                    </a:solidFill>
                    <a:latin typeface="Calibri"/>
                  </a:defRPr>
                </a:pPr>
                <a:r>
                  <a:rPr sz="1100" b="0" i="0" u="none" strike="noStrike">
                    <a:solidFill>
                      <a:srgbClr val="595959"/>
                    </a:solidFill>
                    <a:latin typeface="Calibri"/>
                  </a:rPr>
                  <a:t>batch size b</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2"/>
        <c:crosses val="autoZero"/>
        <c:auto val="1"/>
        <c:lblAlgn val="ctr"/>
        <c:noMultiLvlLbl val="1"/>
      </c:valAx>
      <c:valAx>
        <c:axId val="2094734552"/>
        <c:scaling>
          <c:orientation val="minMax"/>
          <c:min val="0"/>
        </c:scaling>
        <c:delete val="0"/>
        <c:axPos val="l"/>
        <c:majorGridlines>
          <c:spPr>
            <a:ln w="6350" cap="flat">
              <a:solidFill>
                <a:srgbClr val="E1E0D9"/>
              </a:solidFill>
              <a:prstDash val="solid"/>
              <a:round/>
            </a:ln>
          </c:spPr>
        </c:majorGridlines>
        <c:title>
          <c:tx>
            <c:rich>
              <a:bodyPr/>
              <a:lstStyle/>
              <a:p>
                <a:pPr>
                  <a:defRPr sz="1100" b="0" i="0" u="none" strike="noStrike">
                    <a:solidFill>
                      <a:srgbClr val="595959"/>
                    </a:solidFill>
                    <a:latin typeface="Calibri"/>
                  </a:defRPr>
                </a:pPr>
                <a:r>
                  <a:rPr sz="1100" b="0" i="0" u="none" strike="noStrike">
                    <a:solidFill>
                      <a:srgbClr val="595959"/>
                    </a:solidFill>
                    <a:latin typeface="Calibri"/>
                  </a:rPr>
                  <a:t>energy per batch (J)</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midCat"/>
      </c:valAx>
      <c:spPr>
        <a:noFill/>
        <a:ln>
          <a:noFill/>
        </a:ln>
        <a:effectLst/>
      </c:spPr>
    </c:plotArea>
    <c:legend>
      <c:legendPos val="t"/>
      <c:overlay val="0"/>
      <c:txPr>
        <a:bodyPr/>
        <a:lstStyle/>
        <a:p>
          <a:pPr>
            <a:defRPr sz="1100">
              <a:solidFill>
                <a:srgbClr val="000000"/>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Calibri"/>
              </a:defRPr>
            </a:pPr>
            <a:r>
              <a:rPr sz="1200" b="0" i="0" u="none" strike="noStrike">
                <a:solidFill>
                  <a:srgbClr val="000000"/>
                </a:solidFill>
                <a:latin typeface="Calibri"/>
              </a:rPr>
              <a:t>Energy per frame</a:t>
            </a:r>
          </a:p>
        </c:rich>
      </c:tx>
      <c:layout/>
      <c:overlay val="0"/>
    </c:title>
    <c:autoTitleDeleted val="0"/>
    <c:plotArea>
      <c:layout/>
      <c:scatterChart>
        <c:scatterStyle val="lineMarker"/>
        <c:varyColors val="0"/>
        <c:ser>
          <c:idx val="0"/>
          <c:order val="0"/>
          <c:tx>
            <c:strRef>
              <c:f>Sheet1!$B$1</c:f>
              <c:strCache>
                <c:ptCount val="1"/>
                <c:pt idx="0">
                  <c:v>yolov8n</c:v>
                </c:pt>
              </c:strCache>
            </c:strRef>
          </c:tx>
          <c:spPr>
            <a:solidFill>
              <a:srgbClr val="2A78D6"/>
            </a:solidFill>
            <a:ln w="25400" cap="flat">
              <a:solidFill>
                <a:srgbClr val="2A78D6"/>
              </a:solidFill>
              <a:prstDash val="solid"/>
              <a:round/>
            </a:ln>
            <a:effectLst/>
          </c:spPr>
          <c:marker>
            <c:symbol val="circle"/>
            <c:size val="4"/>
            <c:spPr>
              <a:solidFill>
                <a:srgbClr val="2A78D6"/>
              </a:solidFill>
              <a:ln w="9525" cap="flat">
                <a:solidFill>
                  <a:srgbClr val="2A78D6"/>
                </a:solidFill>
                <a:prstDash val="solid"/>
                <a:round/>
              </a:ln>
              <a:effectLst/>
            </c:spPr>
          </c:marker>
          <c:xVal>
            <c:numRef>
              <c:f>Sheet1!$A$2:$A$17</c:f>
              <c:numCache>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Cache>
            </c:numRef>
          </c:xVal>
          <c:yVal>
            <c:numRef>
              <c:f>Sheet1!$B$2:$B$17</c:f>
              <c:numCache>
                <c:formatCode>General</c:formatCode>
                <c:ptCount val="16"/>
                <c:pt idx="0">
                  <c:v>216</c:v>
                </c:pt>
                <c:pt idx="1">
                  <c:v>186</c:v>
                </c:pt>
                <c:pt idx="2">
                  <c:v>175</c:v>
                </c:pt>
                <c:pt idx="3">
                  <c:v>170</c:v>
                </c:pt>
                <c:pt idx="4">
                  <c:v>167</c:v>
                </c:pt>
                <c:pt idx="5">
                  <c:v>165</c:v>
                </c:pt>
                <c:pt idx="6">
                  <c:v>164</c:v>
                </c:pt>
                <c:pt idx="7">
                  <c:v>163</c:v>
                </c:pt>
                <c:pt idx="8">
                  <c:v>162</c:v>
                </c:pt>
                <c:pt idx="9">
                  <c:v>161</c:v>
                </c:pt>
                <c:pt idx="10">
                  <c:v>161</c:v>
                </c:pt>
                <c:pt idx="11">
                  <c:v>160</c:v>
                </c:pt>
                <c:pt idx="12">
                  <c:v>160</c:v>
                </c:pt>
                <c:pt idx="13">
                  <c:v>159</c:v>
                </c:pt>
                <c:pt idx="14">
                  <c:v>159</c:v>
                </c:pt>
                <c:pt idx="15">
                  <c:v>159</c:v>
                </c:pt>
              </c:numCache>
            </c:numRef>
          </c:yVal>
          <c:smooth val="0"/>
        </c:ser>
        <c:ser>
          <c:idx val="1"/>
          <c:order val="1"/>
          <c:tx>
            <c:strRef>
              <c:f>Sheet1!$C$1</c:f>
              <c:strCache>
                <c:ptCount val="1"/>
                <c:pt idx="0">
                  <c:v>yolov8s</c:v>
                </c:pt>
              </c:strCache>
            </c:strRef>
          </c:tx>
          <c:spPr>
            <a:solidFill>
              <a:srgbClr val="EB6834"/>
            </a:solidFill>
            <a:ln w="25400" cap="flat">
              <a:solidFill>
                <a:srgbClr val="EB6834"/>
              </a:solidFill>
              <a:prstDash val="solid"/>
              <a:round/>
            </a:ln>
            <a:effectLst/>
          </c:spPr>
          <c:marker>
            <c:symbol val="circle"/>
            <c:size val="4"/>
            <c:spPr>
              <a:solidFill>
                <a:srgbClr val="EB6834"/>
              </a:solidFill>
              <a:ln w="9525" cap="flat">
                <a:solidFill>
                  <a:srgbClr val="EB6834"/>
                </a:solidFill>
                <a:prstDash val="solid"/>
                <a:round/>
              </a:ln>
              <a:effectLst/>
            </c:spPr>
          </c:marker>
          <c:xVal>
            <c:numRef>
              <c:f>Sheet1!$A$2:$A$17</c:f>
              <c:numCache>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Cache>
            </c:numRef>
          </c:xVal>
          <c:yVal>
            <c:numRef>
              <c:f>Sheet1!$C$2:$C$17</c:f>
              <c:numCache>
                <c:formatCode>General</c:formatCode>
                <c:ptCount val="16"/>
                <c:pt idx="0">
                  <c:v>367</c:v>
                </c:pt>
                <c:pt idx="1">
                  <c:v>319</c:v>
                </c:pt>
                <c:pt idx="2">
                  <c:v>303</c:v>
                </c:pt>
                <c:pt idx="3">
                  <c:v>295</c:v>
                </c:pt>
                <c:pt idx="4">
                  <c:v>291</c:v>
                </c:pt>
                <c:pt idx="5">
                  <c:v>287</c:v>
                </c:pt>
                <c:pt idx="6">
                  <c:v>285</c:v>
                </c:pt>
                <c:pt idx="7">
                  <c:v>284</c:v>
                </c:pt>
                <c:pt idx="8">
                  <c:v>282</c:v>
                </c:pt>
                <c:pt idx="9">
                  <c:v>281</c:v>
                </c:pt>
                <c:pt idx="10">
                  <c:v>280</c:v>
                </c:pt>
                <c:pt idx="11">
                  <c:v>280</c:v>
                </c:pt>
                <c:pt idx="12">
                  <c:v>279</c:v>
                </c:pt>
                <c:pt idx="13">
                  <c:v>278</c:v>
                </c:pt>
                <c:pt idx="14">
                  <c:v>278</c:v>
                </c:pt>
                <c:pt idx="15">
                  <c:v>278</c:v>
                </c:pt>
              </c:numCache>
            </c:numRef>
          </c:yVal>
          <c:smooth val="0"/>
        </c:ser>
        <c:ser>
          <c:idx val="2"/>
          <c:order val="2"/>
          <c:tx>
            <c:strRef>
              <c:f>Sheet1!$D$1</c:f>
              <c:strCache>
                <c:ptCount val="1"/>
                <c:pt idx="0">
                  <c:v>yolov8m</c:v>
                </c:pt>
              </c:strCache>
            </c:strRef>
          </c:tx>
          <c:spPr>
            <a:solidFill>
              <a:srgbClr val="1BAF7A"/>
            </a:solidFill>
            <a:ln w="25400" cap="flat">
              <a:solidFill>
                <a:srgbClr val="1BAF7A"/>
              </a:solidFill>
              <a:prstDash val="solid"/>
              <a:round/>
            </a:ln>
            <a:effectLst/>
          </c:spPr>
          <c:marker>
            <c:symbol val="circle"/>
            <c:size val="4"/>
            <c:spPr>
              <a:solidFill>
                <a:srgbClr val="1BAF7A"/>
              </a:solidFill>
              <a:ln w="9525" cap="flat">
                <a:solidFill>
                  <a:srgbClr val="1BAF7A"/>
                </a:solidFill>
                <a:prstDash val="solid"/>
                <a:round/>
              </a:ln>
              <a:effectLst/>
            </c:spPr>
          </c:marker>
          <c:xVal>
            <c:numRef>
              <c:f>Sheet1!$A$2:$A$17</c:f>
              <c:numCache>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Cache>
            </c:numRef>
          </c:xVal>
          <c:yVal>
            <c:numRef>
              <c:f>Sheet1!$D$2:$D$17</c:f>
              <c:numCache>
                <c:formatCode>General</c:formatCode>
                <c:ptCount val="16"/>
                <c:pt idx="0">
                  <c:v>785</c:v>
                </c:pt>
                <c:pt idx="1">
                  <c:v>714</c:v>
                </c:pt>
                <c:pt idx="2">
                  <c:v>690</c:v>
                </c:pt>
                <c:pt idx="3">
                  <c:v>679</c:v>
                </c:pt>
                <c:pt idx="4">
                  <c:v>671</c:v>
                </c:pt>
                <c:pt idx="5">
                  <c:v>667</c:v>
                </c:pt>
                <c:pt idx="6">
                  <c:v>663</c:v>
                </c:pt>
                <c:pt idx="7">
                  <c:v>661</c:v>
                </c:pt>
                <c:pt idx="8">
                  <c:v>659</c:v>
                </c:pt>
                <c:pt idx="9">
                  <c:v>657</c:v>
                </c:pt>
                <c:pt idx="10">
                  <c:v>656</c:v>
                </c:pt>
                <c:pt idx="11">
                  <c:v>655</c:v>
                </c:pt>
                <c:pt idx="12">
                  <c:v>654</c:v>
                </c:pt>
                <c:pt idx="13">
                  <c:v>653</c:v>
                </c:pt>
                <c:pt idx="14">
                  <c:v>653</c:v>
                </c:pt>
                <c:pt idx="15">
                  <c:v>652</c:v>
                </c:pt>
              </c:numCache>
            </c:numRef>
          </c:yVal>
          <c:smooth val="0"/>
        </c:ser>
        <c:ser>
          <c:idx val="3"/>
          <c:order val="3"/>
          <c:tx>
            <c:strRef>
              <c:f>Sheet1!$E$1</c:f>
              <c:strCache>
                <c:ptCount val="1"/>
                <c:pt idx="0">
                  <c:v>yolov8l</c:v>
                </c:pt>
              </c:strCache>
            </c:strRef>
          </c:tx>
          <c:spPr>
            <a:solidFill>
              <a:srgbClr val="EDA100"/>
            </a:solidFill>
            <a:ln w="25400" cap="flat">
              <a:solidFill>
                <a:srgbClr val="EDA100"/>
              </a:solidFill>
              <a:prstDash val="solid"/>
              <a:round/>
            </a:ln>
            <a:effectLst/>
          </c:spPr>
          <c:marker>
            <c:symbol val="circle"/>
            <c:size val="4"/>
            <c:spPr>
              <a:solidFill>
                <a:srgbClr val="EDA100"/>
              </a:solidFill>
              <a:ln w="9525" cap="flat">
                <a:solidFill>
                  <a:srgbClr val="EDA100"/>
                </a:solidFill>
                <a:prstDash val="solid"/>
                <a:round/>
              </a:ln>
              <a:effectLst/>
            </c:spPr>
          </c:marker>
          <c:xVal>
            <c:numRef>
              <c:f>Sheet1!$A$2:$A$17</c:f>
              <c:numCache>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Cache>
            </c:numRef>
          </c:xVal>
          <c:yVal>
            <c:numRef>
              <c:f>Sheet1!$E$2:$E$17</c:f>
              <c:numCache>
                <c:formatCode>General</c:formatCode>
                <c:ptCount val="16"/>
                <c:pt idx="0">
                  <c:v>1266</c:v>
                </c:pt>
                <c:pt idx="1">
                  <c:v>1158</c:v>
                </c:pt>
                <c:pt idx="2">
                  <c:v>1122</c:v>
                </c:pt>
                <c:pt idx="3">
                  <c:v>1104</c:v>
                </c:pt>
                <c:pt idx="4">
                  <c:v>1093</c:v>
                </c:pt>
                <c:pt idx="5">
                  <c:v>1086</c:v>
                </c:pt>
                <c:pt idx="6">
                  <c:v>1081</c:v>
                </c:pt>
                <c:pt idx="7">
                  <c:v>1077</c:v>
                </c:pt>
                <c:pt idx="8">
                  <c:v>1074</c:v>
                </c:pt>
                <c:pt idx="9">
                  <c:v>1072</c:v>
                </c:pt>
                <c:pt idx="10">
                  <c:v>1070</c:v>
                </c:pt>
                <c:pt idx="11">
                  <c:v>1068</c:v>
                </c:pt>
                <c:pt idx="12">
                  <c:v>1067</c:v>
                </c:pt>
                <c:pt idx="13">
                  <c:v>1065</c:v>
                </c:pt>
                <c:pt idx="14">
                  <c:v>1064</c:v>
                </c:pt>
                <c:pt idx="15">
                  <c:v>1064</c:v>
                </c:pt>
              </c:numCache>
            </c:numRef>
          </c:yVal>
          <c:smooth val="0"/>
        </c:ser>
        <c:dLbls>
          <c:numFmt formatCode="General" sourceLinked="0"/>
          <c:txPr>
            <a:bodyPr/>
            <a:lstStyle/>
            <a:p>
              <a:pPr>
                <a:defRPr b="0" i="0" strike="noStrike" sz="1000" u="none">
                  <a:solidFill>
                    <a:srgbClr val="000000"/>
                  </a:solidFill>
                  <a:latin typeface="Calibri"/>
                </a:defRPr>
              </a:pPr>
            </a:p>
          </c:txPr>
          <c:showLegendKey val="0"/>
          <c:showVal val="0"/>
          <c:showCatName val="0"/>
          <c:showSerName val="0"/>
          <c:showPercent val="0"/>
          <c:showBubbleSize val="0"/>
        </c:dLbls>
        <c:axId val="2094734554"/>
        <c:axId val="2094734552"/>
      </c:scatterChart>
      <c:valAx>
        <c:axId val="2094734554"/>
        <c:scaling>
          <c:orientation val="minMax"/>
          <c:max val="16"/>
          <c:min val="0"/>
        </c:scaling>
        <c:delete val="0"/>
        <c:axPos val="b"/>
        <c:title>
          <c:tx>
            <c:rich>
              <a:bodyPr/>
              <a:lstStyle/>
              <a:p>
                <a:pPr>
                  <a:defRPr sz="1100" b="0" i="0" u="none" strike="noStrike">
                    <a:solidFill>
                      <a:srgbClr val="595959"/>
                    </a:solidFill>
                    <a:latin typeface="Calibri"/>
                  </a:defRPr>
                </a:pPr>
                <a:r>
                  <a:rPr sz="1100" b="0" i="0" u="none" strike="noStrike">
                    <a:solidFill>
                      <a:srgbClr val="595959"/>
                    </a:solidFill>
                    <a:latin typeface="Calibri"/>
                  </a:rPr>
                  <a:t>batch size b</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2"/>
        <c:crosses val="autoZero"/>
        <c:auto val="1"/>
        <c:lblAlgn val="ctr"/>
        <c:noMultiLvlLbl val="1"/>
      </c:valAx>
      <c:valAx>
        <c:axId val="2094734552"/>
        <c:scaling>
          <c:orientation val="minMax"/>
          <c:min val="0"/>
        </c:scaling>
        <c:delete val="0"/>
        <c:axPos val="l"/>
        <c:majorGridlines>
          <c:spPr>
            <a:ln w="6350" cap="flat">
              <a:solidFill>
                <a:srgbClr val="E1E0D9"/>
              </a:solidFill>
              <a:prstDash val="solid"/>
              <a:round/>
            </a:ln>
          </c:spPr>
        </c:majorGridlines>
        <c:title>
          <c:tx>
            <c:rich>
              <a:bodyPr/>
              <a:lstStyle/>
              <a:p>
                <a:pPr>
                  <a:defRPr sz="1100" b="0" i="0" u="none" strike="noStrike">
                    <a:solidFill>
                      <a:srgbClr val="595959"/>
                    </a:solidFill>
                    <a:latin typeface="Calibri"/>
                  </a:defRPr>
                </a:pPr>
                <a:r>
                  <a:rPr sz="1100" b="0" i="0" u="none" strike="noStrike">
                    <a:solidFill>
                      <a:srgbClr val="595959"/>
                    </a:solidFill>
                    <a:latin typeface="Calibri"/>
                  </a:rPr>
                  <a:t>energy per frame (mJ)</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midCat"/>
      </c:valAx>
      <c:spPr>
        <a:noFill/>
        <a:ln>
          <a:noFill/>
        </a:ln>
        <a:effectLst/>
      </c:spPr>
    </c:plotArea>
    <c:legend>
      <c:legendPos val="t"/>
      <c:overlay val="0"/>
      <c:txPr>
        <a:bodyPr/>
        <a:lstStyle/>
        <a:p>
          <a:pPr>
            <a:defRPr sz="1100">
              <a:solidFill>
                <a:srgbClr val="000000"/>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Heavy mix (l55): capacity 16.7 req/s, load 48%</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78.7</c:v>
                </c:pt>
                <c:pt idx="1">
                  <c:v>99.6</c:v>
                </c:pt>
                <c:pt idx="2">
                  <c:v>100</c:v>
                </c:pt>
              </c:numCache>
            </c:numRef>
          </c:val>
        </c:ser>
        <c:ser>
          <c:idx val="1"/>
          <c:order val="1"/>
          <c:tx>
            <c:strRef>
              <c:f>Sheet1!$C$1</c:f>
              <c:strCache>
                <c:ptCount val="1"/>
                <c:pt idx="0">
                  <c:v>Greedy-2D</c:v>
                </c:pt>
              </c:strCache>
            </c:strRef>
          </c:tx>
          <c:spPr>
            <a:solidFill>
              <a:srgbClr val="EB6834"/>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59.5</c:v>
                </c:pt>
                <c:pt idx="1">
                  <c:v>99.7</c:v>
                </c:pt>
                <c:pt idx="2">
                  <c:v>100</c:v>
                </c:pt>
              </c:numCache>
            </c:numRef>
          </c:val>
        </c:ser>
        <c:ser>
          <c:idx val="2"/>
          <c:order val="2"/>
          <c:tx>
            <c:strRef>
              <c:f>Sheet1!$D$1</c:f>
              <c:strCache>
                <c:ptCount val="1"/>
                <c:pt idx="0">
                  <c:v>Symphony</c:v>
                </c:pt>
              </c:strCache>
            </c:strRef>
          </c:tx>
          <c:spPr>
            <a:solidFill>
              <a:srgbClr val="1BAF7A"/>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71.3</c:v>
                </c:pt>
                <c:pt idx="1">
                  <c:v>86.7</c:v>
                </c:pt>
                <c:pt idx="2">
                  <c:v>94</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1E0D9"/>
              </a:solidFill>
              <a:prstDash val="solid"/>
              <a:round/>
            </a:ln>
          </c:spPr>
        </c:majorGridlines>
        <c:title>
          <c:tx>
            <c:rich>
              <a:bodyPr/>
              <a:lstStyle/>
              <a:p>
                <a:pPr>
                  <a:defRPr sz="1100" b="0" i="0" u="none" strike="noStrike">
                    <a:solidFill>
                      <a:srgbClr val="595959"/>
                    </a:solidFill>
                    <a:latin typeface="Calibri"/>
                  </a:defRPr>
                </a:pPr>
                <a:r>
                  <a:rPr sz="1100" b="0" i="0" u="none" strike="noStrike">
                    <a:solidFill>
                      <a:srgbClr val="595959"/>
                    </a:solidFill>
                    <a:latin typeface="Calibri"/>
                  </a:rPr>
                  <a:t>goodput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2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Balanced mix: capacity 22.4 req/s, load 36%</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89.7</c:v>
                </c:pt>
                <c:pt idx="1">
                  <c:v>100</c:v>
                </c:pt>
                <c:pt idx="2">
                  <c:v>100</c:v>
                </c:pt>
              </c:numCache>
            </c:numRef>
          </c:val>
        </c:ser>
        <c:ser>
          <c:idx val="1"/>
          <c:order val="1"/>
          <c:tx>
            <c:strRef>
              <c:f>Sheet1!$C$1</c:f>
              <c:strCache>
                <c:ptCount val="1"/>
                <c:pt idx="0">
                  <c:v>Greedy-2D</c:v>
                </c:pt>
              </c:strCache>
            </c:strRef>
          </c:tx>
          <c:spPr>
            <a:solidFill>
              <a:srgbClr val="EB6834"/>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84.5</c:v>
                </c:pt>
                <c:pt idx="1">
                  <c:v>100</c:v>
                </c:pt>
                <c:pt idx="2">
                  <c:v>100</c:v>
                </c:pt>
              </c:numCache>
            </c:numRef>
          </c:val>
        </c:ser>
        <c:ser>
          <c:idx val="2"/>
          <c:order val="2"/>
          <c:tx>
            <c:strRef>
              <c:f>Sheet1!$D$1</c:f>
              <c:strCache>
                <c:ptCount val="1"/>
                <c:pt idx="0">
                  <c:v>Symphony</c:v>
                </c:pt>
              </c:strCache>
            </c:strRef>
          </c:tx>
          <c:spPr>
            <a:solidFill>
              <a:srgbClr val="1BAF7A"/>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78.6</c:v>
                </c:pt>
                <c:pt idx="1">
                  <c:v>89.6</c:v>
                </c:pt>
                <c:pt idx="2">
                  <c:v>96.7</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2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Skewed mix: capacity 27.5 req/s, load 29%</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93.5</c:v>
                </c:pt>
                <c:pt idx="1">
                  <c:v>100</c:v>
                </c:pt>
                <c:pt idx="2">
                  <c:v>100</c:v>
                </c:pt>
              </c:numCache>
            </c:numRef>
          </c:val>
        </c:ser>
        <c:ser>
          <c:idx val="1"/>
          <c:order val="1"/>
          <c:tx>
            <c:strRef>
              <c:f>Sheet1!$C$1</c:f>
              <c:strCache>
                <c:ptCount val="1"/>
                <c:pt idx="0">
                  <c:v>Greedy-2D</c:v>
                </c:pt>
              </c:strCache>
            </c:strRef>
          </c:tx>
          <c:spPr>
            <a:solidFill>
              <a:srgbClr val="EB6834"/>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91.5</c:v>
                </c:pt>
                <c:pt idx="1">
                  <c:v>100</c:v>
                </c:pt>
                <c:pt idx="2">
                  <c:v>100</c:v>
                </c:pt>
              </c:numCache>
            </c:numRef>
          </c:val>
        </c:ser>
        <c:ser>
          <c:idx val="2"/>
          <c:order val="2"/>
          <c:tx>
            <c:strRef>
              <c:f>Sheet1!$D$1</c:f>
              <c:strCache>
                <c:ptCount val="1"/>
                <c:pt idx="0">
                  <c:v>Symphony</c:v>
                </c:pt>
              </c:strCache>
            </c:strRef>
          </c:tx>
          <c:spPr>
            <a:solidFill>
              <a:srgbClr val="1BAF7A"/>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82.1</c:v>
                </c:pt>
                <c:pt idx="1">
                  <c:v>91.6</c:v>
                </c:pt>
                <c:pt idx="2">
                  <c:v>97.9</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2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Light mix (n70): capacity 36.8 req/s, load 22%</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97.3</c:v>
                </c:pt>
                <c:pt idx="1">
                  <c:v>100</c:v>
                </c:pt>
                <c:pt idx="2">
                  <c:v>100</c:v>
                </c:pt>
              </c:numCache>
            </c:numRef>
          </c:val>
        </c:ser>
        <c:ser>
          <c:idx val="1"/>
          <c:order val="1"/>
          <c:tx>
            <c:strRef>
              <c:f>Sheet1!$C$1</c:f>
              <c:strCache>
                <c:ptCount val="1"/>
                <c:pt idx="0">
                  <c:v>Greedy-2D</c:v>
                </c:pt>
              </c:strCache>
            </c:strRef>
          </c:tx>
          <c:spPr>
            <a:solidFill>
              <a:srgbClr val="EB6834"/>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97.6</c:v>
                </c:pt>
                <c:pt idx="1">
                  <c:v>100</c:v>
                </c:pt>
                <c:pt idx="2">
                  <c:v>100</c:v>
                </c:pt>
              </c:numCache>
            </c:numRef>
          </c:val>
        </c:ser>
        <c:ser>
          <c:idx val="2"/>
          <c:order val="2"/>
          <c:tx>
            <c:strRef>
              <c:f>Sheet1!$D$1</c:f>
              <c:strCache>
                <c:ptCount val="1"/>
                <c:pt idx="0">
                  <c:v>Symphony</c:v>
                </c:pt>
              </c:strCache>
            </c:strRef>
          </c:tx>
          <c:spPr>
            <a:solidFill>
              <a:srgbClr val="1BAF7A"/>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88</c:v>
                </c:pt>
                <c:pt idx="1">
                  <c:v>95</c:v>
                </c:pt>
                <c:pt idx="2">
                  <c:v>98.7</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2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Heavy mix (l55): capacity 16.7 req/s, load 96%</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60.9</c:v>
                </c:pt>
                <c:pt idx="1">
                  <c:v>76.1</c:v>
                </c:pt>
                <c:pt idx="2">
                  <c:v>90.4</c:v>
                </c:pt>
              </c:numCache>
            </c:numRef>
          </c:val>
        </c:ser>
        <c:ser>
          <c:idx val="1"/>
          <c:order val="1"/>
          <c:tx>
            <c:strRef>
              <c:f>Sheet1!$C$1</c:f>
              <c:strCache>
                <c:ptCount val="1"/>
                <c:pt idx="0">
                  <c:v>Greedy-2D</c:v>
                </c:pt>
              </c:strCache>
            </c:strRef>
          </c:tx>
          <c:spPr>
            <a:solidFill>
              <a:srgbClr val="EB6834"/>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10.4</c:v>
                </c:pt>
                <c:pt idx="1">
                  <c:v>11.6</c:v>
                </c:pt>
                <c:pt idx="2">
                  <c:v>9.7</c:v>
                </c:pt>
              </c:numCache>
            </c:numRef>
          </c:val>
        </c:ser>
        <c:ser>
          <c:idx val="2"/>
          <c:order val="2"/>
          <c:tx>
            <c:strRef>
              <c:f>Sheet1!$D$1</c:f>
              <c:strCache>
                <c:ptCount val="1"/>
                <c:pt idx="0">
                  <c:v>Symphony</c:v>
                </c:pt>
              </c:strCache>
            </c:strRef>
          </c:tx>
          <c:spPr>
            <a:solidFill>
              <a:srgbClr val="1BAF7A"/>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52.5</c:v>
                </c:pt>
                <c:pt idx="1">
                  <c:v>67.3</c:v>
                </c:pt>
                <c:pt idx="2">
                  <c:v>82.6</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1E0D9"/>
              </a:solidFill>
              <a:prstDash val="solid"/>
              <a:round/>
            </a:ln>
          </c:spPr>
        </c:majorGridlines>
        <c:title>
          <c:tx>
            <c:rich>
              <a:bodyPr/>
              <a:lstStyle/>
              <a:p>
                <a:pPr>
                  <a:defRPr sz="1100" b="0" i="0" u="none" strike="noStrike">
                    <a:solidFill>
                      <a:srgbClr val="595959"/>
                    </a:solidFill>
                    <a:latin typeface="Calibri"/>
                  </a:defRPr>
                </a:pPr>
                <a:r>
                  <a:rPr sz="1100" b="0" i="0" u="none" strike="noStrike">
                    <a:solidFill>
                      <a:srgbClr val="595959"/>
                    </a:solidFill>
                    <a:latin typeface="Calibri"/>
                  </a:rPr>
                  <a:t>goodput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2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Balanced mix: capacity 22.4 req/s, load 71%</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76.4</c:v>
                </c:pt>
                <c:pt idx="1">
                  <c:v>96.3</c:v>
                </c:pt>
                <c:pt idx="2">
                  <c:v>100</c:v>
                </c:pt>
              </c:numCache>
            </c:numRef>
          </c:val>
        </c:ser>
        <c:ser>
          <c:idx val="1"/>
          <c:order val="1"/>
          <c:tx>
            <c:strRef>
              <c:f>Sheet1!$C$1</c:f>
              <c:strCache>
                <c:ptCount val="1"/>
                <c:pt idx="0">
                  <c:v>Greedy-2D</c:v>
                </c:pt>
              </c:strCache>
            </c:strRef>
          </c:tx>
          <c:spPr>
            <a:solidFill>
              <a:srgbClr val="EB6834"/>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10.8</c:v>
                </c:pt>
                <c:pt idx="1">
                  <c:v>60.3</c:v>
                </c:pt>
                <c:pt idx="2">
                  <c:v>100</c:v>
                </c:pt>
              </c:numCache>
            </c:numRef>
          </c:val>
        </c:ser>
        <c:ser>
          <c:idx val="2"/>
          <c:order val="2"/>
          <c:tx>
            <c:strRef>
              <c:f>Sheet1!$D$1</c:f>
              <c:strCache>
                <c:ptCount val="1"/>
                <c:pt idx="0">
                  <c:v>Symphony</c:v>
                </c:pt>
              </c:strCache>
            </c:strRef>
          </c:tx>
          <c:spPr>
            <a:solidFill>
              <a:srgbClr val="1BAF7A"/>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64.4</c:v>
                </c:pt>
                <c:pt idx="1">
                  <c:v>80.7</c:v>
                </c:pt>
                <c:pt idx="2">
                  <c:v>94.8</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2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Skewed mix: capacity 27.5 req/s, load 58%</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84.5</c:v>
                </c:pt>
                <c:pt idx="1">
                  <c:v>99.3</c:v>
                </c:pt>
                <c:pt idx="2">
                  <c:v>100</c:v>
                </c:pt>
              </c:numCache>
            </c:numRef>
          </c:val>
        </c:ser>
        <c:ser>
          <c:idx val="1"/>
          <c:order val="1"/>
          <c:tx>
            <c:strRef>
              <c:f>Sheet1!$C$1</c:f>
              <c:strCache>
                <c:ptCount val="1"/>
                <c:pt idx="0">
                  <c:v>Greedy-2D</c:v>
                </c:pt>
              </c:strCache>
            </c:strRef>
          </c:tx>
          <c:spPr>
            <a:solidFill>
              <a:srgbClr val="EB6834"/>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62.8</c:v>
                </c:pt>
                <c:pt idx="1">
                  <c:v>98.9</c:v>
                </c:pt>
                <c:pt idx="2">
                  <c:v>100</c:v>
                </c:pt>
              </c:numCache>
            </c:numRef>
          </c:val>
        </c:ser>
        <c:ser>
          <c:idx val="2"/>
          <c:order val="2"/>
          <c:tx>
            <c:strRef>
              <c:f>Sheet1!$D$1</c:f>
              <c:strCache>
                <c:ptCount val="1"/>
                <c:pt idx="0">
                  <c:v>Symphony</c:v>
                </c:pt>
              </c:strCache>
            </c:strRef>
          </c:tx>
          <c:spPr>
            <a:solidFill>
              <a:srgbClr val="1BAF7A"/>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70.9</c:v>
                </c:pt>
                <c:pt idx="1">
                  <c:v>87.9</c:v>
                </c:pt>
                <c:pt idx="2">
                  <c:v>97.2</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2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Light mix (n70): capacity 36.8 req/s, load 43%</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93.5</c:v>
                </c:pt>
                <c:pt idx="1">
                  <c:v>100</c:v>
                </c:pt>
                <c:pt idx="2">
                  <c:v>100</c:v>
                </c:pt>
              </c:numCache>
            </c:numRef>
          </c:val>
        </c:ser>
        <c:ser>
          <c:idx val="1"/>
          <c:order val="1"/>
          <c:tx>
            <c:strRef>
              <c:f>Sheet1!$C$1</c:f>
              <c:strCache>
                <c:ptCount val="1"/>
                <c:pt idx="0">
                  <c:v>Greedy-2D</c:v>
                </c:pt>
              </c:strCache>
            </c:strRef>
          </c:tx>
          <c:spPr>
            <a:solidFill>
              <a:srgbClr val="EB6834"/>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89.2</c:v>
                </c:pt>
                <c:pt idx="1">
                  <c:v>99.9</c:v>
                </c:pt>
                <c:pt idx="2">
                  <c:v>100</c:v>
                </c:pt>
              </c:numCache>
            </c:numRef>
          </c:val>
        </c:ser>
        <c:ser>
          <c:idx val="2"/>
          <c:order val="2"/>
          <c:tx>
            <c:strRef>
              <c:f>Sheet1!$D$1</c:f>
              <c:strCache>
                <c:ptCount val="1"/>
                <c:pt idx="0">
                  <c:v>Symphony</c:v>
                </c:pt>
              </c:strCache>
            </c:strRef>
          </c:tx>
          <c:spPr>
            <a:solidFill>
              <a:srgbClr val="1BAF7A"/>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81.6</c:v>
                </c:pt>
                <c:pt idx="1">
                  <c:v>93.7</c:v>
                </c:pt>
                <c:pt idx="2">
                  <c:v>98.9</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2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Heavy mix (l55): capacity 16.7 req/s, load 144%</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48.2</c:v>
                </c:pt>
                <c:pt idx="1">
                  <c:v>53.5</c:v>
                </c:pt>
                <c:pt idx="2">
                  <c:v>61.7</c:v>
                </c:pt>
              </c:numCache>
            </c:numRef>
          </c:val>
        </c:ser>
        <c:ser>
          <c:idx val="1"/>
          <c:order val="1"/>
          <c:tx>
            <c:strRef>
              <c:f>Sheet1!$C$1</c:f>
              <c:strCache>
                <c:ptCount val="1"/>
                <c:pt idx="0">
                  <c:v>Greedy-2D</c:v>
                </c:pt>
              </c:strCache>
            </c:strRef>
          </c:tx>
          <c:spPr>
            <a:solidFill>
              <a:srgbClr val="EB6834"/>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7.5</c:v>
                </c:pt>
                <c:pt idx="1">
                  <c:v>7.4</c:v>
                </c:pt>
                <c:pt idx="2">
                  <c:v>6</c:v>
                </c:pt>
              </c:numCache>
            </c:numRef>
          </c:val>
        </c:ser>
        <c:ser>
          <c:idx val="2"/>
          <c:order val="2"/>
          <c:tx>
            <c:strRef>
              <c:f>Sheet1!$D$1</c:f>
              <c:strCache>
                <c:ptCount val="1"/>
                <c:pt idx="0">
                  <c:v>Symphony</c:v>
                </c:pt>
              </c:strCache>
            </c:strRef>
          </c:tx>
          <c:spPr>
            <a:solidFill>
              <a:srgbClr val="1BAF7A"/>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41.3</c:v>
                </c:pt>
                <c:pt idx="1">
                  <c:v>51.9</c:v>
                </c:pt>
                <c:pt idx="2">
                  <c:v>63.9</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1E0D9"/>
              </a:solidFill>
              <a:prstDash val="solid"/>
              <a:round/>
            </a:ln>
          </c:spPr>
        </c:majorGridlines>
        <c:title>
          <c:tx>
            <c:rich>
              <a:bodyPr/>
              <a:lstStyle/>
              <a:p>
                <a:pPr>
                  <a:defRPr sz="1100" b="0" i="0" u="none" strike="noStrike">
                    <a:solidFill>
                      <a:srgbClr val="595959"/>
                    </a:solidFill>
                    <a:latin typeface="Calibri"/>
                  </a:defRPr>
                </a:pPr>
                <a:r>
                  <a:rPr sz="1100" b="0" i="0" u="none" strike="noStrike">
                    <a:solidFill>
                      <a:srgbClr val="595959"/>
                    </a:solidFill>
                    <a:latin typeface="Calibri"/>
                  </a:rPr>
                  <a:t>goodput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2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Balanced mix: capacity 22.4 req/s, load 107%</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63.5</c:v>
                </c:pt>
                <c:pt idx="1">
                  <c:v>74.9</c:v>
                </c:pt>
                <c:pt idx="2">
                  <c:v>83.9</c:v>
                </c:pt>
              </c:numCache>
            </c:numRef>
          </c:val>
        </c:ser>
        <c:ser>
          <c:idx val="1"/>
          <c:order val="1"/>
          <c:tx>
            <c:strRef>
              <c:f>Sheet1!$C$1</c:f>
              <c:strCache>
                <c:ptCount val="1"/>
                <c:pt idx="0">
                  <c:v>Greedy-2D</c:v>
                </c:pt>
              </c:strCache>
            </c:strRef>
          </c:tx>
          <c:spPr>
            <a:solidFill>
              <a:srgbClr val="EB6834"/>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8.7</c:v>
                </c:pt>
                <c:pt idx="1">
                  <c:v>5</c:v>
                </c:pt>
                <c:pt idx="2">
                  <c:v>4.8</c:v>
                </c:pt>
              </c:numCache>
            </c:numRef>
          </c:val>
        </c:ser>
        <c:ser>
          <c:idx val="2"/>
          <c:order val="2"/>
          <c:tx>
            <c:strRef>
              <c:f>Sheet1!$D$1</c:f>
              <c:strCache>
                <c:ptCount val="1"/>
                <c:pt idx="0">
                  <c:v>Symphony</c:v>
                </c:pt>
              </c:strCache>
            </c:strRef>
          </c:tx>
          <c:spPr>
            <a:solidFill>
              <a:srgbClr val="1BAF7A"/>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54.6</c:v>
                </c:pt>
                <c:pt idx="1">
                  <c:v>68.5</c:v>
                </c:pt>
                <c:pt idx="2">
                  <c:v>83.8</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2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Skewed mix: capacity 27.5 req/s, load 87%</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74.9</c:v>
                </c:pt>
                <c:pt idx="1">
                  <c:v>89.8</c:v>
                </c:pt>
                <c:pt idx="2">
                  <c:v>99.6</c:v>
                </c:pt>
              </c:numCache>
            </c:numRef>
          </c:val>
        </c:ser>
        <c:ser>
          <c:idx val="1"/>
          <c:order val="1"/>
          <c:tx>
            <c:strRef>
              <c:f>Sheet1!$C$1</c:f>
              <c:strCache>
                <c:ptCount val="1"/>
                <c:pt idx="0">
                  <c:v>Greedy-2D</c:v>
                </c:pt>
              </c:strCache>
            </c:strRef>
          </c:tx>
          <c:spPr>
            <a:solidFill>
              <a:srgbClr val="EB6834"/>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8.4</c:v>
                </c:pt>
                <c:pt idx="1">
                  <c:v>2.9</c:v>
                </c:pt>
                <c:pt idx="2">
                  <c:v>16.8</c:v>
                </c:pt>
              </c:numCache>
            </c:numRef>
          </c:val>
        </c:ser>
        <c:ser>
          <c:idx val="2"/>
          <c:order val="2"/>
          <c:tx>
            <c:strRef>
              <c:f>Sheet1!$D$1</c:f>
              <c:strCache>
                <c:ptCount val="1"/>
                <c:pt idx="0">
                  <c:v>Symphony</c:v>
                </c:pt>
              </c:strCache>
            </c:strRef>
          </c:tx>
          <c:spPr>
            <a:solidFill>
              <a:srgbClr val="1BAF7A"/>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62.5</c:v>
                </c:pt>
                <c:pt idx="1">
                  <c:v>80.4</c:v>
                </c:pt>
                <c:pt idx="2">
                  <c:v>95.3</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2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Light mix (n70): capacity 36.8 req/s, load 65%</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87.1</c:v>
                </c:pt>
                <c:pt idx="1">
                  <c:v>99.5</c:v>
                </c:pt>
                <c:pt idx="2">
                  <c:v>100</c:v>
                </c:pt>
              </c:numCache>
            </c:numRef>
          </c:val>
        </c:ser>
        <c:ser>
          <c:idx val="1"/>
          <c:order val="1"/>
          <c:tx>
            <c:strRef>
              <c:f>Sheet1!$C$1</c:f>
              <c:strCache>
                <c:ptCount val="1"/>
                <c:pt idx="0">
                  <c:v>Greedy-2D</c:v>
                </c:pt>
              </c:strCache>
            </c:strRef>
          </c:tx>
          <c:spPr>
            <a:solidFill>
              <a:srgbClr val="EB6834"/>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50.6</c:v>
                </c:pt>
                <c:pt idx="1">
                  <c:v>97.9</c:v>
                </c:pt>
                <c:pt idx="2">
                  <c:v>100</c:v>
                </c:pt>
              </c:numCache>
            </c:numRef>
          </c:val>
        </c:ser>
        <c:ser>
          <c:idx val="2"/>
          <c:order val="2"/>
          <c:tx>
            <c:strRef>
              <c:f>Sheet1!$D$1</c:f>
              <c:strCache>
                <c:ptCount val="1"/>
                <c:pt idx="0">
                  <c:v>Symphony</c:v>
                </c:pt>
              </c:strCache>
            </c:strRef>
          </c:tx>
          <c:spPr>
            <a:solidFill>
              <a:srgbClr val="1BAF7A"/>
            </a:solidFill>
            <a:effectLst/>
          </c:spPr>
          <c:invertIfNegative val="0"/>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76.6</c:v>
                </c:pt>
                <c:pt idx="1">
                  <c:v>91.6</c:v>
                </c:pt>
                <c:pt idx="2">
                  <c:v>98.8</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2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Heavy mix (l55): capacity 16.7 req/s, load 48%</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dLbl>
              <c:idx val="0"/>
              <c:tx>
                <c:rich>
                  <a:bodyPr/>
                  <a:lstStyle/>
                  <a:p>
                    <a:r>
                      <a:rPr lang="en-US" sz="800"/>
                      <a:t>21%</a:t>
                    </a:r>
                  </a:p>
                </c:rich>
              </c:tx>
              <c:dLblPos val="outEnd"/>
              <c:showLegendKey val="0"/>
              <c:showVal val="1"/>
              <c:showCatName val="0"/>
              <c:showSerName val="0"/>
              <c:showPercent val="0"/>
              <c:showBubbleSize val="0"/>
            </c:dLbl>
            <c:dLbl>
              <c:idx val="1"/>
              <c:tx>
                <c:rich>
                  <a:bodyPr/>
                  <a:lstStyle/>
                  <a:p>
                    <a:r>
                      <a:rPr lang="en-US" sz="800"/>
                      <a:t>0.4%</a:t>
                    </a:r>
                  </a:p>
                </c:rich>
              </c:tx>
              <c:dLblPos val="outEnd"/>
              <c:showLegendKey val="0"/>
              <c:showVal val="1"/>
              <c:showCatName val="0"/>
              <c:showSerName val="0"/>
              <c:showPercent val="0"/>
              <c:showBubbleSize val="0"/>
            </c:dLbl>
            <c:dLbl>
              <c:idx val="2"/>
              <c:tx>
                <c:rich>
                  <a:bodyPr/>
                  <a:lstStyle/>
                  <a:p>
                    <a:r>
                      <a:rPr lang="en-US" sz="800"/>
                      <a:t>0%</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777</c:v>
                </c:pt>
                <c:pt idx="1">
                  <c:v>913</c:v>
                </c:pt>
                <c:pt idx="2">
                  <c:v>914</c:v>
                </c:pt>
              </c:numCache>
            </c:numRef>
          </c:val>
        </c:ser>
        <c:ser>
          <c:idx val="1"/>
          <c:order val="1"/>
          <c:tx>
            <c:strRef>
              <c:f>Sheet1!$C$1</c:f>
              <c:strCache>
                <c:ptCount val="1"/>
                <c:pt idx="0">
                  <c:v>Greedy-2D</c:v>
                </c:pt>
              </c:strCache>
            </c:strRef>
          </c:tx>
          <c:spPr>
            <a:solidFill>
              <a:srgbClr val="EB6834"/>
            </a:solidFill>
            <a:effectLst/>
          </c:spPr>
          <c:invertIfNegative val="0"/>
          <c:dLbls>
            <c:dLbl>
              <c:idx val="0"/>
              <c:tx>
                <c:rich>
                  <a:bodyPr/>
                  <a:lstStyle/>
                  <a:p>
                    <a:r>
                      <a:rPr lang="en-US" sz="800"/>
                      <a:t>0%</a:t>
                    </a:r>
                  </a:p>
                </c:rich>
              </c:tx>
              <c:dLblPos val="outEnd"/>
              <c:showLegendKey val="0"/>
              <c:showVal val="1"/>
              <c:showCatName val="0"/>
              <c:showSerName val="0"/>
              <c:showPercent val="0"/>
              <c:showBubbleSize val="0"/>
            </c:dLbl>
            <c:dLbl>
              <c:idx val="1"/>
              <c:tx>
                <c:rich>
                  <a:bodyPr/>
                  <a:lstStyle/>
                  <a:p>
                    <a:r>
                      <a:rPr lang="en-US" sz="800"/>
                      <a:t>0%</a:t>
                    </a:r>
                  </a:p>
                </c:rich>
              </c:tx>
              <c:dLblPos val="outEnd"/>
              <c:showLegendKey val="0"/>
              <c:showVal val="1"/>
              <c:showCatName val="0"/>
              <c:showSerName val="0"/>
              <c:showPercent val="0"/>
              <c:showBubbleSize val="0"/>
            </c:dLbl>
            <c:dLbl>
              <c:idx val="2"/>
              <c:tx>
                <c:rich>
                  <a:bodyPr/>
                  <a:lstStyle/>
                  <a:p>
                    <a:r>
                      <a:rPr lang="en-US" sz="800"/>
                      <a:t>0%</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931</c:v>
                </c:pt>
                <c:pt idx="1">
                  <c:v>912</c:v>
                </c:pt>
                <c:pt idx="2">
                  <c:v>912</c:v>
                </c:pt>
              </c:numCache>
            </c:numRef>
          </c:val>
        </c:ser>
        <c:ser>
          <c:idx val="2"/>
          <c:order val="2"/>
          <c:tx>
            <c:strRef>
              <c:f>Sheet1!$D$1</c:f>
              <c:strCache>
                <c:ptCount val="1"/>
                <c:pt idx="0">
                  <c:v>Symphony</c:v>
                </c:pt>
              </c:strCache>
            </c:strRef>
          </c:tx>
          <c:spPr>
            <a:solidFill>
              <a:srgbClr val="1BAF7A"/>
            </a:solidFill>
            <a:effectLst/>
          </c:spPr>
          <c:invertIfNegative val="0"/>
          <c:dLbls>
            <c:dLbl>
              <c:idx val="0"/>
              <c:tx>
                <c:rich>
                  <a:bodyPr/>
                  <a:lstStyle/>
                  <a:p>
                    <a:r>
                      <a:rPr lang="en-US" sz="800"/>
                      <a:t>29%</a:t>
                    </a:r>
                  </a:p>
                </c:rich>
              </c:tx>
              <c:dLblPos val="outEnd"/>
              <c:showLegendKey val="0"/>
              <c:showVal val="1"/>
              <c:showCatName val="0"/>
              <c:showSerName val="0"/>
              <c:showPercent val="0"/>
              <c:showBubbleSize val="0"/>
            </c:dLbl>
            <c:dLbl>
              <c:idx val="1"/>
              <c:tx>
                <c:rich>
                  <a:bodyPr/>
                  <a:lstStyle/>
                  <a:p>
                    <a:r>
                      <a:rPr lang="en-US" sz="800"/>
                      <a:t>13%</a:t>
                    </a:r>
                  </a:p>
                </c:rich>
              </c:tx>
              <c:dLblPos val="outEnd"/>
              <c:showLegendKey val="0"/>
              <c:showVal val="1"/>
              <c:showCatName val="0"/>
              <c:showSerName val="0"/>
              <c:showPercent val="0"/>
              <c:showBubbleSize val="0"/>
            </c:dLbl>
            <c:dLbl>
              <c:idx val="2"/>
              <c:tx>
                <c:rich>
                  <a:bodyPr/>
                  <a:lstStyle/>
                  <a:p>
                    <a:r>
                      <a:rPr lang="en-US" sz="800"/>
                      <a:t>6%</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760</c:v>
                </c:pt>
                <c:pt idx="1">
                  <c:v>829</c:v>
                </c:pt>
                <c:pt idx="2">
                  <c:v>739</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000"/>
          <c:min val="0"/>
        </c:scaling>
        <c:delete val="0"/>
        <c:axPos val="l"/>
        <c:majorGridlines>
          <c:spPr>
            <a:ln w="6350" cap="flat">
              <a:solidFill>
                <a:srgbClr val="E1E0D9"/>
              </a:solidFill>
              <a:prstDash val="solid"/>
              <a:round/>
            </a:ln>
          </c:spPr>
        </c:majorGridlines>
        <c:title>
          <c:tx>
            <c:rich>
              <a:bodyPr/>
              <a:lstStyle/>
              <a:p>
                <a:pPr>
                  <a:defRPr sz="1100" b="0" i="0" u="none" strike="noStrike">
                    <a:solidFill>
                      <a:srgbClr val="595959"/>
                    </a:solidFill>
                    <a:latin typeface="Calibri"/>
                  </a:defRPr>
                </a:pPr>
                <a:r>
                  <a:rPr sz="1100" b="0" i="0" u="none" strike="noStrike">
                    <a:solidFill>
                      <a:srgbClr val="595959"/>
                    </a:solidFill>
                    <a:latin typeface="Calibri"/>
                  </a:rPr>
                  <a:t>total energy in the 120 s window (J)</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25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Balanced mix: capacity 22.4 req/s, load 36%</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dLbl>
              <c:idx val="0"/>
              <c:tx>
                <c:rich>
                  <a:bodyPr/>
                  <a:lstStyle/>
                  <a:p>
                    <a:r>
                      <a:rPr lang="en-US" sz="800"/>
                      <a:t>10%</a:t>
                    </a:r>
                  </a:p>
                </c:rich>
              </c:tx>
              <c:dLblPos val="outEnd"/>
              <c:showLegendKey val="0"/>
              <c:showVal val="1"/>
              <c:showCatName val="0"/>
              <c:showSerName val="0"/>
              <c:showPercent val="0"/>
              <c:showBubbleSize val="0"/>
            </c:dLbl>
            <c:dLbl>
              <c:idx val="1"/>
              <c:tx>
                <c:rich>
                  <a:bodyPr/>
                  <a:lstStyle/>
                  <a:p>
                    <a:r>
                      <a:rPr lang="en-US" sz="800"/>
                      <a:t>0%</a:t>
                    </a:r>
                  </a:p>
                </c:rich>
              </c:tx>
              <c:dLblPos val="outEnd"/>
              <c:showLegendKey val="0"/>
              <c:showVal val="1"/>
              <c:showCatName val="0"/>
              <c:showSerName val="0"/>
              <c:showPercent val="0"/>
              <c:showBubbleSize val="0"/>
            </c:dLbl>
            <c:dLbl>
              <c:idx val="2"/>
              <c:tx>
                <c:rich>
                  <a:bodyPr/>
                  <a:lstStyle/>
                  <a:p>
                    <a:r>
                      <a:rPr lang="en-US" sz="800"/>
                      <a:t>0%</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688</c:v>
                </c:pt>
                <c:pt idx="1">
                  <c:v>741</c:v>
                </c:pt>
                <c:pt idx="2">
                  <c:v>744</c:v>
                </c:pt>
              </c:numCache>
            </c:numRef>
          </c:val>
        </c:ser>
        <c:ser>
          <c:idx val="1"/>
          <c:order val="1"/>
          <c:tx>
            <c:strRef>
              <c:f>Sheet1!$C$1</c:f>
              <c:strCache>
                <c:ptCount val="1"/>
                <c:pt idx="0">
                  <c:v>Greedy-2D</c:v>
                </c:pt>
              </c:strCache>
            </c:strRef>
          </c:tx>
          <c:spPr>
            <a:solidFill>
              <a:srgbClr val="EB6834"/>
            </a:solidFill>
            <a:effectLst/>
          </c:spPr>
          <c:invertIfNegative val="0"/>
          <c:dLbls>
            <c:dLbl>
              <c:idx val="0"/>
              <c:tx>
                <c:rich>
                  <a:bodyPr/>
                  <a:lstStyle/>
                  <a:p>
                    <a:r>
                      <a:rPr lang="en-US" sz="800"/>
                      <a:t>0%</a:t>
                    </a:r>
                  </a:p>
                </c:rich>
              </c:tx>
              <c:dLblPos val="outEnd"/>
              <c:showLegendKey val="0"/>
              <c:showVal val="1"/>
              <c:showCatName val="0"/>
              <c:showSerName val="0"/>
              <c:showPercent val="0"/>
              <c:showBubbleSize val="0"/>
            </c:dLbl>
            <c:dLbl>
              <c:idx val="1"/>
              <c:tx>
                <c:rich>
                  <a:bodyPr/>
                  <a:lstStyle/>
                  <a:p>
                    <a:r>
                      <a:rPr lang="en-US" sz="800"/>
                      <a:t>0%</a:t>
                    </a:r>
                  </a:p>
                </c:rich>
              </c:tx>
              <c:dLblPos val="outEnd"/>
              <c:showLegendKey val="0"/>
              <c:showVal val="1"/>
              <c:showCatName val="0"/>
              <c:showSerName val="0"/>
              <c:showPercent val="0"/>
              <c:showBubbleSize val="0"/>
            </c:dLbl>
            <c:dLbl>
              <c:idx val="2"/>
              <c:tx>
                <c:rich>
                  <a:bodyPr/>
                  <a:lstStyle/>
                  <a:p>
                    <a:r>
                      <a:rPr lang="en-US" sz="800"/>
                      <a:t>0%</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749</c:v>
                </c:pt>
                <c:pt idx="1">
                  <c:v>744</c:v>
                </c:pt>
                <c:pt idx="2">
                  <c:v>745</c:v>
                </c:pt>
              </c:numCache>
            </c:numRef>
          </c:val>
        </c:ser>
        <c:ser>
          <c:idx val="2"/>
          <c:order val="2"/>
          <c:tx>
            <c:strRef>
              <c:f>Sheet1!$D$1</c:f>
              <c:strCache>
                <c:ptCount val="1"/>
                <c:pt idx="0">
                  <c:v>Symphony</c:v>
                </c:pt>
              </c:strCache>
            </c:strRef>
          </c:tx>
          <c:spPr>
            <a:solidFill>
              <a:srgbClr val="1BAF7A"/>
            </a:solidFill>
            <a:effectLst/>
          </c:spPr>
          <c:invertIfNegative val="0"/>
          <c:dLbls>
            <c:dLbl>
              <c:idx val="0"/>
              <c:tx>
                <c:rich>
                  <a:bodyPr/>
                  <a:lstStyle/>
                  <a:p>
                    <a:r>
                      <a:rPr lang="en-US" sz="800"/>
                      <a:t>21%</a:t>
                    </a:r>
                  </a:p>
                </c:rich>
              </c:tx>
              <c:dLblPos val="outEnd"/>
              <c:showLegendKey val="0"/>
              <c:showVal val="1"/>
              <c:showCatName val="0"/>
              <c:showSerName val="0"/>
              <c:showPercent val="0"/>
              <c:showBubbleSize val="0"/>
            </c:dLbl>
            <c:dLbl>
              <c:idx val="1"/>
              <c:tx>
                <c:rich>
                  <a:bodyPr/>
                  <a:lstStyle/>
                  <a:p>
                    <a:r>
                      <a:rPr lang="en-US" sz="800"/>
                      <a:t>10%</a:t>
                    </a:r>
                  </a:p>
                </c:rich>
              </c:tx>
              <c:dLblPos val="outEnd"/>
              <c:showLegendKey val="0"/>
              <c:showVal val="1"/>
              <c:showCatName val="0"/>
              <c:showSerName val="0"/>
              <c:showPercent val="0"/>
              <c:showBubbleSize val="0"/>
            </c:dLbl>
            <c:dLbl>
              <c:idx val="2"/>
              <c:tx>
                <c:rich>
                  <a:bodyPr/>
                  <a:lstStyle/>
                  <a:p>
                    <a:r>
                      <a:rPr lang="en-US" sz="800"/>
                      <a:t>3%</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666</c:v>
                </c:pt>
                <c:pt idx="1">
                  <c:v>687</c:v>
                </c:pt>
                <c:pt idx="2">
                  <c:v>653</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000"/>
          <c:min val="0"/>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25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Skewed mix: capacity 27.5 req/s, load 29%</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dLbl>
              <c:idx val="0"/>
              <c:tx>
                <c:rich>
                  <a:bodyPr/>
                  <a:lstStyle/>
                  <a:p>
                    <a:r>
                      <a:rPr lang="en-US" sz="800"/>
                      <a:t>6%</a:t>
                    </a:r>
                  </a:p>
                </c:rich>
              </c:tx>
              <c:dLblPos val="outEnd"/>
              <c:showLegendKey val="0"/>
              <c:showVal val="1"/>
              <c:showCatName val="0"/>
              <c:showSerName val="0"/>
              <c:showPercent val="0"/>
              <c:showBubbleSize val="0"/>
            </c:dLbl>
            <c:dLbl>
              <c:idx val="1"/>
              <c:tx>
                <c:rich>
                  <a:bodyPr/>
                  <a:lstStyle/>
                  <a:p>
                    <a:r>
                      <a:rPr lang="en-US" sz="800"/>
                      <a:t>0%</a:t>
                    </a:r>
                  </a:p>
                </c:rich>
              </c:tx>
              <c:dLblPos val="outEnd"/>
              <c:showLegendKey val="0"/>
              <c:showVal val="1"/>
              <c:showCatName val="0"/>
              <c:showSerName val="0"/>
              <c:showPercent val="0"/>
              <c:showBubbleSize val="0"/>
            </c:dLbl>
            <c:dLbl>
              <c:idx val="2"/>
              <c:tx>
                <c:rich>
                  <a:bodyPr/>
                  <a:lstStyle/>
                  <a:p>
                    <a:r>
                      <a:rPr lang="en-US" sz="800"/>
                      <a:t>0%</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632</c:v>
                </c:pt>
                <c:pt idx="1">
                  <c:v>668</c:v>
                </c:pt>
                <c:pt idx="2">
                  <c:v>666</c:v>
                </c:pt>
              </c:numCache>
            </c:numRef>
          </c:val>
        </c:ser>
        <c:ser>
          <c:idx val="1"/>
          <c:order val="1"/>
          <c:tx>
            <c:strRef>
              <c:f>Sheet1!$C$1</c:f>
              <c:strCache>
                <c:ptCount val="1"/>
                <c:pt idx="0">
                  <c:v>Greedy-2D</c:v>
                </c:pt>
              </c:strCache>
            </c:strRef>
          </c:tx>
          <c:spPr>
            <a:solidFill>
              <a:srgbClr val="EB6834"/>
            </a:solidFill>
            <a:effectLst/>
          </c:spPr>
          <c:invertIfNegative val="0"/>
          <c:dLbls>
            <c:dLbl>
              <c:idx val="0"/>
              <c:tx>
                <c:rich>
                  <a:bodyPr/>
                  <a:lstStyle/>
                  <a:p>
                    <a:r>
                      <a:rPr lang="en-US" sz="800"/>
                      <a:t>0%</a:t>
                    </a:r>
                  </a:p>
                </c:rich>
              </c:tx>
              <c:dLblPos val="outEnd"/>
              <c:showLegendKey val="0"/>
              <c:showVal val="1"/>
              <c:showCatName val="0"/>
              <c:showSerName val="0"/>
              <c:showPercent val="0"/>
              <c:showBubbleSize val="0"/>
            </c:dLbl>
            <c:dLbl>
              <c:idx val="1"/>
              <c:tx>
                <c:rich>
                  <a:bodyPr/>
                  <a:lstStyle/>
                  <a:p>
                    <a:r>
                      <a:rPr lang="en-US" sz="800"/>
                      <a:t>0%</a:t>
                    </a:r>
                  </a:p>
                </c:rich>
              </c:tx>
              <c:dLblPos val="outEnd"/>
              <c:showLegendKey val="0"/>
              <c:showVal val="1"/>
              <c:showCatName val="0"/>
              <c:showSerName val="0"/>
              <c:showPercent val="0"/>
              <c:showBubbleSize val="0"/>
            </c:dLbl>
            <c:dLbl>
              <c:idx val="2"/>
              <c:tx>
                <c:rich>
                  <a:bodyPr/>
                  <a:lstStyle/>
                  <a:p>
                    <a:r>
                      <a:rPr lang="en-US" sz="800"/>
                      <a:t>0%</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671</c:v>
                </c:pt>
                <c:pt idx="1">
                  <c:v>667</c:v>
                </c:pt>
                <c:pt idx="2">
                  <c:v>667</c:v>
                </c:pt>
              </c:numCache>
            </c:numRef>
          </c:val>
        </c:ser>
        <c:ser>
          <c:idx val="2"/>
          <c:order val="2"/>
          <c:tx>
            <c:strRef>
              <c:f>Sheet1!$D$1</c:f>
              <c:strCache>
                <c:ptCount val="1"/>
                <c:pt idx="0">
                  <c:v>Symphony</c:v>
                </c:pt>
              </c:strCache>
            </c:strRef>
          </c:tx>
          <c:spPr>
            <a:solidFill>
              <a:srgbClr val="1BAF7A"/>
            </a:solidFill>
            <a:effectLst/>
          </c:spPr>
          <c:invertIfNegative val="0"/>
          <c:dLbls>
            <c:dLbl>
              <c:idx val="0"/>
              <c:tx>
                <c:rich>
                  <a:bodyPr/>
                  <a:lstStyle/>
                  <a:p>
                    <a:r>
                      <a:rPr lang="en-US" sz="800"/>
                      <a:t>18%</a:t>
                    </a:r>
                  </a:p>
                </c:rich>
              </c:tx>
              <c:dLblPos val="outEnd"/>
              <c:showLegendKey val="0"/>
              <c:showVal val="1"/>
              <c:showCatName val="0"/>
              <c:showSerName val="0"/>
              <c:showPercent val="0"/>
              <c:showBubbleSize val="0"/>
            </c:dLbl>
            <c:dLbl>
              <c:idx val="1"/>
              <c:tx>
                <c:rich>
                  <a:bodyPr/>
                  <a:lstStyle/>
                  <a:p>
                    <a:r>
                      <a:rPr lang="en-US" sz="800"/>
                      <a:t>8%</a:t>
                    </a:r>
                  </a:p>
                </c:rich>
              </c:tx>
              <c:dLblPos val="outEnd"/>
              <c:showLegendKey val="0"/>
              <c:showVal val="1"/>
              <c:showCatName val="0"/>
              <c:showSerName val="0"/>
              <c:showPercent val="0"/>
              <c:showBubbleSize val="0"/>
            </c:dLbl>
            <c:dLbl>
              <c:idx val="2"/>
              <c:tx>
                <c:rich>
                  <a:bodyPr/>
                  <a:lstStyle/>
                  <a:p>
                    <a:r>
                      <a:rPr lang="en-US" sz="800"/>
                      <a:t>2%</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611</c:v>
                </c:pt>
                <c:pt idx="1">
                  <c:v>629</c:v>
                </c:pt>
                <c:pt idx="2">
                  <c:v>591</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000"/>
          <c:min val="0"/>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25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Light mix (n70): capacity 36.8 req/s, load 22%</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dLbl>
              <c:idx val="0"/>
              <c:tx>
                <c:rich>
                  <a:bodyPr/>
                  <a:lstStyle/>
                  <a:p>
                    <a:r>
                      <a:rPr lang="en-US" sz="800"/>
                      <a:t>3%</a:t>
                    </a:r>
                  </a:p>
                </c:rich>
              </c:tx>
              <c:dLblPos val="outEnd"/>
              <c:showLegendKey val="0"/>
              <c:showVal val="1"/>
              <c:showCatName val="0"/>
              <c:showSerName val="0"/>
              <c:showPercent val="0"/>
              <c:showBubbleSize val="0"/>
            </c:dLbl>
            <c:dLbl>
              <c:idx val="1"/>
              <c:tx>
                <c:rich>
                  <a:bodyPr/>
                  <a:lstStyle/>
                  <a:p>
                    <a:r>
                      <a:rPr lang="en-US" sz="800"/>
                      <a:t>0%</a:t>
                    </a:r>
                  </a:p>
                </c:rich>
              </c:tx>
              <c:dLblPos val="outEnd"/>
              <c:showLegendKey val="0"/>
              <c:showVal val="1"/>
              <c:showCatName val="0"/>
              <c:showSerName val="0"/>
              <c:showPercent val="0"/>
              <c:showBubbleSize val="0"/>
            </c:dLbl>
            <c:dLbl>
              <c:idx val="2"/>
              <c:tx>
                <c:rich>
                  <a:bodyPr/>
                  <a:lstStyle/>
                  <a:p>
                    <a:r>
                      <a:rPr lang="en-US" sz="800"/>
                      <a:t>0%</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554</c:v>
                </c:pt>
                <c:pt idx="1">
                  <c:v>568</c:v>
                </c:pt>
                <c:pt idx="2">
                  <c:v>597</c:v>
                </c:pt>
              </c:numCache>
            </c:numRef>
          </c:val>
        </c:ser>
        <c:ser>
          <c:idx val="1"/>
          <c:order val="1"/>
          <c:tx>
            <c:strRef>
              <c:f>Sheet1!$C$1</c:f>
              <c:strCache>
                <c:ptCount val="1"/>
                <c:pt idx="0">
                  <c:v>Greedy-2D</c:v>
                </c:pt>
              </c:strCache>
            </c:strRef>
          </c:tx>
          <c:spPr>
            <a:solidFill>
              <a:srgbClr val="EB6834"/>
            </a:solidFill>
            <a:effectLst/>
          </c:spPr>
          <c:invertIfNegative val="0"/>
          <c:dLbls>
            <c:dLbl>
              <c:idx val="0"/>
              <c:tx>
                <c:rich>
                  <a:bodyPr/>
                  <a:lstStyle/>
                  <a:p>
                    <a:r>
                      <a:rPr lang="en-US" sz="800"/>
                      <a:t>0%</a:t>
                    </a:r>
                  </a:p>
                </c:rich>
              </c:tx>
              <c:dLblPos val="outEnd"/>
              <c:showLegendKey val="0"/>
              <c:showVal val="1"/>
              <c:showCatName val="0"/>
              <c:showSerName val="0"/>
              <c:showPercent val="0"/>
              <c:showBubbleSize val="0"/>
            </c:dLbl>
            <c:dLbl>
              <c:idx val="1"/>
              <c:tx>
                <c:rich>
                  <a:bodyPr/>
                  <a:lstStyle/>
                  <a:p>
                    <a:r>
                      <a:rPr lang="en-US" sz="800"/>
                      <a:t>0%</a:t>
                    </a:r>
                  </a:p>
                </c:rich>
              </c:tx>
              <c:dLblPos val="outEnd"/>
              <c:showLegendKey val="0"/>
              <c:showVal val="1"/>
              <c:showCatName val="0"/>
              <c:showSerName val="0"/>
              <c:showPercent val="0"/>
              <c:showBubbleSize val="0"/>
            </c:dLbl>
            <c:dLbl>
              <c:idx val="2"/>
              <c:tx>
                <c:rich>
                  <a:bodyPr/>
                  <a:lstStyle/>
                  <a:p>
                    <a:r>
                      <a:rPr lang="en-US" sz="800"/>
                      <a:t>0%</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571</c:v>
                </c:pt>
                <c:pt idx="1">
                  <c:v>569</c:v>
                </c:pt>
                <c:pt idx="2">
                  <c:v>570</c:v>
                </c:pt>
              </c:numCache>
            </c:numRef>
          </c:val>
        </c:ser>
        <c:ser>
          <c:idx val="2"/>
          <c:order val="2"/>
          <c:tx>
            <c:strRef>
              <c:f>Sheet1!$D$1</c:f>
              <c:strCache>
                <c:ptCount val="1"/>
                <c:pt idx="0">
                  <c:v>Symphony</c:v>
                </c:pt>
              </c:strCache>
            </c:strRef>
          </c:tx>
          <c:spPr>
            <a:solidFill>
              <a:srgbClr val="1BAF7A"/>
            </a:solidFill>
            <a:effectLst/>
          </c:spPr>
          <c:invertIfNegative val="0"/>
          <c:dLbls>
            <c:dLbl>
              <c:idx val="0"/>
              <c:tx>
                <c:rich>
                  <a:bodyPr/>
                  <a:lstStyle/>
                  <a:p>
                    <a:r>
                      <a:rPr lang="en-US" sz="800"/>
                      <a:t>12%</a:t>
                    </a:r>
                  </a:p>
                </c:rich>
              </c:tx>
              <c:dLblPos val="outEnd"/>
              <c:showLegendKey val="0"/>
              <c:showVal val="1"/>
              <c:showCatName val="0"/>
              <c:showSerName val="0"/>
              <c:showPercent val="0"/>
              <c:showBubbleSize val="0"/>
            </c:dLbl>
            <c:dLbl>
              <c:idx val="1"/>
              <c:tx>
                <c:rich>
                  <a:bodyPr/>
                  <a:lstStyle/>
                  <a:p>
                    <a:r>
                      <a:rPr lang="en-US" sz="800"/>
                      <a:t>5%</a:t>
                    </a:r>
                  </a:p>
                </c:rich>
              </c:tx>
              <c:dLblPos val="outEnd"/>
              <c:showLegendKey val="0"/>
              <c:showVal val="1"/>
              <c:showCatName val="0"/>
              <c:showSerName val="0"/>
              <c:showPercent val="0"/>
              <c:showBubbleSize val="0"/>
            </c:dLbl>
            <c:dLbl>
              <c:idx val="2"/>
              <c:tx>
                <c:rich>
                  <a:bodyPr/>
                  <a:lstStyle/>
                  <a:p>
                    <a:r>
                      <a:rPr lang="en-US" sz="800"/>
                      <a:t>1%</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547</c:v>
                </c:pt>
                <c:pt idx="1">
                  <c:v>551</c:v>
                </c:pt>
                <c:pt idx="2">
                  <c:v>531</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000"/>
          <c:min val="0"/>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25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Heavy mix (l55): capacity 16.7 req/s, load 96%</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dLbl>
              <c:idx val="0"/>
              <c:tx>
                <c:rich>
                  <a:bodyPr/>
                  <a:lstStyle/>
                  <a:p>
                    <a:r>
                      <a:rPr lang="en-US" sz="800"/>
                      <a:t>39%</a:t>
                    </a:r>
                  </a:p>
                </c:rich>
              </c:tx>
              <c:dLblPos val="outEnd"/>
              <c:showLegendKey val="0"/>
              <c:showVal val="1"/>
              <c:showCatName val="0"/>
              <c:showSerName val="0"/>
              <c:showPercent val="0"/>
              <c:showBubbleSize val="0"/>
            </c:dLbl>
            <c:dLbl>
              <c:idx val="1"/>
              <c:tx>
                <c:rich>
                  <a:bodyPr/>
                  <a:lstStyle/>
                  <a:p>
                    <a:r>
                      <a:rPr lang="en-US" sz="800"/>
                      <a:t>24%</a:t>
                    </a:r>
                  </a:p>
                </c:rich>
              </c:tx>
              <c:dLblPos val="outEnd"/>
              <c:showLegendKey val="0"/>
              <c:showVal val="1"/>
              <c:showCatName val="0"/>
              <c:showSerName val="0"/>
              <c:showPercent val="0"/>
              <c:showBubbleSize val="0"/>
            </c:dLbl>
            <c:dLbl>
              <c:idx val="2"/>
              <c:tx>
                <c:rich>
                  <a:bodyPr/>
                  <a:lstStyle/>
                  <a:p>
                    <a:r>
                      <a:rPr lang="en-US" sz="800"/>
                      <a:t>10%</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1001</c:v>
                </c:pt>
                <c:pt idx="1">
                  <c:v>1234</c:v>
                </c:pt>
                <c:pt idx="2">
                  <c:v>1273</c:v>
                </c:pt>
              </c:numCache>
            </c:numRef>
          </c:val>
        </c:ser>
        <c:ser>
          <c:idx val="1"/>
          <c:order val="1"/>
          <c:tx>
            <c:strRef>
              <c:f>Sheet1!$C$1</c:f>
              <c:strCache>
                <c:ptCount val="1"/>
                <c:pt idx="0">
                  <c:v>Greedy-2D</c:v>
                </c:pt>
              </c:strCache>
            </c:strRef>
          </c:tx>
          <c:spPr>
            <a:solidFill>
              <a:srgbClr val="EB6834"/>
            </a:solidFill>
            <a:effectLst/>
          </c:spPr>
          <c:invertIfNegative val="0"/>
          <c:dLbls>
            <c:dLbl>
              <c:idx val="0"/>
              <c:tx>
                <c:rich>
                  <a:bodyPr/>
                  <a:lstStyle/>
                  <a:p>
                    <a:r>
                      <a:rPr lang="en-US" sz="800"/>
                      <a:t>0%</a:t>
                    </a:r>
                  </a:p>
                </c:rich>
              </c:tx>
              <c:dLblPos val="outEnd"/>
              <c:showLegendKey val="0"/>
              <c:showVal val="1"/>
              <c:showCatName val="0"/>
              <c:showSerName val="0"/>
              <c:showPercent val="0"/>
              <c:showBubbleSize val="0"/>
            </c:dLbl>
            <c:dLbl>
              <c:idx val="1"/>
              <c:tx>
                <c:rich>
                  <a:bodyPr/>
                  <a:lstStyle/>
                  <a:p>
                    <a:r>
                      <a:rPr lang="en-US" sz="800"/>
                      <a:t>0%</a:t>
                    </a:r>
                  </a:p>
                </c:rich>
              </c:tx>
              <c:dLblPos val="outEnd"/>
              <c:showLegendKey val="0"/>
              <c:showVal val="1"/>
              <c:showCatName val="0"/>
              <c:showSerName val="0"/>
              <c:showPercent val="0"/>
              <c:showBubbleSize val="0"/>
            </c:dLbl>
            <c:dLbl>
              <c:idx val="2"/>
              <c:tx>
                <c:rich>
                  <a:bodyPr/>
                  <a:lstStyle/>
                  <a:p>
                    <a:r>
                      <a:rPr lang="en-US" sz="800"/>
                      <a:t>0%</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1197</c:v>
                </c:pt>
                <c:pt idx="1">
                  <c:v>1195</c:v>
                </c:pt>
                <c:pt idx="2">
                  <c:v>1194</c:v>
                </c:pt>
              </c:numCache>
            </c:numRef>
          </c:val>
        </c:ser>
        <c:ser>
          <c:idx val="2"/>
          <c:order val="2"/>
          <c:tx>
            <c:strRef>
              <c:f>Sheet1!$D$1</c:f>
              <c:strCache>
                <c:ptCount val="1"/>
                <c:pt idx="0">
                  <c:v>Symphony</c:v>
                </c:pt>
              </c:strCache>
            </c:strRef>
          </c:tx>
          <c:spPr>
            <a:solidFill>
              <a:srgbClr val="1BAF7A"/>
            </a:solidFill>
            <a:effectLst/>
          </c:spPr>
          <c:invertIfNegative val="0"/>
          <c:dLbls>
            <c:dLbl>
              <c:idx val="0"/>
              <c:tx>
                <c:rich>
                  <a:bodyPr/>
                  <a:lstStyle/>
                  <a:p>
                    <a:r>
                      <a:rPr lang="en-US" sz="800"/>
                      <a:t>47%</a:t>
                    </a:r>
                  </a:p>
                </c:rich>
              </c:tx>
              <c:dLblPos val="outEnd"/>
              <c:showLegendKey val="0"/>
              <c:showVal val="1"/>
              <c:showCatName val="0"/>
              <c:showSerName val="0"/>
              <c:showPercent val="0"/>
              <c:showBubbleSize val="0"/>
            </c:dLbl>
            <c:dLbl>
              <c:idx val="1"/>
              <c:tx>
                <c:rich>
                  <a:bodyPr/>
                  <a:lstStyle/>
                  <a:p>
                    <a:r>
                      <a:rPr lang="en-US" sz="800"/>
                      <a:t>32%</a:t>
                    </a:r>
                  </a:p>
                </c:rich>
              </c:tx>
              <c:dLblPos val="outEnd"/>
              <c:showLegendKey val="0"/>
              <c:showVal val="1"/>
              <c:showCatName val="0"/>
              <c:showSerName val="0"/>
              <c:showPercent val="0"/>
              <c:showBubbleSize val="0"/>
            </c:dLbl>
            <c:dLbl>
              <c:idx val="2"/>
              <c:tx>
                <c:rich>
                  <a:bodyPr/>
                  <a:lstStyle/>
                  <a:p>
                    <a:r>
                      <a:rPr lang="en-US" sz="800"/>
                      <a:t>17%</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967</c:v>
                </c:pt>
                <c:pt idx="1">
                  <c:v>1167</c:v>
                </c:pt>
                <c:pt idx="2">
                  <c:v>1221</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400"/>
          <c:min val="0"/>
        </c:scaling>
        <c:delete val="0"/>
        <c:axPos val="l"/>
        <c:majorGridlines>
          <c:spPr>
            <a:ln w="6350" cap="flat">
              <a:solidFill>
                <a:srgbClr val="E1E0D9"/>
              </a:solidFill>
              <a:prstDash val="solid"/>
              <a:round/>
            </a:ln>
          </c:spPr>
        </c:majorGridlines>
        <c:title>
          <c:tx>
            <c:rich>
              <a:bodyPr/>
              <a:lstStyle/>
              <a:p>
                <a:pPr>
                  <a:defRPr sz="1100" b="0" i="0" u="none" strike="noStrike">
                    <a:solidFill>
                      <a:srgbClr val="595959"/>
                    </a:solidFill>
                    <a:latin typeface="Calibri"/>
                  </a:defRPr>
                </a:pPr>
                <a:r>
                  <a:rPr sz="1100" b="0" i="0" u="none" strike="noStrike">
                    <a:solidFill>
                      <a:srgbClr val="595959"/>
                    </a:solidFill>
                    <a:latin typeface="Calibri"/>
                  </a:rPr>
                  <a:t>total energy in the 120 s window (J)</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35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Balanced mix: capacity 22.4 req/s, load 71%</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dLbl>
              <c:idx val="0"/>
              <c:tx>
                <c:rich>
                  <a:bodyPr/>
                  <a:lstStyle/>
                  <a:p>
                    <a:r>
                      <a:rPr lang="en-US" sz="800"/>
                      <a:t>24%</a:t>
                    </a:r>
                  </a:p>
                </c:rich>
              </c:tx>
              <c:dLblPos val="outEnd"/>
              <c:showLegendKey val="0"/>
              <c:showVal val="1"/>
              <c:showCatName val="0"/>
              <c:showSerName val="0"/>
              <c:showPercent val="0"/>
              <c:showBubbleSize val="0"/>
            </c:dLbl>
            <c:dLbl>
              <c:idx val="1"/>
              <c:tx>
                <c:rich>
                  <a:bodyPr/>
                  <a:lstStyle/>
                  <a:p>
                    <a:r>
                      <a:rPr lang="en-US" sz="800"/>
                      <a:t>4%</a:t>
                    </a:r>
                  </a:p>
                </c:rich>
              </c:tx>
              <c:dLblPos val="outEnd"/>
              <c:showLegendKey val="0"/>
              <c:showVal val="1"/>
              <c:showCatName val="0"/>
              <c:showSerName val="0"/>
              <c:showPercent val="0"/>
              <c:showBubbleSize val="0"/>
            </c:dLbl>
            <c:dLbl>
              <c:idx val="2"/>
              <c:tx>
                <c:rich>
                  <a:bodyPr/>
                  <a:lstStyle/>
                  <a:p>
                    <a:r>
                      <a:rPr lang="en-US" sz="800"/>
                      <a:t>0%</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932</c:v>
                </c:pt>
                <c:pt idx="1">
                  <c:v>1115</c:v>
                </c:pt>
                <c:pt idx="2">
                  <c:v>1129</c:v>
                </c:pt>
              </c:numCache>
            </c:numRef>
          </c:val>
        </c:ser>
        <c:ser>
          <c:idx val="1"/>
          <c:order val="1"/>
          <c:tx>
            <c:strRef>
              <c:f>Sheet1!$C$1</c:f>
              <c:strCache>
                <c:ptCount val="1"/>
                <c:pt idx="0">
                  <c:v>Greedy-2D</c:v>
                </c:pt>
              </c:strCache>
            </c:strRef>
          </c:tx>
          <c:spPr>
            <a:solidFill>
              <a:srgbClr val="EB6834"/>
            </a:solidFill>
            <a:effectLst/>
          </c:spPr>
          <c:invertIfNegative val="0"/>
          <c:dLbls>
            <c:dLbl>
              <c:idx val="0"/>
              <c:tx>
                <c:rich>
                  <a:bodyPr/>
                  <a:lstStyle/>
                  <a:p>
                    <a:r>
                      <a:rPr lang="en-US" sz="800"/>
                      <a:t>0%</a:t>
                    </a:r>
                  </a:p>
                </c:rich>
              </c:tx>
              <c:dLblPos val="outEnd"/>
              <c:showLegendKey val="0"/>
              <c:showVal val="1"/>
              <c:showCatName val="0"/>
              <c:showSerName val="0"/>
              <c:showPercent val="0"/>
              <c:showBubbleSize val="0"/>
            </c:dLbl>
            <c:dLbl>
              <c:idx val="1"/>
              <c:tx>
                <c:rich>
                  <a:bodyPr/>
                  <a:lstStyle/>
                  <a:p>
                    <a:r>
                      <a:rPr lang="en-US" sz="800"/>
                      <a:t>0%</a:t>
                    </a:r>
                  </a:p>
                </c:rich>
              </c:tx>
              <c:dLblPos val="outEnd"/>
              <c:showLegendKey val="0"/>
              <c:showVal val="1"/>
              <c:showCatName val="0"/>
              <c:showSerName val="0"/>
              <c:showPercent val="0"/>
              <c:showBubbleSize val="0"/>
            </c:dLbl>
            <c:dLbl>
              <c:idx val="2"/>
              <c:tx>
                <c:rich>
                  <a:bodyPr/>
                  <a:lstStyle/>
                  <a:p>
                    <a:r>
                      <a:rPr lang="en-US" sz="800"/>
                      <a:t>0%</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1165</c:v>
                </c:pt>
                <c:pt idx="1">
                  <c:v>1141</c:v>
                </c:pt>
                <c:pt idx="2">
                  <c:v>1121</c:v>
                </c:pt>
              </c:numCache>
            </c:numRef>
          </c:val>
        </c:ser>
        <c:ser>
          <c:idx val="2"/>
          <c:order val="2"/>
          <c:tx>
            <c:strRef>
              <c:f>Sheet1!$D$1</c:f>
              <c:strCache>
                <c:ptCount val="1"/>
                <c:pt idx="0">
                  <c:v>Symphony</c:v>
                </c:pt>
              </c:strCache>
            </c:strRef>
          </c:tx>
          <c:spPr>
            <a:solidFill>
              <a:srgbClr val="1BAF7A"/>
            </a:solidFill>
            <a:effectLst/>
          </c:spPr>
          <c:invertIfNegative val="0"/>
          <c:dLbls>
            <c:dLbl>
              <c:idx val="0"/>
              <c:tx>
                <c:rich>
                  <a:bodyPr/>
                  <a:lstStyle/>
                  <a:p>
                    <a:r>
                      <a:rPr lang="en-US" sz="800"/>
                      <a:t>36%</a:t>
                    </a:r>
                  </a:p>
                </c:rich>
              </c:tx>
              <c:dLblPos val="outEnd"/>
              <c:showLegendKey val="0"/>
              <c:showVal val="1"/>
              <c:showCatName val="0"/>
              <c:showSerName val="0"/>
              <c:showPercent val="0"/>
              <c:showBubbleSize val="0"/>
            </c:dLbl>
            <c:dLbl>
              <c:idx val="1"/>
              <c:tx>
                <c:rich>
                  <a:bodyPr/>
                  <a:lstStyle/>
                  <a:p>
                    <a:r>
                      <a:rPr lang="en-US" sz="800"/>
                      <a:t>19%</a:t>
                    </a:r>
                  </a:p>
                </c:rich>
              </c:tx>
              <c:dLblPos val="outEnd"/>
              <c:showLegendKey val="0"/>
              <c:showVal val="1"/>
              <c:showCatName val="0"/>
              <c:showSerName val="0"/>
              <c:showPercent val="0"/>
              <c:showBubbleSize val="0"/>
            </c:dLbl>
            <c:dLbl>
              <c:idx val="2"/>
              <c:tx>
                <c:rich>
                  <a:bodyPr/>
                  <a:lstStyle/>
                  <a:p>
                    <a:r>
                      <a:rPr lang="en-US" sz="800"/>
                      <a:t>5%</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884</c:v>
                </c:pt>
                <c:pt idx="1">
                  <c:v>994</c:v>
                </c:pt>
                <c:pt idx="2">
                  <c:v>984</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400"/>
          <c:min val="0"/>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35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Skewed mix: capacity 27.5 req/s, load 58%</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dLbl>
              <c:idx val="0"/>
              <c:tx>
                <c:rich>
                  <a:bodyPr/>
                  <a:lstStyle/>
                  <a:p>
                    <a:r>
                      <a:rPr lang="en-US" sz="800"/>
                      <a:t>16%</a:t>
                    </a:r>
                  </a:p>
                </c:rich>
              </c:tx>
              <c:dLblPos val="outEnd"/>
              <c:showLegendKey val="0"/>
              <c:showVal val="1"/>
              <c:showCatName val="0"/>
              <c:showSerName val="0"/>
              <c:showPercent val="0"/>
              <c:showBubbleSize val="0"/>
            </c:dLbl>
            <c:dLbl>
              <c:idx val="1"/>
              <c:tx>
                <c:rich>
                  <a:bodyPr/>
                  <a:lstStyle/>
                  <a:p>
                    <a:r>
                      <a:rPr lang="en-US" sz="800"/>
                      <a:t>0.7%</a:t>
                    </a:r>
                  </a:p>
                </c:rich>
              </c:tx>
              <c:dLblPos val="outEnd"/>
              <c:showLegendKey val="0"/>
              <c:showVal val="1"/>
              <c:showCatName val="0"/>
              <c:showSerName val="0"/>
              <c:showPercent val="0"/>
              <c:showBubbleSize val="0"/>
            </c:dLbl>
            <c:dLbl>
              <c:idx val="2"/>
              <c:tx>
                <c:rich>
                  <a:bodyPr/>
                  <a:lstStyle/>
                  <a:p>
                    <a:r>
                      <a:rPr lang="en-US" sz="800"/>
                      <a:t>0%</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852</c:v>
                </c:pt>
                <c:pt idx="1">
                  <c:v>982</c:v>
                </c:pt>
                <c:pt idx="2">
                  <c:v>985</c:v>
                </c:pt>
              </c:numCache>
            </c:numRef>
          </c:val>
        </c:ser>
        <c:ser>
          <c:idx val="1"/>
          <c:order val="1"/>
          <c:tx>
            <c:strRef>
              <c:f>Sheet1!$C$1</c:f>
              <c:strCache>
                <c:ptCount val="1"/>
                <c:pt idx="0">
                  <c:v>Greedy-2D</c:v>
                </c:pt>
              </c:strCache>
            </c:strRef>
          </c:tx>
          <c:spPr>
            <a:solidFill>
              <a:srgbClr val="EB6834"/>
            </a:solidFill>
            <a:effectLst/>
          </c:spPr>
          <c:invertIfNegative val="0"/>
          <c:dLbls>
            <c:dLbl>
              <c:idx val="0"/>
              <c:tx>
                <c:rich>
                  <a:bodyPr/>
                  <a:lstStyle/>
                  <a:p>
                    <a:r>
                      <a:rPr lang="en-US" sz="800"/>
                      <a:t>0%</a:t>
                    </a:r>
                  </a:p>
                </c:rich>
              </c:tx>
              <c:dLblPos val="outEnd"/>
              <c:showLegendKey val="0"/>
              <c:showVal val="1"/>
              <c:showCatName val="0"/>
              <c:showSerName val="0"/>
              <c:showPercent val="0"/>
              <c:showBubbleSize val="0"/>
            </c:dLbl>
            <c:dLbl>
              <c:idx val="1"/>
              <c:tx>
                <c:rich>
                  <a:bodyPr/>
                  <a:lstStyle/>
                  <a:p>
                    <a:r>
                      <a:rPr lang="en-US" sz="800"/>
                      <a:t>0%</a:t>
                    </a:r>
                  </a:p>
                </c:rich>
              </c:tx>
              <c:dLblPos val="outEnd"/>
              <c:showLegendKey val="0"/>
              <c:showVal val="1"/>
              <c:showCatName val="0"/>
              <c:showSerName val="0"/>
              <c:showPercent val="0"/>
              <c:showBubbleSize val="0"/>
            </c:dLbl>
            <c:dLbl>
              <c:idx val="2"/>
              <c:tx>
                <c:rich>
                  <a:bodyPr/>
                  <a:lstStyle/>
                  <a:p>
                    <a:r>
                      <a:rPr lang="en-US" sz="800"/>
                      <a:t>0%</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1009</c:v>
                </c:pt>
                <c:pt idx="1">
                  <c:v>987</c:v>
                </c:pt>
                <c:pt idx="2">
                  <c:v>987</c:v>
                </c:pt>
              </c:numCache>
            </c:numRef>
          </c:val>
        </c:ser>
        <c:ser>
          <c:idx val="2"/>
          <c:order val="2"/>
          <c:tx>
            <c:strRef>
              <c:f>Sheet1!$D$1</c:f>
              <c:strCache>
                <c:ptCount val="1"/>
                <c:pt idx="0">
                  <c:v>Symphony</c:v>
                </c:pt>
              </c:strCache>
            </c:strRef>
          </c:tx>
          <c:spPr>
            <a:solidFill>
              <a:srgbClr val="1BAF7A"/>
            </a:solidFill>
            <a:effectLst/>
          </c:spPr>
          <c:invertIfNegative val="0"/>
          <c:dLbls>
            <c:dLbl>
              <c:idx val="0"/>
              <c:tx>
                <c:rich>
                  <a:bodyPr/>
                  <a:lstStyle/>
                  <a:p>
                    <a:r>
                      <a:rPr lang="en-US" sz="800"/>
                      <a:t>29%</a:t>
                    </a:r>
                  </a:p>
                </c:rich>
              </c:tx>
              <c:dLblPos val="outEnd"/>
              <c:showLegendKey val="0"/>
              <c:showVal val="1"/>
              <c:showCatName val="0"/>
              <c:showSerName val="0"/>
              <c:showPercent val="0"/>
              <c:showBubbleSize val="0"/>
            </c:dLbl>
            <c:dLbl>
              <c:idx val="1"/>
              <c:tx>
                <c:rich>
                  <a:bodyPr/>
                  <a:lstStyle/>
                  <a:p>
                    <a:r>
                      <a:rPr lang="en-US" sz="800"/>
                      <a:t>12%</a:t>
                    </a:r>
                  </a:p>
                </c:rich>
              </c:tx>
              <c:dLblPos val="outEnd"/>
              <c:showLegendKey val="0"/>
              <c:showVal val="1"/>
              <c:showCatName val="0"/>
              <c:showSerName val="0"/>
              <c:showPercent val="0"/>
              <c:showBubbleSize val="0"/>
            </c:dLbl>
            <c:dLbl>
              <c:idx val="2"/>
              <c:tx>
                <c:rich>
                  <a:bodyPr/>
                  <a:lstStyle/>
                  <a:p>
                    <a:r>
                      <a:rPr lang="en-US" sz="800"/>
                      <a:t>3%</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804</c:v>
                </c:pt>
                <c:pt idx="1">
                  <c:v>890</c:v>
                </c:pt>
                <c:pt idx="2">
                  <c:v>826</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400"/>
          <c:min val="0"/>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35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Light mix (n70): capacity 36.8 req/s, load 43%</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dLbl>
              <c:idx val="0"/>
              <c:tx>
                <c:rich>
                  <a:bodyPr/>
                  <a:lstStyle/>
                  <a:p>
                    <a:r>
                      <a:rPr lang="en-US" sz="800"/>
                      <a:t>6%</a:t>
                    </a:r>
                  </a:p>
                </c:rich>
              </c:tx>
              <c:dLblPos val="outEnd"/>
              <c:showLegendKey val="0"/>
              <c:showVal val="1"/>
              <c:showCatName val="0"/>
              <c:showSerName val="0"/>
              <c:showPercent val="0"/>
              <c:showBubbleSize val="0"/>
            </c:dLbl>
            <c:dLbl>
              <c:idx val="1"/>
              <c:tx>
                <c:rich>
                  <a:bodyPr/>
                  <a:lstStyle/>
                  <a:p>
                    <a:r>
                      <a:rPr lang="en-US" sz="800"/>
                      <a:t>0%</a:t>
                    </a:r>
                  </a:p>
                </c:rich>
              </c:tx>
              <c:dLblPos val="outEnd"/>
              <c:showLegendKey val="0"/>
              <c:showVal val="1"/>
              <c:showCatName val="0"/>
              <c:showSerName val="0"/>
              <c:showPercent val="0"/>
              <c:showBubbleSize val="0"/>
            </c:dLbl>
            <c:dLbl>
              <c:idx val="2"/>
              <c:tx>
                <c:rich>
                  <a:bodyPr/>
                  <a:lstStyle/>
                  <a:p>
                    <a:r>
                      <a:rPr lang="en-US" sz="800"/>
                      <a:t>0%</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756</c:v>
                </c:pt>
                <c:pt idx="1">
                  <c:v>807</c:v>
                </c:pt>
                <c:pt idx="2">
                  <c:v>807</c:v>
                </c:pt>
              </c:numCache>
            </c:numRef>
          </c:val>
        </c:ser>
        <c:ser>
          <c:idx val="1"/>
          <c:order val="1"/>
          <c:tx>
            <c:strRef>
              <c:f>Sheet1!$C$1</c:f>
              <c:strCache>
                <c:ptCount val="1"/>
                <c:pt idx="0">
                  <c:v>Greedy-2D</c:v>
                </c:pt>
              </c:strCache>
            </c:strRef>
          </c:tx>
          <c:spPr>
            <a:solidFill>
              <a:srgbClr val="EB6834"/>
            </a:solidFill>
            <a:effectLst/>
          </c:spPr>
          <c:invertIfNegative val="0"/>
          <c:dLbls>
            <c:dLbl>
              <c:idx val="0"/>
              <c:tx>
                <c:rich>
                  <a:bodyPr/>
                  <a:lstStyle/>
                  <a:p>
                    <a:r>
                      <a:rPr lang="en-US" sz="800"/>
                      <a:t>0%</a:t>
                    </a:r>
                  </a:p>
                </c:rich>
              </c:tx>
              <c:dLblPos val="outEnd"/>
              <c:showLegendKey val="0"/>
              <c:showVal val="1"/>
              <c:showCatName val="0"/>
              <c:showSerName val="0"/>
              <c:showPercent val="0"/>
              <c:showBubbleSize val="0"/>
            </c:dLbl>
            <c:dLbl>
              <c:idx val="1"/>
              <c:tx>
                <c:rich>
                  <a:bodyPr/>
                  <a:lstStyle/>
                  <a:p>
                    <a:r>
                      <a:rPr lang="en-US" sz="800"/>
                      <a:t>0%</a:t>
                    </a:r>
                  </a:p>
                </c:rich>
              </c:tx>
              <c:dLblPos val="outEnd"/>
              <c:showLegendKey val="0"/>
              <c:showVal val="1"/>
              <c:showCatName val="0"/>
              <c:showSerName val="0"/>
              <c:showPercent val="0"/>
              <c:showBubbleSize val="0"/>
            </c:dLbl>
            <c:dLbl>
              <c:idx val="2"/>
              <c:tx>
                <c:rich>
                  <a:bodyPr/>
                  <a:lstStyle/>
                  <a:p>
                    <a:r>
                      <a:rPr lang="en-US" sz="800"/>
                      <a:t>0%</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811</c:v>
                </c:pt>
                <c:pt idx="1">
                  <c:v>806</c:v>
                </c:pt>
                <c:pt idx="2">
                  <c:v>806</c:v>
                </c:pt>
              </c:numCache>
            </c:numRef>
          </c:val>
        </c:ser>
        <c:ser>
          <c:idx val="2"/>
          <c:order val="2"/>
          <c:tx>
            <c:strRef>
              <c:f>Sheet1!$D$1</c:f>
              <c:strCache>
                <c:ptCount val="1"/>
                <c:pt idx="0">
                  <c:v>Symphony</c:v>
                </c:pt>
              </c:strCache>
            </c:strRef>
          </c:tx>
          <c:spPr>
            <a:solidFill>
              <a:srgbClr val="1BAF7A"/>
            </a:solidFill>
            <a:effectLst/>
          </c:spPr>
          <c:invertIfNegative val="0"/>
          <c:dLbls>
            <c:dLbl>
              <c:idx val="0"/>
              <c:tx>
                <c:rich>
                  <a:bodyPr/>
                  <a:lstStyle/>
                  <a:p>
                    <a:r>
                      <a:rPr lang="en-US" sz="800"/>
                      <a:t>18%</a:t>
                    </a:r>
                  </a:p>
                </c:rich>
              </c:tx>
              <c:dLblPos val="outEnd"/>
              <c:showLegendKey val="0"/>
              <c:showVal val="1"/>
              <c:showCatName val="0"/>
              <c:showSerName val="0"/>
              <c:showPercent val="0"/>
              <c:showBubbleSize val="0"/>
            </c:dLbl>
            <c:dLbl>
              <c:idx val="1"/>
              <c:tx>
                <c:rich>
                  <a:bodyPr/>
                  <a:lstStyle/>
                  <a:p>
                    <a:r>
                      <a:rPr lang="en-US" sz="800"/>
                      <a:t>6%</a:t>
                    </a:r>
                  </a:p>
                </c:rich>
              </c:tx>
              <c:dLblPos val="outEnd"/>
              <c:showLegendKey val="0"/>
              <c:showVal val="1"/>
              <c:showCatName val="0"/>
              <c:showSerName val="0"/>
              <c:showPercent val="0"/>
              <c:showBubbleSize val="0"/>
            </c:dLbl>
            <c:dLbl>
              <c:idx val="2"/>
              <c:tx>
                <c:rich>
                  <a:bodyPr/>
                  <a:lstStyle/>
                  <a:p>
                    <a:r>
                      <a:rPr lang="en-US" sz="800"/>
                      <a:t>1%</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719</c:v>
                </c:pt>
                <c:pt idx="1">
                  <c:v>743</c:v>
                </c:pt>
                <c:pt idx="2">
                  <c:v>714</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400"/>
          <c:min val="0"/>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35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Heavy mix (l55): capacity 16.7 req/s, load 144%</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dLbl>
              <c:idx val="0"/>
              <c:tx>
                <c:rich>
                  <a:bodyPr/>
                  <a:lstStyle/>
                  <a:p>
                    <a:r>
                      <a:rPr lang="en-US" sz="800"/>
                      <a:t>52%</a:t>
                    </a:r>
                  </a:p>
                </c:rich>
              </c:tx>
              <c:dLblPos val="outEnd"/>
              <c:showLegendKey val="0"/>
              <c:showVal val="1"/>
              <c:showCatName val="0"/>
              <c:showSerName val="0"/>
              <c:showPercent val="0"/>
              <c:showBubbleSize val="0"/>
            </c:dLbl>
            <c:dLbl>
              <c:idx val="1"/>
              <c:tx>
                <c:rich>
                  <a:bodyPr/>
                  <a:lstStyle/>
                  <a:p>
                    <a:r>
                      <a:rPr lang="en-US" sz="800"/>
                      <a:t>46%</a:t>
                    </a:r>
                  </a:p>
                </c:rich>
              </c:tx>
              <c:dLblPos val="outEnd"/>
              <c:showLegendKey val="0"/>
              <c:showVal val="1"/>
              <c:showCatName val="0"/>
              <c:showSerName val="0"/>
              <c:showPercent val="0"/>
              <c:showBubbleSize val="0"/>
            </c:dLbl>
            <c:dLbl>
              <c:idx val="2"/>
              <c:tx>
                <c:rich>
                  <a:bodyPr/>
                  <a:lstStyle/>
                  <a:p>
                    <a:r>
                      <a:rPr lang="en-US" sz="800"/>
                      <a:t>38%</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1101</c:v>
                </c:pt>
                <c:pt idx="1">
                  <c:v>1240</c:v>
                </c:pt>
                <c:pt idx="2">
                  <c:v>1245</c:v>
                </c:pt>
              </c:numCache>
            </c:numRef>
          </c:val>
        </c:ser>
        <c:ser>
          <c:idx val="1"/>
          <c:order val="1"/>
          <c:tx>
            <c:strRef>
              <c:f>Sheet1!$C$1</c:f>
              <c:strCache>
                <c:ptCount val="1"/>
                <c:pt idx="0">
                  <c:v>Greedy-2D</c:v>
                </c:pt>
              </c:strCache>
            </c:strRef>
          </c:tx>
          <c:spPr>
            <a:solidFill>
              <a:srgbClr val="EB6834"/>
            </a:solidFill>
            <a:effectLst/>
          </c:spPr>
          <c:invertIfNegative val="0"/>
          <c:dLbls>
            <c:dLbl>
              <c:idx val="0"/>
              <c:tx>
                <c:rich>
                  <a:bodyPr/>
                  <a:lstStyle/>
                  <a:p>
                    <a:r>
                      <a:rPr lang="en-US" sz="800"/>
                      <a:t>25%</a:t>
                    </a:r>
                  </a:p>
                </c:rich>
              </c:tx>
              <c:dLblPos val="outEnd"/>
              <c:showLegendKey val="0"/>
              <c:showVal val="1"/>
              <c:showCatName val="0"/>
              <c:showSerName val="0"/>
              <c:showPercent val="0"/>
              <c:showBubbleSize val="0"/>
            </c:dLbl>
            <c:dLbl>
              <c:idx val="1"/>
              <c:tx>
                <c:rich>
                  <a:bodyPr/>
                  <a:lstStyle/>
                  <a:p>
                    <a:r>
                      <a:rPr lang="en-US" sz="800"/>
                      <a:t>25%</a:t>
                    </a:r>
                  </a:p>
                </c:rich>
              </c:tx>
              <c:dLblPos val="outEnd"/>
              <c:showLegendKey val="0"/>
              <c:showVal val="1"/>
              <c:showCatName val="0"/>
              <c:showSerName val="0"/>
              <c:showPercent val="0"/>
              <c:showBubbleSize val="0"/>
            </c:dLbl>
            <c:dLbl>
              <c:idx val="2"/>
              <c:tx>
                <c:rich>
                  <a:bodyPr/>
                  <a:lstStyle/>
                  <a:p>
                    <a:r>
                      <a:rPr lang="en-US" sz="800"/>
                      <a:t>25%</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1165</c:v>
                </c:pt>
                <c:pt idx="1">
                  <c:v>1160</c:v>
                </c:pt>
                <c:pt idx="2">
                  <c:v>1151</c:v>
                </c:pt>
              </c:numCache>
            </c:numRef>
          </c:val>
        </c:ser>
        <c:ser>
          <c:idx val="2"/>
          <c:order val="2"/>
          <c:tx>
            <c:strRef>
              <c:f>Sheet1!$D$1</c:f>
              <c:strCache>
                <c:ptCount val="1"/>
                <c:pt idx="0">
                  <c:v>Symphony</c:v>
                </c:pt>
              </c:strCache>
            </c:strRef>
          </c:tx>
          <c:spPr>
            <a:solidFill>
              <a:srgbClr val="1BAF7A"/>
            </a:solidFill>
            <a:effectLst/>
          </c:spPr>
          <c:invertIfNegative val="0"/>
          <c:dLbls>
            <c:dLbl>
              <c:idx val="0"/>
              <c:tx>
                <c:rich>
                  <a:bodyPr/>
                  <a:lstStyle/>
                  <a:p>
                    <a:r>
                      <a:rPr lang="en-US" sz="800"/>
                      <a:t>59%</a:t>
                    </a:r>
                  </a:p>
                </c:rich>
              </c:tx>
              <c:dLblPos val="outEnd"/>
              <c:showLegendKey val="0"/>
              <c:showVal val="1"/>
              <c:showCatName val="0"/>
              <c:showSerName val="0"/>
              <c:showPercent val="0"/>
              <c:showBubbleSize val="0"/>
            </c:dLbl>
            <c:dLbl>
              <c:idx val="1"/>
              <c:tx>
                <c:rich>
                  <a:bodyPr/>
                  <a:lstStyle/>
                  <a:p>
                    <a:r>
                      <a:rPr lang="en-US" sz="800"/>
                      <a:t>48%</a:t>
                    </a:r>
                  </a:p>
                </c:rich>
              </c:tx>
              <c:dLblPos val="outEnd"/>
              <c:showLegendKey val="0"/>
              <c:showVal val="1"/>
              <c:showCatName val="0"/>
              <c:showSerName val="0"/>
              <c:showPercent val="0"/>
              <c:showBubbleSize val="0"/>
            </c:dLbl>
            <c:dLbl>
              <c:idx val="2"/>
              <c:tx>
                <c:rich>
                  <a:bodyPr/>
                  <a:lstStyle/>
                  <a:p>
                    <a:r>
                      <a:rPr lang="en-US" sz="800"/>
                      <a:t>36%</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1069</c:v>
                </c:pt>
                <c:pt idx="1">
                  <c:v>1239</c:v>
                </c:pt>
                <c:pt idx="2">
                  <c:v>1252</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400"/>
          <c:min val="0"/>
        </c:scaling>
        <c:delete val="0"/>
        <c:axPos val="l"/>
        <c:majorGridlines>
          <c:spPr>
            <a:ln w="6350" cap="flat">
              <a:solidFill>
                <a:srgbClr val="E1E0D9"/>
              </a:solidFill>
              <a:prstDash val="solid"/>
              <a:round/>
            </a:ln>
          </c:spPr>
        </c:majorGridlines>
        <c:title>
          <c:tx>
            <c:rich>
              <a:bodyPr/>
              <a:lstStyle/>
              <a:p>
                <a:pPr>
                  <a:defRPr sz="1100" b="0" i="0" u="none" strike="noStrike">
                    <a:solidFill>
                      <a:srgbClr val="595959"/>
                    </a:solidFill>
                    <a:latin typeface="Calibri"/>
                  </a:defRPr>
                </a:pPr>
                <a:r>
                  <a:rPr sz="1100" b="0" i="0" u="none" strike="noStrike">
                    <a:solidFill>
                      <a:srgbClr val="595959"/>
                    </a:solidFill>
                    <a:latin typeface="Calibri"/>
                  </a:rPr>
                  <a:t>total energy in the 120 s window (J)</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35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Balanced mix: capacity 22.4 req/s, load 107%</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dLbl>
              <c:idx val="0"/>
              <c:tx>
                <c:rich>
                  <a:bodyPr/>
                  <a:lstStyle/>
                  <a:p>
                    <a:r>
                      <a:rPr lang="en-US" sz="800"/>
                      <a:t>36%</a:t>
                    </a:r>
                  </a:p>
                </c:rich>
              </c:tx>
              <c:dLblPos val="outEnd"/>
              <c:showLegendKey val="0"/>
              <c:showVal val="1"/>
              <c:showCatName val="0"/>
              <c:showSerName val="0"/>
              <c:showPercent val="0"/>
              <c:showBubbleSize val="0"/>
            </c:dLbl>
            <c:dLbl>
              <c:idx val="1"/>
              <c:tx>
                <c:rich>
                  <a:bodyPr/>
                  <a:lstStyle/>
                  <a:p>
                    <a:r>
                      <a:rPr lang="en-US" sz="800"/>
                      <a:t>25%</a:t>
                    </a:r>
                  </a:p>
                </c:rich>
              </c:tx>
              <c:dLblPos val="outEnd"/>
              <c:showLegendKey val="0"/>
              <c:showVal val="1"/>
              <c:showCatName val="0"/>
              <c:showSerName val="0"/>
              <c:showPercent val="0"/>
              <c:showBubbleSize val="0"/>
            </c:dLbl>
            <c:dLbl>
              <c:idx val="2"/>
              <c:tx>
                <c:rich>
                  <a:bodyPr/>
                  <a:lstStyle/>
                  <a:p>
                    <a:r>
                      <a:rPr lang="en-US" sz="800"/>
                      <a:t>16%</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1060</c:v>
                </c:pt>
                <c:pt idx="1">
                  <c:v>1216</c:v>
                </c:pt>
                <c:pt idx="2">
                  <c:v>1246</c:v>
                </c:pt>
              </c:numCache>
            </c:numRef>
          </c:val>
        </c:ser>
        <c:ser>
          <c:idx val="1"/>
          <c:order val="1"/>
          <c:tx>
            <c:strRef>
              <c:f>Sheet1!$C$1</c:f>
              <c:strCache>
                <c:ptCount val="1"/>
                <c:pt idx="0">
                  <c:v>Greedy-2D</c:v>
                </c:pt>
              </c:strCache>
            </c:strRef>
          </c:tx>
          <c:spPr>
            <a:solidFill>
              <a:srgbClr val="EB6834"/>
            </a:solidFill>
            <a:effectLst/>
          </c:spPr>
          <c:invertIfNegative val="0"/>
          <c:dLbls>
            <c:dLbl>
              <c:idx val="0"/>
              <c:tx>
                <c:rich>
                  <a:bodyPr/>
                  <a:lstStyle/>
                  <a:p>
                    <a:r>
                      <a:rPr lang="en-US" sz="800"/>
                      <a:t>4%</a:t>
                    </a:r>
                  </a:p>
                </c:rich>
              </c:tx>
              <c:dLblPos val="outEnd"/>
              <c:showLegendKey val="0"/>
              <c:showVal val="1"/>
              <c:showCatName val="0"/>
              <c:showSerName val="0"/>
              <c:showPercent val="0"/>
              <c:showBubbleSize val="0"/>
            </c:dLbl>
            <c:dLbl>
              <c:idx val="1"/>
              <c:tx>
                <c:rich>
                  <a:bodyPr/>
                  <a:lstStyle/>
                  <a:p>
                    <a:r>
                      <a:rPr lang="en-US" sz="800"/>
                      <a:t>4%</a:t>
                    </a:r>
                  </a:p>
                </c:rich>
              </c:tx>
              <c:dLblPos val="outEnd"/>
              <c:showLegendKey val="0"/>
              <c:showVal val="1"/>
              <c:showCatName val="0"/>
              <c:showSerName val="0"/>
              <c:showPercent val="0"/>
              <c:showBubbleSize val="0"/>
            </c:dLbl>
            <c:dLbl>
              <c:idx val="2"/>
              <c:tx>
                <c:rich>
                  <a:bodyPr/>
                  <a:lstStyle/>
                  <a:p>
                    <a:r>
                      <a:rPr lang="en-US" sz="800"/>
                      <a:t>3%</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1123</c:v>
                </c:pt>
                <c:pt idx="1">
                  <c:v>1123</c:v>
                </c:pt>
                <c:pt idx="2">
                  <c:v>1121</c:v>
                </c:pt>
              </c:numCache>
            </c:numRef>
          </c:val>
        </c:ser>
        <c:ser>
          <c:idx val="2"/>
          <c:order val="2"/>
          <c:tx>
            <c:strRef>
              <c:f>Sheet1!$D$1</c:f>
              <c:strCache>
                <c:ptCount val="1"/>
                <c:pt idx="0">
                  <c:v>Symphony</c:v>
                </c:pt>
              </c:strCache>
            </c:strRef>
          </c:tx>
          <c:spPr>
            <a:solidFill>
              <a:srgbClr val="1BAF7A"/>
            </a:solidFill>
            <a:effectLst/>
          </c:spPr>
          <c:invertIfNegative val="0"/>
          <c:dLbls>
            <c:dLbl>
              <c:idx val="0"/>
              <c:tx>
                <c:rich>
                  <a:bodyPr/>
                  <a:lstStyle/>
                  <a:p>
                    <a:r>
                      <a:rPr lang="en-US" sz="800"/>
                      <a:t>45%</a:t>
                    </a:r>
                  </a:p>
                </c:rich>
              </c:tx>
              <c:dLblPos val="outEnd"/>
              <c:showLegendKey val="0"/>
              <c:showVal val="1"/>
              <c:showCatName val="0"/>
              <c:showSerName val="0"/>
              <c:showPercent val="0"/>
              <c:showBubbleSize val="0"/>
            </c:dLbl>
            <c:dLbl>
              <c:idx val="1"/>
              <c:tx>
                <c:rich>
                  <a:bodyPr/>
                  <a:lstStyle/>
                  <a:p>
                    <a:r>
                      <a:rPr lang="en-US" sz="800"/>
                      <a:t>31%</a:t>
                    </a:r>
                  </a:p>
                </c:rich>
              </c:tx>
              <c:dLblPos val="outEnd"/>
              <c:showLegendKey val="0"/>
              <c:showVal val="1"/>
              <c:showCatName val="0"/>
              <c:showSerName val="0"/>
              <c:showPercent val="0"/>
              <c:showBubbleSize val="0"/>
            </c:dLbl>
            <c:dLbl>
              <c:idx val="2"/>
              <c:tx>
                <c:rich>
                  <a:bodyPr/>
                  <a:lstStyle/>
                  <a:p>
                    <a:r>
                      <a:rPr lang="en-US" sz="800"/>
                      <a:t>16%</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1006</c:v>
                </c:pt>
                <c:pt idx="1">
                  <c:v>1156</c:v>
                </c:pt>
                <c:pt idx="2">
                  <c:v>1225</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400"/>
          <c:min val="0"/>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35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Skewed mix: capacity 27.5 req/s, load 87%</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dLbl>
              <c:idx val="0"/>
              <c:tx>
                <c:rich>
                  <a:bodyPr/>
                  <a:lstStyle/>
                  <a:p>
                    <a:r>
                      <a:rPr lang="en-US" sz="800"/>
                      <a:t>25%</a:t>
                    </a:r>
                  </a:p>
                </c:rich>
              </c:tx>
              <c:dLblPos val="outEnd"/>
              <c:showLegendKey val="0"/>
              <c:showVal val="1"/>
              <c:showCatName val="0"/>
              <c:showSerName val="0"/>
              <c:showPercent val="0"/>
              <c:showBubbleSize val="0"/>
            </c:dLbl>
            <c:dLbl>
              <c:idx val="1"/>
              <c:tx>
                <c:rich>
                  <a:bodyPr/>
                  <a:lstStyle/>
                  <a:p>
                    <a:r>
                      <a:rPr lang="en-US" sz="800"/>
                      <a:t>10%</a:t>
                    </a:r>
                  </a:p>
                </c:rich>
              </c:tx>
              <c:dLblPos val="outEnd"/>
              <c:showLegendKey val="0"/>
              <c:showVal val="1"/>
              <c:showCatName val="0"/>
              <c:showSerName val="0"/>
              <c:showPercent val="0"/>
              <c:showBubbleSize val="0"/>
            </c:dLbl>
            <c:dLbl>
              <c:idx val="2"/>
              <c:tx>
                <c:rich>
                  <a:bodyPr/>
                  <a:lstStyle/>
                  <a:p>
                    <a:r>
                      <a:rPr lang="en-US" sz="800"/>
                      <a:t>0.4%</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991</c:v>
                </c:pt>
                <c:pt idx="1">
                  <c:v>1177</c:v>
                </c:pt>
                <c:pt idx="2">
                  <c:v>1215</c:v>
                </c:pt>
              </c:numCache>
            </c:numRef>
          </c:val>
        </c:ser>
        <c:ser>
          <c:idx val="1"/>
          <c:order val="1"/>
          <c:tx>
            <c:strRef>
              <c:f>Sheet1!$C$1</c:f>
              <c:strCache>
                <c:ptCount val="1"/>
                <c:pt idx="0">
                  <c:v>Greedy-2D</c:v>
                </c:pt>
              </c:strCache>
            </c:strRef>
          </c:tx>
          <c:spPr>
            <a:solidFill>
              <a:srgbClr val="EB6834"/>
            </a:solidFill>
            <a:effectLst/>
          </c:spPr>
          <c:invertIfNegative val="0"/>
          <c:dLbls>
            <c:dLbl>
              <c:idx val="0"/>
              <c:tx>
                <c:rich>
                  <a:bodyPr/>
                  <a:lstStyle/>
                  <a:p>
                    <a:r>
                      <a:rPr lang="en-US" sz="800"/>
                      <a:t>0%</a:t>
                    </a:r>
                  </a:p>
                </c:rich>
              </c:tx>
              <c:dLblPos val="outEnd"/>
              <c:showLegendKey val="0"/>
              <c:showVal val="1"/>
              <c:showCatName val="0"/>
              <c:showSerName val="0"/>
              <c:showPercent val="0"/>
              <c:showBubbleSize val="0"/>
            </c:dLbl>
            <c:dLbl>
              <c:idx val="1"/>
              <c:tx>
                <c:rich>
                  <a:bodyPr/>
                  <a:lstStyle/>
                  <a:p>
                    <a:r>
                      <a:rPr lang="en-US" sz="800"/>
                      <a:t>0%</a:t>
                    </a:r>
                  </a:p>
                </c:rich>
              </c:tx>
              <c:dLblPos val="outEnd"/>
              <c:showLegendKey val="0"/>
              <c:showVal val="1"/>
              <c:showCatName val="0"/>
              <c:showSerName val="0"/>
              <c:showPercent val="0"/>
              <c:showBubbleSize val="0"/>
            </c:dLbl>
            <c:dLbl>
              <c:idx val="2"/>
              <c:tx>
                <c:rich>
                  <a:bodyPr/>
                  <a:lstStyle/>
                  <a:p>
                    <a:r>
                      <a:rPr lang="en-US" sz="800"/>
                      <a:t>0%</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1124</c:v>
                </c:pt>
                <c:pt idx="1">
                  <c:v>1119</c:v>
                </c:pt>
                <c:pt idx="2">
                  <c:v>1137</c:v>
                </c:pt>
              </c:numCache>
            </c:numRef>
          </c:val>
        </c:ser>
        <c:ser>
          <c:idx val="2"/>
          <c:order val="2"/>
          <c:tx>
            <c:strRef>
              <c:f>Sheet1!$D$1</c:f>
              <c:strCache>
                <c:ptCount val="1"/>
                <c:pt idx="0">
                  <c:v>Symphony</c:v>
                </c:pt>
              </c:strCache>
            </c:strRef>
          </c:tx>
          <c:spPr>
            <a:solidFill>
              <a:srgbClr val="1BAF7A"/>
            </a:solidFill>
            <a:effectLst/>
          </c:spPr>
          <c:invertIfNegative val="0"/>
          <c:dLbls>
            <c:dLbl>
              <c:idx val="0"/>
              <c:tx>
                <c:rich>
                  <a:bodyPr/>
                  <a:lstStyle/>
                  <a:p>
                    <a:r>
                      <a:rPr lang="en-US" sz="800"/>
                      <a:t>37%</a:t>
                    </a:r>
                  </a:p>
                </c:rich>
              </c:tx>
              <c:dLblPos val="outEnd"/>
              <c:showLegendKey val="0"/>
              <c:showVal val="1"/>
              <c:showCatName val="0"/>
              <c:showSerName val="0"/>
              <c:showPercent val="0"/>
              <c:showBubbleSize val="0"/>
            </c:dLbl>
            <c:dLbl>
              <c:idx val="1"/>
              <c:tx>
                <c:rich>
                  <a:bodyPr/>
                  <a:lstStyle/>
                  <a:p>
                    <a:r>
                      <a:rPr lang="en-US" sz="800"/>
                      <a:t>20%</a:t>
                    </a:r>
                  </a:p>
                </c:rich>
              </c:tx>
              <c:dLblPos val="outEnd"/>
              <c:showLegendKey val="0"/>
              <c:showVal val="1"/>
              <c:showCatName val="0"/>
              <c:showSerName val="0"/>
              <c:showPercent val="0"/>
              <c:showBubbleSize val="0"/>
            </c:dLbl>
            <c:dLbl>
              <c:idx val="2"/>
              <c:tx>
                <c:rich>
                  <a:bodyPr/>
                  <a:lstStyle/>
                  <a:p>
                    <a:r>
                      <a:rPr lang="en-US" sz="800"/>
                      <a:t>5%</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925</c:v>
                </c:pt>
                <c:pt idx="1">
                  <c:v>1076</c:v>
                </c:pt>
                <c:pt idx="2">
                  <c:v>1110</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400"/>
          <c:min val="0"/>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35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Calibri"/>
              </a:defRPr>
            </a:pPr>
            <a:r>
              <a:rPr sz="1100" b="0" i="0" u="none" strike="noStrike">
                <a:solidFill>
                  <a:srgbClr val="000000"/>
                </a:solidFill>
                <a:latin typeface="Calibri"/>
              </a:rPr>
              <a:t>Light mix (n70): capacity 36.8 req/s, load 65%</a:t>
            </a:r>
          </a:p>
        </c:rich>
      </c:tx>
      <c:layout/>
      <c:overlay val="0"/>
    </c:title>
    <c:autoTitleDeleted val="0"/>
    <c:plotArea>
      <c:layout/>
      <c:barChart>
        <c:barDir val="col"/>
        <c:grouping val="clustered"/>
        <c:varyColors val="0"/>
        <c:ser>
          <c:idx val="0"/>
          <c:order val="0"/>
          <c:tx>
            <c:strRef>
              <c:f>Sheet1!$B$1</c:f>
              <c:strCache>
                <c:ptCount val="1"/>
                <c:pt idx="0">
                  <c:v>Clockwork</c:v>
                </c:pt>
              </c:strCache>
            </c:strRef>
          </c:tx>
          <c:spPr>
            <a:solidFill>
              <a:srgbClr val="2A78D6"/>
            </a:solidFill>
            <a:effectLst/>
          </c:spPr>
          <c:invertIfNegative val="0"/>
          <c:dLbls>
            <c:dLbl>
              <c:idx val="0"/>
              <c:tx>
                <c:rich>
                  <a:bodyPr/>
                  <a:lstStyle/>
                  <a:p>
                    <a:r>
                      <a:rPr lang="en-US" sz="800"/>
                      <a:t>13%</a:t>
                    </a:r>
                  </a:p>
                </c:rich>
              </c:tx>
              <c:dLblPos val="outEnd"/>
              <c:showLegendKey val="0"/>
              <c:showVal val="1"/>
              <c:showCatName val="0"/>
              <c:showSerName val="0"/>
              <c:showPercent val="0"/>
              <c:showBubbleSize val="0"/>
            </c:dLbl>
            <c:dLbl>
              <c:idx val="1"/>
              <c:tx>
                <c:rich>
                  <a:bodyPr/>
                  <a:lstStyle/>
                  <a:p>
                    <a:r>
                      <a:rPr lang="en-US" sz="800"/>
                      <a:t>0.5%</a:t>
                    </a:r>
                  </a:p>
                </c:rich>
              </c:tx>
              <c:dLblPos val="outEnd"/>
              <c:showLegendKey val="0"/>
              <c:showVal val="1"/>
              <c:showCatName val="0"/>
              <c:showSerName val="0"/>
              <c:showPercent val="0"/>
              <c:showBubbleSize val="0"/>
            </c:dLbl>
            <c:dLbl>
              <c:idx val="2"/>
              <c:tx>
                <c:rich>
                  <a:bodyPr/>
                  <a:lstStyle/>
                  <a:p>
                    <a:r>
                      <a:rPr lang="en-US" sz="800"/>
                      <a:t>0%</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Sheet1!$B$2:$B$4</c:f>
              <c:numCache>
                <c:formatCode>General</c:formatCode>
                <c:ptCount val="3"/>
                <c:pt idx="0">
                  <c:v>906</c:v>
                </c:pt>
                <c:pt idx="1">
                  <c:v>1016</c:v>
                </c:pt>
                <c:pt idx="2">
                  <c:v>1025</c:v>
                </c:pt>
              </c:numCache>
            </c:numRef>
          </c:val>
        </c:ser>
        <c:ser>
          <c:idx val="1"/>
          <c:order val="1"/>
          <c:tx>
            <c:strRef>
              <c:f>Sheet1!$C$1</c:f>
              <c:strCache>
                <c:ptCount val="1"/>
                <c:pt idx="0">
                  <c:v>Greedy-2D</c:v>
                </c:pt>
              </c:strCache>
            </c:strRef>
          </c:tx>
          <c:spPr>
            <a:solidFill>
              <a:srgbClr val="EB6834"/>
            </a:solidFill>
            <a:effectLst/>
          </c:spPr>
          <c:invertIfNegative val="0"/>
          <c:dLbls>
            <c:dLbl>
              <c:idx val="0"/>
              <c:tx>
                <c:rich>
                  <a:bodyPr/>
                  <a:lstStyle/>
                  <a:p>
                    <a:r>
                      <a:rPr lang="en-US" sz="800"/>
                      <a:t>0%</a:t>
                    </a:r>
                  </a:p>
                </c:rich>
              </c:tx>
              <c:dLblPos val="outEnd"/>
              <c:showLegendKey val="0"/>
              <c:showVal val="1"/>
              <c:showCatName val="0"/>
              <c:showSerName val="0"/>
              <c:showPercent val="0"/>
              <c:showBubbleSize val="0"/>
            </c:dLbl>
            <c:dLbl>
              <c:idx val="1"/>
              <c:tx>
                <c:rich>
                  <a:bodyPr/>
                  <a:lstStyle/>
                  <a:p>
                    <a:r>
                      <a:rPr lang="en-US" sz="800"/>
                      <a:t>0%</a:t>
                    </a:r>
                  </a:p>
                </c:rich>
              </c:tx>
              <c:dLblPos val="outEnd"/>
              <c:showLegendKey val="0"/>
              <c:showVal val="1"/>
              <c:showCatName val="0"/>
              <c:showSerName val="0"/>
              <c:showPercent val="0"/>
              <c:showBubbleSize val="0"/>
            </c:dLbl>
            <c:dLbl>
              <c:idx val="2"/>
              <c:tx>
                <c:rich>
                  <a:bodyPr/>
                  <a:lstStyle/>
                  <a:p>
                    <a:r>
                      <a:rPr lang="en-US" sz="800"/>
                      <a:t>0%</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Sheet1!$C$2:$C$4</c:f>
              <c:numCache>
                <c:formatCode>General</c:formatCode>
                <c:ptCount val="3"/>
                <c:pt idx="0">
                  <c:v>1047</c:v>
                </c:pt>
                <c:pt idx="1">
                  <c:v>1026</c:v>
                </c:pt>
                <c:pt idx="2">
                  <c:v>1023</c:v>
                </c:pt>
              </c:numCache>
            </c:numRef>
          </c:val>
        </c:ser>
        <c:ser>
          <c:idx val="2"/>
          <c:order val="2"/>
          <c:tx>
            <c:strRef>
              <c:f>Sheet1!$D$1</c:f>
              <c:strCache>
                <c:ptCount val="1"/>
                <c:pt idx="0">
                  <c:v>Symphony</c:v>
                </c:pt>
              </c:strCache>
            </c:strRef>
          </c:tx>
          <c:spPr>
            <a:solidFill>
              <a:srgbClr val="1BAF7A"/>
            </a:solidFill>
            <a:effectLst/>
          </c:spPr>
          <c:invertIfNegative val="0"/>
          <c:dLbls>
            <c:dLbl>
              <c:idx val="0"/>
              <c:tx>
                <c:rich>
                  <a:bodyPr/>
                  <a:lstStyle/>
                  <a:p>
                    <a:r>
                      <a:rPr lang="en-US" sz="800"/>
                      <a:t>23%</a:t>
                    </a:r>
                  </a:p>
                </c:rich>
              </c:tx>
              <c:dLblPos val="outEnd"/>
              <c:showLegendKey val="0"/>
              <c:showVal val="1"/>
              <c:showCatName val="0"/>
              <c:showSerName val="0"/>
              <c:showPercent val="0"/>
              <c:showBubbleSize val="0"/>
            </c:dLbl>
            <c:dLbl>
              <c:idx val="1"/>
              <c:tx>
                <c:rich>
                  <a:bodyPr/>
                  <a:lstStyle/>
                  <a:p>
                    <a:r>
                      <a:rPr lang="en-US" sz="800"/>
                      <a:t>8%</a:t>
                    </a:r>
                  </a:p>
                </c:rich>
              </c:tx>
              <c:dLblPos val="outEnd"/>
              <c:showLegendKey val="0"/>
              <c:showVal val="1"/>
              <c:showCatName val="0"/>
              <c:showSerName val="0"/>
              <c:showPercent val="0"/>
              <c:showBubbleSize val="0"/>
            </c:dLbl>
            <c:dLbl>
              <c:idx val="2"/>
              <c:tx>
                <c:rich>
                  <a:bodyPr/>
                  <a:lstStyle/>
                  <a:p>
                    <a:r>
                      <a:rPr lang="en-US" sz="800"/>
                      <a:t>1%</a:t>
                    </a:r>
                  </a:p>
                </c:rich>
              </c:tx>
              <c:dLblPos val="outEnd"/>
              <c:showLegendKey val="0"/>
              <c:showVal val="1"/>
              <c:showCatName val="0"/>
              <c:showSerName val="0"/>
              <c:showPercent val="0"/>
              <c:showBubbleSize val="0"/>
            </c:dLbl>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150 ms</c:v>
                  </c:pt>
                  <c:pt idx="1">
                    <c:v>600 ms</c:v>
                  </c:pt>
                  <c:pt idx="2">
                    <c:v>2400 ms</c:v>
                  </c:pt>
                </c:lvl>
              </c:multiLvlStrCache>
            </c:multiLvlStrRef>
          </c:cat>
          <c:val>
            <c:numRef>
              <c:f>Sheet1!$D$2:$D$4</c:f>
              <c:numCache>
                <c:formatCode>General</c:formatCode>
                <c:ptCount val="3"/>
                <c:pt idx="0">
                  <c:v>843</c:v>
                </c:pt>
                <c:pt idx="1">
                  <c:v>915</c:v>
                </c:pt>
                <c:pt idx="2">
                  <c:v>911</c:v>
                </c:pt>
              </c:numCache>
            </c:numRef>
          </c:val>
        </c:ser>
        <c:dLbls>
          <c:numFmt formatCode="0" sourceLinked="0"/>
          <c:txPr>
            <a:bodyPr/>
            <a:lstStyle/>
            <a:p>
              <a:pPr>
                <a:defRPr b="0" i="0" strike="noStrike" sz="75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400"/>
          <c:min val="0"/>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majorUnit val="350"/>
      </c:valAx>
      <c:spPr>
        <a:noFill/>
        <a:ln>
          <a:noFill/>
        </a:ln>
        <a:effectLst/>
      </c:spPr>
    </c:plotArea>
    <c:legend>
      <c:legendPos val="t"/>
      <c:overlay val="0"/>
      <c:txPr>
        <a:bodyPr/>
        <a:lstStyle/>
        <a:p>
          <a:pPr>
            <a:defRPr sz="90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00000"/>
                </a:solidFill>
                <a:latin typeface="Calibri"/>
              </a:defRPr>
            </a:pPr>
            <a:r>
              <a:rPr sz="1150" b="0" i="0" u="none" strike="noStrike">
                <a:solidFill>
                  <a:srgbClr val="000000"/>
                </a:solidFill>
                <a:latin typeface="Calibri"/>
              </a:rPr>
              <a:t>Low load: 8 req/s (29% of capacity)</a:t>
            </a:r>
          </a:p>
        </c:rich>
      </c:tx>
      <c:layout/>
      <c:overlay val="0"/>
    </c:title>
    <c:autoTitleDeleted val="0"/>
    <c:plotArea>
      <c:layout/>
      <c:scatterChart>
        <c:scatterStyle val="lineMarker"/>
        <c:varyColors val="0"/>
        <c:ser>
          <c:idx val="0"/>
          <c:order val="0"/>
          <c:tx>
            <c:strRef>
              <c:f>Sheet1!$B$1</c:f>
              <c:strCache>
                <c:ptCount val="1"/>
                <c:pt idx="0">
                  <c:v>Clockwork</c:v>
                </c:pt>
              </c:strCache>
            </c:strRef>
          </c:tx>
          <c:spPr>
            <a:solidFill>
              <a:srgbClr val="2A78D6"/>
            </a:solidFill>
            <a:ln>
              <a:noFill/>
            </a:ln>
            <a:effectLst/>
          </c:spPr>
          <c:marker>
            <c:symbol val="circle"/>
            <c:size val="11"/>
            <c:spPr>
              <a:solidFill>
                <a:srgbClr val="2A78D6"/>
              </a:solidFill>
              <a:ln w="9525" cap="flat">
                <a:solidFill>
                  <a:srgbClr val="2A78D6"/>
                </a:solidFill>
                <a:prstDash val="solid"/>
                <a:round/>
              </a:ln>
              <a:effectLst/>
            </c:spPr>
          </c:marker>
          <c:dLbls>
            <c:dLbl>
              <c:idx val="0"/>
              <c:tx>
                <c:rich>
                  <a:bodyPr>
                    <a:spAutoFit/>
                  </a:bodyPr>
                  <a:lstStyle/>
                  <a:p>
                    <a:pPr>
                      <a:defRPr/>
                    </a:pPr>
                    <a:r>
                      <a:rPr lang="en-US" dirty="0"/>
                      <a:t>150 ms</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1003-ae3a-ba64-139d23c88201}"/>
                </c:ext>
              </c:extLst>
            </c:dLbl>
            <c:dLbl>
              <c:idx val="1"/>
              <c:tx>
                <c:rich>
                  <a:bodyPr>
                    <a:spAutoFit/>
                  </a:bodyPr>
                  <a:lstStyle/>
                  <a:p>
                    <a:pPr>
                      <a:defRPr/>
                    </a:pPr>
                    <a:r>
                      <a:rPr lang="en-US" dirty="0"/>
                      <a:t>600 ms</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1003-ae3a-ba64-139d23c88201}"/>
                </c:ext>
              </c:extLst>
            </c:dLbl>
            <c:dLbl>
              <c:idx val="2"/>
              <c:tx>
                <c:rich>
                  <a:bodyPr>
                    <a:spAutoFit/>
                  </a:bodyPr>
                  <a:lstStyle/>
                  <a:p>
                    <a:pPr>
                      <a:defRPr/>
                    </a:pPr>
                    <a:r>
                      <a:rPr lang="en-US" dirty="0"/>
                      <a:t>2400 ms</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1003-ae3a-ba64-139d23c88201}"/>
                </c:ext>
              </c:extLst>
            </c:dLbl>
            <c:dLbl>
              <c:idx val="3"/>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1003-ae3a-ba64-139d23c88201}"/>
                </c:ext>
              </c:extLst>
            </c:dLbl>
            <c:dLbl>
              <c:idx val="4"/>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1003-ae3a-ba64-139d23c88201}"/>
                </c:ext>
              </c:extLst>
            </c:dLbl>
            <c:dLbl>
              <c:idx val="5"/>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1003-ae3a-ba64-139d23c88201}"/>
                </c:ext>
              </c:extLst>
            </c:dLbl>
            <c:dLbl>
              <c:idx val="6"/>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7-1003-ae3a-ba64-139d23c88201}"/>
                </c:ext>
              </c:extLst>
            </c:dLbl>
            <c:dLbl>
              <c:idx val="7"/>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8-1003-ae3a-ba64-139d23c88201}"/>
                </c:ext>
              </c:extLst>
            </c:dLbl>
            <c:dLbl>
              <c:idx val="8"/>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9-1003-ae3a-ba64-139d23c88201}"/>
                </c:ext>
              </c:extLst>
            </c:dLbl>
          </c:dLbls>
          <c:xVal>
            <c:numRef>
              <c:f>Sheet1!$A$2:$A$10</c:f>
              <c:numCache>
                <c:formatCode>General</c:formatCode>
                <c:ptCount val="9"/>
                <c:pt idx="0">
                  <c:v>632</c:v>
                </c:pt>
                <c:pt idx="1">
                  <c:v>668</c:v>
                </c:pt>
                <c:pt idx="2">
                  <c:v>666</c:v>
                </c:pt>
                <c:pt idx="3">
                  <c:v>671</c:v>
                </c:pt>
                <c:pt idx="4">
                  <c:v>667</c:v>
                </c:pt>
                <c:pt idx="5">
                  <c:v>667</c:v>
                </c:pt>
                <c:pt idx="6">
                  <c:v>611</c:v>
                </c:pt>
                <c:pt idx="7">
                  <c:v>629</c:v>
                </c:pt>
                <c:pt idx="8">
                  <c:v>591</c:v>
                </c:pt>
              </c:numCache>
            </c:numRef>
          </c:xVal>
          <c:yVal>
            <c:numRef>
              <c:f>Sheet1!$B$2:$B$10</c:f>
              <c:numCache>
                <c:formatCode>General</c:formatCode>
                <c:ptCount val="9"/>
                <c:pt idx="0">
                  <c:v>93.5</c:v>
                </c:pt>
                <c:pt idx="1">
                  <c:v>100</c:v>
                </c:pt>
                <c:pt idx="2">
                  <c:v>100</c:v>
                </c:pt>
                <c:pt idx="3">
                  <c:v/>
                </c:pt>
                <c:pt idx="4">
                  <c:v/>
                </c:pt>
                <c:pt idx="5">
                  <c:v/>
                </c:pt>
                <c:pt idx="6">
                  <c:v/>
                </c:pt>
                <c:pt idx="7">
                  <c:v/>
                </c:pt>
                <c:pt idx="8">
                  <c:v/>
                </c:pt>
              </c:numCache>
            </c:numRef>
          </c:yVal>
          <c:smooth val="0"/>
        </c:ser>
        <c:ser>
          <c:idx val="1"/>
          <c:order val="1"/>
          <c:tx>
            <c:strRef>
              <c:f>Sheet1!$C$1</c:f>
              <c:strCache>
                <c:ptCount val="1"/>
                <c:pt idx="0">
                  <c:v>Greedy-2D</c:v>
                </c:pt>
              </c:strCache>
            </c:strRef>
          </c:tx>
          <c:spPr>
            <a:solidFill>
              <a:srgbClr val="EB6834"/>
            </a:solidFill>
            <a:ln>
              <a:noFill/>
            </a:ln>
            <a:effectLst/>
          </c:spPr>
          <c:marker>
            <c:symbol val="circle"/>
            <c:size val="11"/>
            <c:spPr>
              <a:solidFill>
                <a:srgbClr val="EB6834"/>
              </a:solidFill>
              <a:ln w="9525" cap="flat">
                <a:solidFill>
                  <a:srgbClr val="EB6834"/>
                </a:solidFill>
                <a:prstDash val="solid"/>
                <a:round/>
              </a:ln>
              <a:effectLst/>
            </c:spPr>
          </c:marker>
          <c:dLbls>
            <c:dLbl>
              <c:idx val="0"/>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4ade-945a-c6fd-5a4ac1b071b7}"/>
                </c:ext>
              </c:extLst>
            </c:dLbl>
            <c:dLbl>
              <c:idx val="1"/>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4ade-945a-c6fd-5a4ac1b071b7}"/>
                </c:ext>
              </c:extLst>
            </c:dLbl>
            <c:dLbl>
              <c:idx val="2"/>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4ade-945a-c6fd-5a4ac1b071b7}"/>
                </c:ext>
              </c:extLst>
            </c:dLbl>
            <c:dLbl>
              <c:idx val="3"/>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4ade-945a-c6fd-5a4ac1b071b7}"/>
                </c:ext>
              </c:extLst>
            </c:dLbl>
            <c:dLbl>
              <c:idx val="4"/>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4ade-945a-c6fd-5a4ac1b071b7}"/>
                </c:ext>
              </c:extLst>
            </c:dLbl>
            <c:dLbl>
              <c:idx val="5"/>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4ade-945a-c6fd-5a4ac1b071b7}"/>
                </c:ext>
              </c:extLst>
            </c:dLbl>
            <c:dLbl>
              <c:idx val="6"/>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7-4ade-945a-c6fd-5a4ac1b071b7}"/>
                </c:ext>
              </c:extLst>
            </c:dLbl>
            <c:dLbl>
              <c:idx val="7"/>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8-4ade-945a-c6fd-5a4ac1b071b7}"/>
                </c:ext>
              </c:extLst>
            </c:dLbl>
            <c:dLbl>
              <c:idx val="8"/>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9-4ade-945a-c6fd-5a4ac1b071b7}"/>
                </c:ext>
              </c:extLst>
            </c:dLbl>
          </c:dLbls>
          <c:xVal>
            <c:numRef>
              <c:f>Sheet1!$A$2:$A$10</c:f>
              <c:numCache>
                <c:formatCode>General</c:formatCode>
                <c:ptCount val="9"/>
                <c:pt idx="0">
                  <c:v>632</c:v>
                </c:pt>
                <c:pt idx="1">
                  <c:v>668</c:v>
                </c:pt>
                <c:pt idx="2">
                  <c:v>666</c:v>
                </c:pt>
                <c:pt idx="3">
                  <c:v>671</c:v>
                </c:pt>
                <c:pt idx="4">
                  <c:v>667</c:v>
                </c:pt>
                <c:pt idx="5">
                  <c:v>667</c:v>
                </c:pt>
                <c:pt idx="6">
                  <c:v>611</c:v>
                </c:pt>
                <c:pt idx="7">
                  <c:v>629</c:v>
                </c:pt>
                <c:pt idx="8">
                  <c:v>591</c:v>
                </c:pt>
              </c:numCache>
            </c:numRef>
          </c:xVal>
          <c:yVal>
            <c:numRef>
              <c:f>Sheet1!$C$2:$C$10</c:f>
              <c:numCache>
                <c:formatCode>General</c:formatCode>
                <c:ptCount val="9"/>
                <c:pt idx="0">
                  <c:v/>
                </c:pt>
                <c:pt idx="1">
                  <c:v/>
                </c:pt>
                <c:pt idx="2">
                  <c:v/>
                </c:pt>
                <c:pt idx="3">
                  <c:v>91.5</c:v>
                </c:pt>
                <c:pt idx="4">
                  <c:v>100</c:v>
                </c:pt>
                <c:pt idx="5">
                  <c:v>100</c:v>
                </c:pt>
                <c:pt idx="6">
                  <c:v/>
                </c:pt>
                <c:pt idx="7">
                  <c:v/>
                </c:pt>
                <c:pt idx="8">
                  <c:v/>
                </c:pt>
              </c:numCache>
            </c:numRef>
          </c:yVal>
          <c:smooth val="0"/>
        </c:ser>
        <c:ser>
          <c:idx val="2"/>
          <c:order val="2"/>
          <c:tx>
            <c:strRef>
              <c:f>Sheet1!$D$1</c:f>
              <c:strCache>
                <c:ptCount val="1"/>
                <c:pt idx="0">
                  <c:v>Symphony</c:v>
                </c:pt>
              </c:strCache>
            </c:strRef>
          </c:tx>
          <c:spPr>
            <a:solidFill>
              <a:srgbClr val="1BAF7A"/>
            </a:solidFill>
            <a:ln>
              <a:noFill/>
            </a:ln>
            <a:effectLst/>
          </c:spPr>
          <c:marker>
            <c:symbol val="circle"/>
            <c:size val="11"/>
            <c:spPr>
              <a:solidFill>
                <a:srgbClr val="1BAF7A"/>
              </a:solidFill>
              <a:ln w="9525" cap="flat">
                <a:solidFill>
                  <a:srgbClr val="1BAF7A"/>
                </a:solidFill>
                <a:prstDash val="solid"/>
                <a:round/>
              </a:ln>
              <a:effectLst/>
            </c:spPr>
          </c:marker>
          <c:dLbls>
            <c:dLbl>
              <c:idx val="0"/>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f324-3b83-6e43-0db1b299d5cf}"/>
                </c:ext>
              </c:extLst>
            </c:dLbl>
            <c:dLbl>
              <c:idx val="1"/>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f324-3b83-6e43-0db1b299d5cf}"/>
                </c:ext>
              </c:extLst>
            </c:dLbl>
            <c:dLbl>
              <c:idx val="2"/>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f324-3b83-6e43-0db1b299d5cf}"/>
                </c:ext>
              </c:extLst>
            </c:dLbl>
            <c:dLbl>
              <c:idx val="3"/>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f324-3b83-6e43-0db1b299d5cf}"/>
                </c:ext>
              </c:extLst>
            </c:dLbl>
            <c:dLbl>
              <c:idx val="4"/>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f324-3b83-6e43-0db1b299d5cf}"/>
                </c:ext>
              </c:extLst>
            </c:dLbl>
            <c:dLbl>
              <c:idx val="5"/>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f324-3b83-6e43-0db1b299d5cf}"/>
                </c:ext>
              </c:extLst>
            </c:dLbl>
            <c:dLbl>
              <c:idx val="6"/>
              <c:tx>
                <c:rich>
                  <a:bodyPr>
                    <a:spAutoFit/>
                  </a:bodyPr>
                  <a:lstStyle/>
                  <a:p>
                    <a:pPr>
                      <a:defRPr/>
                    </a:pPr>
                    <a:r>
                      <a:rPr lang="en-US" dirty="0"/>
                      <a:t>150 ms</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7-f324-3b83-6e43-0db1b299d5cf}"/>
                </c:ext>
              </c:extLst>
            </c:dLbl>
            <c:dLbl>
              <c:idx val="7"/>
              <c:tx>
                <c:rich>
                  <a:bodyPr>
                    <a:spAutoFit/>
                  </a:bodyPr>
                  <a:lstStyle/>
                  <a:p>
                    <a:pPr>
                      <a:defRPr/>
                    </a:pPr>
                    <a:r>
                      <a:rPr lang="en-US" dirty="0"/>
                      <a:t>600 ms</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8-f324-3b83-6e43-0db1b299d5cf}"/>
                </c:ext>
              </c:extLst>
            </c:dLbl>
            <c:dLbl>
              <c:idx val="8"/>
              <c:tx>
                <c:rich>
                  <a:bodyPr>
                    <a:spAutoFit/>
                  </a:bodyPr>
                  <a:lstStyle/>
                  <a:p>
                    <a:pPr>
                      <a:defRPr/>
                    </a:pPr>
                    <a:r>
                      <a:rPr lang="en-US" dirty="0"/>
                      <a:t>2400 ms</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9-f324-3b83-6e43-0db1b299d5cf}"/>
                </c:ext>
              </c:extLst>
            </c:dLbl>
          </c:dLbls>
          <c:xVal>
            <c:numRef>
              <c:f>Sheet1!$A$2:$A$10</c:f>
              <c:numCache>
                <c:formatCode>General</c:formatCode>
                <c:ptCount val="9"/>
                <c:pt idx="0">
                  <c:v>632</c:v>
                </c:pt>
                <c:pt idx="1">
                  <c:v>668</c:v>
                </c:pt>
                <c:pt idx="2">
                  <c:v>666</c:v>
                </c:pt>
                <c:pt idx="3">
                  <c:v>671</c:v>
                </c:pt>
                <c:pt idx="4">
                  <c:v>667</c:v>
                </c:pt>
                <c:pt idx="5">
                  <c:v>667</c:v>
                </c:pt>
                <c:pt idx="6">
                  <c:v>611</c:v>
                </c:pt>
                <c:pt idx="7">
                  <c:v>629</c:v>
                </c:pt>
                <c:pt idx="8">
                  <c:v>591</c:v>
                </c:pt>
              </c:numCache>
            </c:numRef>
          </c:xVal>
          <c:yVal>
            <c:numRef>
              <c:f>Sheet1!$D$2:$D$10</c:f>
              <c:numCache>
                <c:formatCode>General</c:formatCode>
                <c:ptCount val="9"/>
                <c:pt idx="0">
                  <c:v/>
                </c:pt>
                <c:pt idx="1">
                  <c:v/>
                </c:pt>
                <c:pt idx="2">
                  <c:v/>
                </c:pt>
                <c:pt idx="3">
                  <c:v/>
                </c:pt>
                <c:pt idx="4">
                  <c:v/>
                </c:pt>
                <c:pt idx="5">
                  <c:v/>
                </c:pt>
                <c:pt idx="6">
                  <c:v>82.1</c:v>
                </c:pt>
                <c:pt idx="7">
                  <c:v>91.6</c:v>
                </c:pt>
                <c:pt idx="8">
                  <c:v>97.9</c:v>
                </c:pt>
              </c:numCache>
            </c:numRef>
          </c:yVal>
          <c:smooth val="0"/>
        </c:ser>
        <c:dLbls>
          <c:numFmt formatCode="General" sourceLinked="0"/>
          <c:txPr>
            <a:bodyPr/>
            <a:lstStyle/>
            <a:p>
              <a:pPr>
                <a:defRPr b="0" i="0" strike="noStrike" sz="900" u="none">
                  <a:solidFill>
                    <a:srgbClr val="000000"/>
                  </a:solidFill>
                  <a:latin typeface="Calibri"/>
                </a:defRPr>
              </a:pPr>
            </a:p>
          </c:txPr>
          <c:dLblPos val="r"/>
          <c:showLegendKey val="0"/>
          <c:showVal val="0"/>
          <c:showCatName val="0"/>
          <c:showSerName val="0"/>
          <c:showPercent val="0"/>
          <c:showBubbleSize val="0"/>
        </c:dLbls>
        <c:axId val="2094734554"/>
        <c:axId val="2094734552"/>
      </c:scatterChart>
      <c:valAx>
        <c:axId val="2094734554"/>
        <c:scaling>
          <c:orientation val="minMax"/>
          <c:max val="700"/>
          <c:min val="570"/>
        </c:scaling>
        <c:delete val="0"/>
        <c:axPos val="b"/>
        <c:title>
          <c:tx>
            <c:rich>
              <a:bodyPr/>
              <a:lstStyle/>
              <a:p>
                <a:pPr>
                  <a:defRPr sz="1100" b="0" i="0" u="none" strike="noStrike">
                    <a:solidFill>
                      <a:srgbClr val="595959"/>
                    </a:solidFill>
                    <a:latin typeface="Calibri"/>
                  </a:defRPr>
                </a:pPr>
                <a:r>
                  <a:rPr sz="1100" b="0" i="0" u="none" strike="noStrike">
                    <a:solidFill>
                      <a:srgbClr val="595959"/>
                    </a:solidFill>
                    <a:latin typeface="Calibri"/>
                  </a:rPr>
                  <a:t>total energy in the 120 s window (J)</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2"/>
        <c:crosses val="autoZero"/>
        <c:auto val="1"/>
        <c:lblAlgn val="ctr"/>
        <c:noMultiLvlLbl val="1"/>
      </c:valAx>
      <c:valAx>
        <c:axId val="2094734552"/>
        <c:scaling>
          <c:orientation val="minMax"/>
          <c:max val="100"/>
          <c:min val="75"/>
        </c:scaling>
        <c:delete val="0"/>
        <c:axPos val="l"/>
        <c:majorGridlines>
          <c:spPr>
            <a:ln w="6350" cap="flat">
              <a:solidFill>
                <a:srgbClr val="E1E0D9"/>
              </a:solidFill>
              <a:prstDash val="solid"/>
              <a:round/>
            </a:ln>
          </c:spPr>
        </c:majorGridlines>
        <c:title>
          <c:tx>
            <c:rich>
              <a:bodyPr/>
              <a:lstStyle/>
              <a:p>
                <a:pPr>
                  <a:defRPr sz="1100" b="0" i="0" u="none" strike="noStrike">
                    <a:solidFill>
                      <a:srgbClr val="595959"/>
                    </a:solidFill>
                    <a:latin typeface="Calibri"/>
                  </a:defRPr>
                </a:pPr>
                <a:r>
                  <a:rPr sz="1100" b="0" i="0" u="none" strike="noStrike">
                    <a:solidFill>
                      <a:srgbClr val="595959"/>
                    </a:solidFill>
                    <a:latin typeface="Calibri"/>
                  </a:rPr>
                  <a:t>goodput (%), higher is better</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midCat"/>
      </c:valAx>
      <c:spPr>
        <a:noFill/>
        <a:ln>
          <a:noFill/>
        </a:ln>
        <a:effectLst/>
      </c:spPr>
    </c:plotArea>
    <c:legend>
      <c:legendPos val="t"/>
      <c:overlay val="0"/>
      <c:txPr>
        <a:bodyPr/>
        <a:lstStyle/>
        <a:p>
          <a:pPr>
            <a:defRPr sz="1000">
              <a:solidFill>
                <a:srgbClr val="000000"/>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00000"/>
                </a:solidFill>
                <a:latin typeface="Calibri"/>
              </a:defRPr>
            </a:pPr>
            <a:r>
              <a:rPr sz="1150" b="0" i="0" u="none" strike="noStrike">
                <a:solidFill>
                  <a:srgbClr val="000000"/>
                </a:solidFill>
                <a:latin typeface="Calibri"/>
              </a:rPr>
              <a:t>Medium load: 16 req/s (58%)</a:t>
            </a:r>
          </a:p>
        </c:rich>
      </c:tx>
      <c:layout/>
      <c:overlay val="0"/>
    </c:title>
    <c:autoTitleDeleted val="0"/>
    <c:plotArea>
      <c:layout/>
      <c:scatterChart>
        <c:scatterStyle val="lineMarker"/>
        <c:varyColors val="0"/>
        <c:ser>
          <c:idx val="0"/>
          <c:order val="0"/>
          <c:tx>
            <c:strRef>
              <c:f>Sheet1!$B$1</c:f>
              <c:strCache>
                <c:ptCount val="1"/>
                <c:pt idx="0">
                  <c:v>Clockwork</c:v>
                </c:pt>
              </c:strCache>
            </c:strRef>
          </c:tx>
          <c:spPr>
            <a:solidFill>
              <a:srgbClr val="2A78D6"/>
            </a:solidFill>
            <a:ln>
              <a:noFill/>
            </a:ln>
            <a:effectLst/>
          </c:spPr>
          <c:marker>
            <c:symbol val="circle"/>
            <c:size val="11"/>
            <c:spPr>
              <a:solidFill>
                <a:srgbClr val="2A78D6"/>
              </a:solidFill>
              <a:ln w="9525" cap="flat">
                <a:solidFill>
                  <a:srgbClr val="2A78D6"/>
                </a:solidFill>
                <a:prstDash val="solid"/>
                <a:round/>
              </a:ln>
              <a:effectLst/>
            </c:spPr>
          </c:marker>
          <c:dLbls>
            <c:dLbl>
              <c:idx val="0"/>
              <c:tx>
                <c:rich>
                  <a:bodyPr>
                    <a:spAutoFit/>
                  </a:bodyPr>
                  <a:lstStyle/>
                  <a:p>
                    <a:pPr>
                      <a:defRPr/>
                    </a:pPr>
                    <a:r>
                      <a:rPr lang="en-US" dirty="0"/>
                      <a:t>150 ms</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f284-f614-d64a-97b14f499511}"/>
                </c:ext>
              </c:extLst>
            </c:dLbl>
            <c:dLbl>
              <c:idx val="1"/>
              <c:tx>
                <c:rich>
                  <a:bodyPr>
                    <a:spAutoFit/>
                  </a:bodyPr>
                  <a:lstStyle/>
                  <a:p>
                    <a:pPr>
                      <a:defRPr/>
                    </a:pPr>
                    <a:r>
                      <a:rPr lang="en-US" dirty="0"/>
                      <a:t>600 ms</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f284-f614-d64a-97b14f499511}"/>
                </c:ext>
              </c:extLst>
            </c:dLbl>
            <c:dLbl>
              <c:idx val="2"/>
              <c:tx>
                <c:rich>
                  <a:bodyPr>
                    <a:spAutoFit/>
                  </a:bodyPr>
                  <a:lstStyle/>
                  <a:p>
                    <a:pPr>
                      <a:defRPr/>
                    </a:pPr>
                    <a:r>
                      <a:rPr lang="en-US" dirty="0"/>
                      <a:t>2400 ms</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f284-f614-d64a-97b14f499511}"/>
                </c:ext>
              </c:extLst>
            </c:dLbl>
            <c:dLbl>
              <c:idx val="3"/>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f284-f614-d64a-97b14f499511}"/>
                </c:ext>
              </c:extLst>
            </c:dLbl>
            <c:dLbl>
              <c:idx val="4"/>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f284-f614-d64a-97b14f499511}"/>
                </c:ext>
              </c:extLst>
            </c:dLbl>
            <c:dLbl>
              <c:idx val="5"/>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f284-f614-d64a-97b14f499511}"/>
                </c:ext>
              </c:extLst>
            </c:dLbl>
            <c:dLbl>
              <c:idx val="6"/>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7-f284-f614-d64a-97b14f499511}"/>
                </c:ext>
              </c:extLst>
            </c:dLbl>
            <c:dLbl>
              <c:idx val="7"/>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8-f284-f614-d64a-97b14f499511}"/>
                </c:ext>
              </c:extLst>
            </c:dLbl>
            <c:dLbl>
              <c:idx val="8"/>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9-f284-f614-d64a-97b14f499511}"/>
                </c:ext>
              </c:extLst>
            </c:dLbl>
          </c:dLbls>
          <c:xVal>
            <c:numRef>
              <c:f>Sheet1!$A$2:$A$10</c:f>
              <c:numCache>
                <c:formatCode>General</c:formatCode>
                <c:ptCount val="9"/>
                <c:pt idx="0">
                  <c:v>852</c:v>
                </c:pt>
                <c:pt idx="1">
                  <c:v>982</c:v>
                </c:pt>
                <c:pt idx="2">
                  <c:v>985</c:v>
                </c:pt>
                <c:pt idx="3">
                  <c:v>1009</c:v>
                </c:pt>
                <c:pt idx="4">
                  <c:v>987</c:v>
                </c:pt>
                <c:pt idx="5">
                  <c:v>987</c:v>
                </c:pt>
                <c:pt idx="6">
                  <c:v>804</c:v>
                </c:pt>
                <c:pt idx="7">
                  <c:v>890</c:v>
                </c:pt>
                <c:pt idx="8">
                  <c:v>826</c:v>
                </c:pt>
              </c:numCache>
            </c:numRef>
          </c:xVal>
          <c:yVal>
            <c:numRef>
              <c:f>Sheet1!$B$2:$B$10</c:f>
              <c:numCache>
                <c:formatCode>General</c:formatCode>
                <c:ptCount val="9"/>
                <c:pt idx="0">
                  <c:v>84.5</c:v>
                </c:pt>
                <c:pt idx="1">
                  <c:v>99.3</c:v>
                </c:pt>
                <c:pt idx="2">
                  <c:v>100</c:v>
                </c:pt>
                <c:pt idx="3">
                  <c:v/>
                </c:pt>
                <c:pt idx="4">
                  <c:v/>
                </c:pt>
                <c:pt idx="5">
                  <c:v/>
                </c:pt>
                <c:pt idx="6">
                  <c:v/>
                </c:pt>
                <c:pt idx="7">
                  <c:v/>
                </c:pt>
                <c:pt idx="8">
                  <c:v/>
                </c:pt>
              </c:numCache>
            </c:numRef>
          </c:yVal>
          <c:smooth val="0"/>
        </c:ser>
        <c:ser>
          <c:idx val="1"/>
          <c:order val="1"/>
          <c:tx>
            <c:strRef>
              <c:f>Sheet1!$C$1</c:f>
              <c:strCache>
                <c:ptCount val="1"/>
                <c:pt idx="0">
                  <c:v>Greedy-2D</c:v>
                </c:pt>
              </c:strCache>
            </c:strRef>
          </c:tx>
          <c:spPr>
            <a:solidFill>
              <a:srgbClr val="EB6834"/>
            </a:solidFill>
            <a:ln>
              <a:noFill/>
            </a:ln>
            <a:effectLst/>
          </c:spPr>
          <c:marker>
            <c:symbol val="circle"/>
            <c:size val="11"/>
            <c:spPr>
              <a:solidFill>
                <a:srgbClr val="EB6834"/>
              </a:solidFill>
              <a:ln w="9525" cap="flat">
                <a:solidFill>
                  <a:srgbClr val="EB6834"/>
                </a:solidFill>
                <a:prstDash val="solid"/>
                <a:round/>
              </a:ln>
              <a:effectLst/>
            </c:spPr>
          </c:marker>
          <c:dLbls>
            <c:dLbl>
              <c:idx val="0"/>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11af-4e72-fda6-c7236a08bd5b}"/>
                </c:ext>
              </c:extLst>
            </c:dLbl>
            <c:dLbl>
              <c:idx val="1"/>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11af-4e72-fda6-c7236a08bd5b}"/>
                </c:ext>
              </c:extLst>
            </c:dLbl>
            <c:dLbl>
              <c:idx val="2"/>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11af-4e72-fda6-c7236a08bd5b}"/>
                </c:ext>
              </c:extLst>
            </c:dLbl>
            <c:dLbl>
              <c:idx val="3"/>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11af-4e72-fda6-c7236a08bd5b}"/>
                </c:ext>
              </c:extLst>
            </c:dLbl>
            <c:dLbl>
              <c:idx val="4"/>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11af-4e72-fda6-c7236a08bd5b}"/>
                </c:ext>
              </c:extLst>
            </c:dLbl>
            <c:dLbl>
              <c:idx val="5"/>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11af-4e72-fda6-c7236a08bd5b}"/>
                </c:ext>
              </c:extLst>
            </c:dLbl>
            <c:dLbl>
              <c:idx val="6"/>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7-11af-4e72-fda6-c7236a08bd5b}"/>
                </c:ext>
              </c:extLst>
            </c:dLbl>
            <c:dLbl>
              <c:idx val="7"/>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8-11af-4e72-fda6-c7236a08bd5b}"/>
                </c:ext>
              </c:extLst>
            </c:dLbl>
            <c:dLbl>
              <c:idx val="8"/>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9-11af-4e72-fda6-c7236a08bd5b}"/>
                </c:ext>
              </c:extLst>
            </c:dLbl>
          </c:dLbls>
          <c:xVal>
            <c:numRef>
              <c:f>Sheet1!$A$2:$A$10</c:f>
              <c:numCache>
                <c:formatCode>General</c:formatCode>
                <c:ptCount val="9"/>
                <c:pt idx="0">
                  <c:v>852</c:v>
                </c:pt>
                <c:pt idx="1">
                  <c:v>982</c:v>
                </c:pt>
                <c:pt idx="2">
                  <c:v>985</c:v>
                </c:pt>
                <c:pt idx="3">
                  <c:v>1009</c:v>
                </c:pt>
                <c:pt idx="4">
                  <c:v>987</c:v>
                </c:pt>
                <c:pt idx="5">
                  <c:v>987</c:v>
                </c:pt>
                <c:pt idx="6">
                  <c:v>804</c:v>
                </c:pt>
                <c:pt idx="7">
                  <c:v>890</c:v>
                </c:pt>
                <c:pt idx="8">
                  <c:v>826</c:v>
                </c:pt>
              </c:numCache>
            </c:numRef>
          </c:xVal>
          <c:yVal>
            <c:numRef>
              <c:f>Sheet1!$C$2:$C$10</c:f>
              <c:numCache>
                <c:formatCode>General</c:formatCode>
                <c:ptCount val="9"/>
                <c:pt idx="0">
                  <c:v/>
                </c:pt>
                <c:pt idx="1">
                  <c:v/>
                </c:pt>
                <c:pt idx="2">
                  <c:v/>
                </c:pt>
                <c:pt idx="3">
                  <c:v>62.8</c:v>
                </c:pt>
                <c:pt idx="4">
                  <c:v>98.9</c:v>
                </c:pt>
                <c:pt idx="5">
                  <c:v>100</c:v>
                </c:pt>
                <c:pt idx="6">
                  <c:v/>
                </c:pt>
                <c:pt idx="7">
                  <c:v/>
                </c:pt>
                <c:pt idx="8">
                  <c:v/>
                </c:pt>
              </c:numCache>
            </c:numRef>
          </c:yVal>
          <c:smooth val="0"/>
        </c:ser>
        <c:ser>
          <c:idx val="2"/>
          <c:order val="2"/>
          <c:tx>
            <c:strRef>
              <c:f>Sheet1!$D$1</c:f>
              <c:strCache>
                <c:ptCount val="1"/>
                <c:pt idx="0">
                  <c:v>Symphony</c:v>
                </c:pt>
              </c:strCache>
            </c:strRef>
          </c:tx>
          <c:spPr>
            <a:solidFill>
              <a:srgbClr val="1BAF7A"/>
            </a:solidFill>
            <a:ln>
              <a:noFill/>
            </a:ln>
            <a:effectLst/>
          </c:spPr>
          <c:marker>
            <c:symbol val="circle"/>
            <c:size val="11"/>
            <c:spPr>
              <a:solidFill>
                <a:srgbClr val="1BAF7A"/>
              </a:solidFill>
              <a:ln w="9525" cap="flat">
                <a:solidFill>
                  <a:srgbClr val="1BAF7A"/>
                </a:solidFill>
                <a:prstDash val="solid"/>
                <a:round/>
              </a:ln>
              <a:effectLst/>
            </c:spPr>
          </c:marker>
          <c:dLbls>
            <c:dLbl>
              <c:idx val="0"/>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f116-90cf-b131-b98aebc04d3d}"/>
                </c:ext>
              </c:extLst>
            </c:dLbl>
            <c:dLbl>
              <c:idx val="1"/>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f116-90cf-b131-b98aebc04d3d}"/>
                </c:ext>
              </c:extLst>
            </c:dLbl>
            <c:dLbl>
              <c:idx val="2"/>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f116-90cf-b131-b98aebc04d3d}"/>
                </c:ext>
              </c:extLst>
            </c:dLbl>
            <c:dLbl>
              <c:idx val="3"/>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f116-90cf-b131-b98aebc04d3d}"/>
                </c:ext>
              </c:extLst>
            </c:dLbl>
            <c:dLbl>
              <c:idx val="4"/>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f116-90cf-b131-b98aebc04d3d}"/>
                </c:ext>
              </c:extLst>
            </c:dLbl>
            <c:dLbl>
              <c:idx val="5"/>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f116-90cf-b131-b98aebc04d3d}"/>
                </c:ext>
              </c:extLst>
            </c:dLbl>
            <c:dLbl>
              <c:idx val="6"/>
              <c:tx>
                <c:rich>
                  <a:bodyPr>
                    <a:spAutoFit/>
                  </a:bodyPr>
                  <a:lstStyle/>
                  <a:p>
                    <a:pPr>
                      <a:defRPr/>
                    </a:pPr>
                    <a:r>
                      <a:rPr lang="en-US" dirty="0"/>
                      <a:t>150 ms</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7-f116-90cf-b131-b98aebc04d3d}"/>
                </c:ext>
              </c:extLst>
            </c:dLbl>
            <c:dLbl>
              <c:idx val="7"/>
              <c:tx>
                <c:rich>
                  <a:bodyPr>
                    <a:spAutoFit/>
                  </a:bodyPr>
                  <a:lstStyle/>
                  <a:p>
                    <a:pPr>
                      <a:defRPr/>
                    </a:pPr>
                    <a:r>
                      <a:rPr lang="en-US" dirty="0"/>
                      <a:t>600 ms</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8-f116-90cf-b131-b98aebc04d3d}"/>
                </c:ext>
              </c:extLst>
            </c:dLbl>
            <c:dLbl>
              <c:idx val="8"/>
              <c:tx>
                <c:rich>
                  <a:bodyPr>
                    <a:spAutoFit/>
                  </a:bodyPr>
                  <a:lstStyle/>
                  <a:p>
                    <a:pPr>
                      <a:defRPr/>
                    </a:pPr>
                    <a:r>
                      <a:rPr lang="en-US" dirty="0"/>
                      <a:t>2400 ms</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9-f116-90cf-b131-b98aebc04d3d}"/>
                </c:ext>
              </c:extLst>
            </c:dLbl>
          </c:dLbls>
          <c:xVal>
            <c:numRef>
              <c:f>Sheet1!$A$2:$A$10</c:f>
              <c:numCache>
                <c:formatCode>General</c:formatCode>
                <c:ptCount val="9"/>
                <c:pt idx="0">
                  <c:v>852</c:v>
                </c:pt>
                <c:pt idx="1">
                  <c:v>982</c:v>
                </c:pt>
                <c:pt idx="2">
                  <c:v>985</c:v>
                </c:pt>
                <c:pt idx="3">
                  <c:v>1009</c:v>
                </c:pt>
                <c:pt idx="4">
                  <c:v>987</c:v>
                </c:pt>
                <c:pt idx="5">
                  <c:v>987</c:v>
                </c:pt>
                <c:pt idx="6">
                  <c:v>804</c:v>
                </c:pt>
                <c:pt idx="7">
                  <c:v>890</c:v>
                </c:pt>
                <c:pt idx="8">
                  <c:v>826</c:v>
                </c:pt>
              </c:numCache>
            </c:numRef>
          </c:xVal>
          <c:yVal>
            <c:numRef>
              <c:f>Sheet1!$D$2:$D$10</c:f>
              <c:numCache>
                <c:formatCode>General</c:formatCode>
                <c:ptCount val="9"/>
                <c:pt idx="0">
                  <c:v/>
                </c:pt>
                <c:pt idx="1">
                  <c:v/>
                </c:pt>
                <c:pt idx="2">
                  <c:v/>
                </c:pt>
                <c:pt idx="3">
                  <c:v/>
                </c:pt>
                <c:pt idx="4">
                  <c:v/>
                </c:pt>
                <c:pt idx="5">
                  <c:v/>
                </c:pt>
                <c:pt idx="6">
                  <c:v>70.9</c:v>
                </c:pt>
                <c:pt idx="7">
                  <c:v>87.9</c:v>
                </c:pt>
                <c:pt idx="8">
                  <c:v>97.2</c:v>
                </c:pt>
              </c:numCache>
            </c:numRef>
          </c:yVal>
          <c:smooth val="0"/>
        </c:ser>
        <c:dLbls>
          <c:numFmt formatCode="General" sourceLinked="0"/>
          <c:txPr>
            <a:bodyPr/>
            <a:lstStyle/>
            <a:p>
              <a:pPr>
                <a:defRPr b="0" i="0" strike="noStrike" sz="900" u="none">
                  <a:solidFill>
                    <a:srgbClr val="000000"/>
                  </a:solidFill>
                  <a:latin typeface="Calibri"/>
                </a:defRPr>
              </a:pPr>
            </a:p>
          </c:txPr>
          <c:dLblPos val="r"/>
          <c:showLegendKey val="0"/>
          <c:showVal val="0"/>
          <c:showCatName val="0"/>
          <c:showSerName val="0"/>
          <c:showPercent val="0"/>
          <c:showBubbleSize val="0"/>
        </c:dLbls>
        <c:axId val="2094734554"/>
        <c:axId val="2094734552"/>
      </c:scatterChart>
      <c:valAx>
        <c:axId val="2094734554"/>
        <c:scaling>
          <c:orientation val="minMax"/>
          <c:max val="1040"/>
          <c:min val="780"/>
        </c:scaling>
        <c:delete val="0"/>
        <c:axPos val="b"/>
        <c:title>
          <c:tx>
            <c:rich>
              <a:bodyPr/>
              <a:lstStyle/>
              <a:p>
                <a:pPr>
                  <a:defRPr sz="1100" b="0" i="0" u="none" strike="noStrike">
                    <a:solidFill>
                      <a:srgbClr val="595959"/>
                    </a:solidFill>
                    <a:latin typeface="Calibri"/>
                  </a:defRPr>
                </a:pPr>
                <a:r>
                  <a:rPr sz="1100" b="0" i="0" u="none" strike="noStrike">
                    <a:solidFill>
                      <a:srgbClr val="595959"/>
                    </a:solidFill>
                    <a:latin typeface="Calibri"/>
                  </a:rPr>
                  <a:t>total energy in the 120 s window (J)</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2"/>
        <c:crosses val="autoZero"/>
        <c:auto val="1"/>
        <c:lblAlgn val="ctr"/>
        <c:noMultiLvlLbl val="1"/>
      </c:valAx>
      <c:valAx>
        <c:axId val="2094734552"/>
        <c:scaling>
          <c:orientation val="minMax"/>
          <c:max val="100"/>
          <c:min val="50"/>
        </c:scaling>
        <c:delete val="0"/>
        <c:axPos val="l"/>
        <c:majorGridlines>
          <c:spPr>
            <a:ln w="6350" cap="flat">
              <a:solidFill>
                <a:srgbClr val="E1E0D9"/>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midCat"/>
      </c:valAx>
      <c:spPr>
        <a:noFill/>
        <a:ln>
          <a:noFill/>
        </a:ln>
        <a:effectLst/>
      </c:spPr>
    </c:plotArea>
    <c:legend>
      <c:legendPos val="t"/>
      <c:overlay val="0"/>
      <c:txPr>
        <a:bodyPr/>
        <a:lstStyle/>
        <a:p>
          <a:pPr>
            <a:defRPr sz="1000">
              <a:solidFill>
                <a:srgbClr val="000000"/>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00000"/>
                </a:solidFill>
                <a:latin typeface="Calibri"/>
              </a:defRPr>
            </a:pPr>
            <a:r>
              <a:rPr sz="1150" b="0" i="0" u="none" strike="noStrike">
                <a:solidFill>
                  <a:srgbClr val="000000"/>
                </a:solidFill>
                <a:latin typeface="Calibri"/>
              </a:rPr>
              <a:t>High load: 24 req/s (87%)</a:t>
            </a:r>
          </a:p>
        </c:rich>
      </c:tx>
      <c:layout/>
      <c:overlay val="0"/>
    </c:title>
    <c:autoTitleDeleted val="0"/>
    <c:plotArea>
      <c:layout/>
      <c:scatterChart>
        <c:scatterStyle val="lineMarker"/>
        <c:varyColors val="0"/>
        <c:ser>
          <c:idx val="0"/>
          <c:order val="0"/>
          <c:tx>
            <c:strRef>
              <c:f>Sheet1!$B$1</c:f>
              <c:strCache>
                <c:ptCount val="1"/>
                <c:pt idx="0">
                  <c:v>Clockwork</c:v>
                </c:pt>
              </c:strCache>
            </c:strRef>
          </c:tx>
          <c:spPr>
            <a:solidFill>
              <a:srgbClr val="2A78D6"/>
            </a:solidFill>
            <a:ln>
              <a:noFill/>
            </a:ln>
            <a:effectLst/>
          </c:spPr>
          <c:marker>
            <c:symbol val="circle"/>
            <c:size val="11"/>
            <c:spPr>
              <a:solidFill>
                <a:srgbClr val="2A78D6"/>
              </a:solidFill>
              <a:ln w="9525" cap="flat">
                <a:solidFill>
                  <a:srgbClr val="2A78D6"/>
                </a:solidFill>
                <a:prstDash val="solid"/>
                <a:round/>
              </a:ln>
              <a:effectLst/>
            </c:spPr>
          </c:marker>
          <c:dLbls>
            <c:dLbl>
              <c:idx val="0"/>
              <c:tx>
                <c:rich>
                  <a:bodyPr>
                    <a:spAutoFit/>
                  </a:bodyPr>
                  <a:lstStyle/>
                  <a:p>
                    <a:pPr>
                      <a:defRPr/>
                    </a:pPr>
                    <a:r>
                      <a:rPr lang="en-US" dirty="0"/>
                      <a:t>150 ms</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cf89-be9a-6402-366a31aa6e5e}"/>
                </c:ext>
              </c:extLst>
            </c:dLbl>
            <c:dLbl>
              <c:idx val="1"/>
              <c:tx>
                <c:rich>
                  <a:bodyPr>
                    <a:spAutoFit/>
                  </a:bodyPr>
                  <a:lstStyle/>
                  <a:p>
                    <a:pPr>
                      <a:defRPr/>
                    </a:pPr>
                    <a:r>
                      <a:rPr lang="en-US" dirty="0"/>
                      <a:t>600 ms</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cf89-be9a-6402-366a31aa6e5e}"/>
                </c:ext>
              </c:extLst>
            </c:dLbl>
            <c:dLbl>
              <c:idx val="2"/>
              <c:tx>
                <c:rich>
                  <a:bodyPr>
                    <a:spAutoFit/>
                  </a:bodyPr>
                  <a:lstStyle/>
                  <a:p>
                    <a:pPr>
                      <a:defRPr/>
                    </a:pPr>
                    <a:r>
                      <a:rPr lang="en-US" dirty="0"/>
                      <a:t>2400 ms</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cf89-be9a-6402-366a31aa6e5e}"/>
                </c:ext>
              </c:extLst>
            </c:dLbl>
            <c:dLbl>
              <c:idx val="3"/>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cf89-be9a-6402-366a31aa6e5e}"/>
                </c:ext>
              </c:extLst>
            </c:dLbl>
            <c:dLbl>
              <c:idx val="4"/>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cf89-be9a-6402-366a31aa6e5e}"/>
                </c:ext>
              </c:extLst>
            </c:dLbl>
            <c:dLbl>
              <c:idx val="5"/>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cf89-be9a-6402-366a31aa6e5e}"/>
                </c:ext>
              </c:extLst>
            </c:dLbl>
            <c:dLbl>
              <c:idx val="6"/>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7-cf89-be9a-6402-366a31aa6e5e}"/>
                </c:ext>
              </c:extLst>
            </c:dLbl>
            <c:dLbl>
              <c:idx val="7"/>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8-cf89-be9a-6402-366a31aa6e5e}"/>
                </c:ext>
              </c:extLst>
            </c:dLbl>
            <c:dLbl>
              <c:idx val="8"/>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9-cf89-be9a-6402-366a31aa6e5e}"/>
                </c:ext>
              </c:extLst>
            </c:dLbl>
          </c:dLbls>
          <c:xVal>
            <c:numRef>
              <c:f>Sheet1!$A$2:$A$10</c:f>
              <c:numCache>
                <c:formatCode>General</c:formatCode>
                <c:ptCount val="9"/>
                <c:pt idx="0">
                  <c:v>991</c:v>
                </c:pt>
                <c:pt idx="1">
                  <c:v>1177</c:v>
                </c:pt>
                <c:pt idx="2">
                  <c:v>1215</c:v>
                </c:pt>
                <c:pt idx="3">
                  <c:v>1124</c:v>
                </c:pt>
                <c:pt idx="4">
                  <c:v>1119</c:v>
                </c:pt>
                <c:pt idx="5">
                  <c:v>1137</c:v>
                </c:pt>
                <c:pt idx="6">
                  <c:v>925</c:v>
                </c:pt>
                <c:pt idx="7">
                  <c:v>1076</c:v>
                </c:pt>
                <c:pt idx="8">
                  <c:v>1110</c:v>
                </c:pt>
              </c:numCache>
            </c:numRef>
          </c:xVal>
          <c:yVal>
            <c:numRef>
              <c:f>Sheet1!$B$2:$B$10</c:f>
              <c:numCache>
                <c:formatCode>General</c:formatCode>
                <c:ptCount val="9"/>
                <c:pt idx="0">
                  <c:v>74.9</c:v>
                </c:pt>
                <c:pt idx="1">
                  <c:v>89.8</c:v>
                </c:pt>
                <c:pt idx="2">
                  <c:v>99.6</c:v>
                </c:pt>
                <c:pt idx="3">
                  <c:v/>
                </c:pt>
                <c:pt idx="4">
                  <c:v/>
                </c:pt>
                <c:pt idx="5">
                  <c:v/>
                </c:pt>
                <c:pt idx="6">
                  <c:v/>
                </c:pt>
                <c:pt idx="7">
                  <c:v/>
                </c:pt>
                <c:pt idx="8">
                  <c:v/>
                </c:pt>
              </c:numCache>
            </c:numRef>
          </c:yVal>
          <c:smooth val="0"/>
        </c:ser>
        <c:ser>
          <c:idx val="1"/>
          <c:order val="1"/>
          <c:tx>
            <c:strRef>
              <c:f>Sheet1!$C$1</c:f>
              <c:strCache>
                <c:ptCount val="1"/>
                <c:pt idx="0">
                  <c:v>Greedy-2D</c:v>
                </c:pt>
              </c:strCache>
            </c:strRef>
          </c:tx>
          <c:spPr>
            <a:solidFill>
              <a:srgbClr val="EB6834"/>
            </a:solidFill>
            <a:ln>
              <a:noFill/>
            </a:ln>
            <a:effectLst/>
          </c:spPr>
          <c:marker>
            <c:symbol val="circle"/>
            <c:size val="11"/>
            <c:spPr>
              <a:solidFill>
                <a:srgbClr val="EB6834"/>
              </a:solidFill>
              <a:ln w="9525" cap="flat">
                <a:solidFill>
                  <a:srgbClr val="EB6834"/>
                </a:solidFill>
                <a:prstDash val="solid"/>
                <a:round/>
              </a:ln>
              <a:effectLst/>
            </c:spPr>
          </c:marker>
          <c:dLbls>
            <c:dLbl>
              <c:idx val="0"/>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8cf5-2734-5a30-1bcea7992a48}"/>
                </c:ext>
              </c:extLst>
            </c:dLbl>
            <c:dLbl>
              <c:idx val="1"/>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8cf5-2734-5a30-1bcea7992a48}"/>
                </c:ext>
              </c:extLst>
            </c:dLbl>
            <c:dLbl>
              <c:idx val="2"/>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8cf5-2734-5a30-1bcea7992a48}"/>
                </c:ext>
              </c:extLst>
            </c:dLbl>
            <c:dLbl>
              <c:idx val="3"/>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8cf5-2734-5a30-1bcea7992a48}"/>
                </c:ext>
              </c:extLst>
            </c:dLbl>
            <c:dLbl>
              <c:idx val="4"/>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8cf5-2734-5a30-1bcea7992a48}"/>
                </c:ext>
              </c:extLst>
            </c:dLbl>
            <c:dLbl>
              <c:idx val="5"/>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8cf5-2734-5a30-1bcea7992a48}"/>
                </c:ext>
              </c:extLst>
            </c:dLbl>
            <c:dLbl>
              <c:idx val="6"/>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7-8cf5-2734-5a30-1bcea7992a48}"/>
                </c:ext>
              </c:extLst>
            </c:dLbl>
            <c:dLbl>
              <c:idx val="7"/>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8-8cf5-2734-5a30-1bcea7992a48}"/>
                </c:ext>
              </c:extLst>
            </c:dLbl>
            <c:dLbl>
              <c:idx val="8"/>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9-8cf5-2734-5a30-1bcea7992a48}"/>
                </c:ext>
              </c:extLst>
            </c:dLbl>
          </c:dLbls>
          <c:xVal>
            <c:numRef>
              <c:f>Sheet1!$A$2:$A$10</c:f>
              <c:numCache>
                <c:formatCode>General</c:formatCode>
                <c:ptCount val="9"/>
                <c:pt idx="0">
                  <c:v>991</c:v>
                </c:pt>
                <c:pt idx="1">
                  <c:v>1177</c:v>
                </c:pt>
                <c:pt idx="2">
                  <c:v>1215</c:v>
                </c:pt>
                <c:pt idx="3">
                  <c:v>1124</c:v>
                </c:pt>
                <c:pt idx="4">
                  <c:v>1119</c:v>
                </c:pt>
                <c:pt idx="5">
                  <c:v>1137</c:v>
                </c:pt>
                <c:pt idx="6">
                  <c:v>925</c:v>
                </c:pt>
                <c:pt idx="7">
                  <c:v>1076</c:v>
                </c:pt>
                <c:pt idx="8">
                  <c:v>1110</c:v>
                </c:pt>
              </c:numCache>
            </c:numRef>
          </c:xVal>
          <c:yVal>
            <c:numRef>
              <c:f>Sheet1!$C$2:$C$10</c:f>
              <c:numCache>
                <c:formatCode>General</c:formatCode>
                <c:ptCount val="9"/>
                <c:pt idx="0">
                  <c:v/>
                </c:pt>
                <c:pt idx="1">
                  <c:v/>
                </c:pt>
                <c:pt idx="2">
                  <c:v/>
                </c:pt>
                <c:pt idx="3">
                  <c:v>8.4</c:v>
                </c:pt>
                <c:pt idx="4">
                  <c:v>2.9</c:v>
                </c:pt>
                <c:pt idx="5">
                  <c:v>16.8</c:v>
                </c:pt>
                <c:pt idx="6">
                  <c:v/>
                </c:pt>
                <c:pt idx="7">
                  <c:v/>
                </c:pt>
                <c:pt idx="8">
                  <c:v/>
                </c:pt>
              </c:numCache>
            </c:numRef>
          </c:yVal>
          <c:smooth val="0"/>
        </c:ser>
        <c:ser>
          <c:idx val="2"/>
          <c:order val="2"/>
          <c:tx>
            <c:strRef>
              <c:f>Sheet1!$D$1</c:f>
              <c:strCache>
                <c:ptCount val="1"/>
                <c:pt idx="0">
                  <c:v>Symphony</c:v>
                </c:pt>
              </c:strCache>
            </c:strRef>
          </c:tx>
          <c:spPr>
            <a:solidFill>
              <a:srgbClr val="1BAF7A"/>
            </a:solidFill>
            <a:ln>
              <a:noFill/>
            </a:ln>
            <a:effectLst/>
          </c:spPr>
          <c:marker>
            <c:symbol val="circle"/>
            <c:size val="11"/>
            <c:spPr>
              <a:solidFill>
                <a:srgbClr val="1BAF7A"/>
              </a:solidFill>
              <a:ln w="9525" cap="flat">
                <a:solidFill>
                  <a:srgbClr val="1BAF7A"/>
                </a:solidFill>
                <a:prstDash val="solid"/>
                <a:round/>
              </a:ln>
              <a:effectLst/>
            </c:spPr>
          </c:marker>
          <c:dLbls>
            <c:dLbl>
              <c:idx val="0"/>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d0da-eaeb-2ab8-058df68245fd}"/>
                </c:ext>
              </c:extLst>
            </c:dLbl>
            <c:dLbl>
              <c:idx val="1"/>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d0da-eaeb-2ab8-058df68245fd}"/>
                </c:ext>
              </c:extLst>
            </c:dLbl>
            <c:dLbl>
              <c:idx val="2"/>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d0da-eaeb-2ab8-058df68245fd}"/>
                </c:ext>
              </c:extLst>
            </c:dLbl>
            <c:dLbl>
              <c:idx val="3"/>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d0da-eaeb-2ab8-058df68245fd}"/>
                </c:ext>
              </c:extLst>
            </c:dLbl>
            <c:dLbl>
              <c:idx val="4"/>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d0da-eaeb-2ab8-058df68245fd}"/>
                </c:ext>
              </c:extLst>
            </c:dLbl>
            <c:dLbl>
              <c:idx val="5"/>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d0da-eaeb-2ab8-058df68245fd}"/>
                </c:ext>
              </c:extLst>
            </c:dLbl>
            <c:dLbl>
              <c:idx val="6"/>
              <c:tx>
                <c:rich>
                  <a:bodyPr>
                    <a:spAutoFit/>
                  </a:bodyPr>
                  <a:lstStyle/>
                  <a:p>
                    <a:pPr>
                      <a:defRPr/>
                    </a:pPr>
                    <a:r>
                      <a:rPr lang="en-US" dirty="0"/>
                      <a:t>150 ms</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7-d0da-eaeb-2ab8-058df68245fd}"/>
                </c:ext>
              </c:extLst>
            </c:dLbl>
            <c:dLbl>
              <c:idx val="7"/>
              <c:tx>
                <c:rich>
                  <a:bodyPr>
                    <a:spAutoFit/>
                  </a:bodyPr>
                  <a:lstStyle/>
                  <a:p>
                    <a:pPr>
                      <a:defRPr/>
                    </a:pPr>
                    <a:r>
                      <a:rPr lang="en-US" dirty="0"/>
                      <a:t>600 ms</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8-d0da-eaeb-2ab8-058df68245fd}"/>
                </c:ext>
              </c:extLst>
            </c:dLbl>
            <c:dLbl>
              <c:idx val="8"/>
              <c:tx>
                <c:rich>
                  <a:bodyPr>
                    <a:spAutoFit/>
                  </a:bodyPr>
                  <a:lstStyle/>
                  <a:p>
                    <a:pPr>
                      <a:defRPr/>
                    </a:pPr>
                    <a:r>
                      <a:rPr lang="en-US" dirty="0"/>
                      <a:t>2400 ms</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9-d0da-eaeb-2ab8-058df68245fd}"/>
                </c:ext>
              </c:extLst>
            </c:dLbl>
          </c:dLbls>
          <c:xVal>
            <c:numRef>
              <c:f>Sheet1!$A$2:$A$10</c:f>
              <c:numCache>
                <c:formatCode>General</c:formatCode>
                <c:ptCount val="9"/>
                <c:pt idx="0">
                  <c:v>991</c:v>
                </c:pt>
                <c:pt idx="1">
                  <c:v>1177</c:v>
                </c:pt>
                <c:pt idx="2">
                  <c:v>1215</c:v>
                </c:pt>
                <c:pt idx="3">
                  <c:v>1124</c:v>
                </c:pt>
                <c:pt idx="4">
                  <c:v>1119</c:v>
                </c:pt>
                <c:pt idx="5">
                  <c:v>1137</c:v>
                </c:pt>
                <c:pt idx="6">
                  <c:v>925</c:v>
                </c:pt>
                <c:pt idx="7">
                  <c:v>1076</c:v>
                </c:pt>
                <c:pt idx="8">
                  <c:v>1110</c:v>
                </c:pt>
              </c:numCache>
            </c:numRef>
          </c:xVal>
          <c:yVal>
            <c:numRef>
              <c:f>Sheet1!$D$2:$D$10</c:f>
              <c:numCache>
                <c:formatCode>General</c:formatCode>
                <c:ptCount val="9"/>
                <c:pt idx="0">
                  <c:v/>
                </c:pt>
                <c:pt idx="1">
                  <c:v/>
                </c:pt>
                <c:pt idx="2">
                  <c:v/>
                </c:pt>
                <c:pt idx="3">
                  <c:v/>
                </c:pt>
                <c:pt idx="4">
                  <c:v/>
                </c:pt>
                <c:pt idx="5">
                  <c:v/>
                </c:pt>
                <c:pt idx="6">
                  <c:v>62.5</c:v>
                </c:pt>
                <c:pt idx="7">
                  <c:v>80.4</c:v>
                </c:pt>
                <c:pt idx="8">
                  <c:v>95.3</c:v>
                </c:pt>
              </c:numCache>
            </c:numRef>
          </c:yVal>
          <c:smooth val="0"/>
        </c:ser>
        <c:dLbls>
          <c:numFmt formatCode="General" sourceLinked="0"/>
          <c:txPr>
            <a:bodyPr/>
            <a:lstStyle/>
            <a:p>
              <a:pPr>
                <a:defRPr b="0" i="0" strike="noStrike" sz="900" u="none">
                  <a:solidFill>
                    <a:srgbClr val="000000"/>
                  </a:solidFill>
                  <a:latin typeface="Calibri"/>
                </a:defRPr>
              </a:pPr>
            </a:p>
          </c:txPr>
          <c:dLblPos val="r"/>
          <c:showLegendKey val="0"/>
          <c:showVal val="0"/>
          <c:showCatName val="0"/>
          <c:showSerName val="0"/>
          <c:showPercent val="0"/>
          <c:showBubbleSize val="0"/>
        </c:dLbls>
        <c:axId val="2094734554"/>
        <c:axId val="2094734552"/>
      </c:scatterChart>
      <c:valAx>
        <c:axId val="2094734554"/>
        <c:scaling>
          <c:orientation val="minMax"/>
          <c:max val="1250"/>
          <c:min val="900"/>
        </c:scaling>
        <c:delete val="0"/>
        <c:axPos val="b"/>
        <c:title>
          <c:tx>
            <c:rich>
              <a:bodyPr/>
              <a:lstStyle/>
              <a:p>
                <a:pPr>
                  <a:defRPr sz="1100" b="0" i="0" u="none" strike="noStrike">
                    <a:solidFill>
                      <a:srgbClr val="595959"/>
                    </a:solidFill>
                    <a:latin typeface="Calibri"/>
                  </a:defRPr>
                </a:pPr>
                <a:r>
                  <a:rPr sz="1100" b="0" i="0" u="none" strike="noStrike">
                    <a:solidFill>
                      <a:srgbClr val="595959"/>
                    </a:solidFill>
                    <a:latin typeface="Calibri"/>
                  </a:rPr>
                  <a:t>total energy in the 120 s window (J)</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2"/>
        <c:crosses val="autoZero"/>
        <c:auto val="1"/>
        <c:lblAlgn val="ctr"/>
        <c:noMultiLvlLbl val="1"/>
      </c:valAx>
      <c:valAx>
        <c:axId val="2094734552"/>
        <c:scaling>
          <c:orientation val="minMax"/>
          <c:max val="100"/>
          <c:min val="0"/>
        </c:scaling>
        <c:delete val="0"/>
        <c:axPos val="l"/>
        <c:majorGridlines>
          <c:spPr>
            <a:ln w="6350" cap="flat">
              <a:solidFill>
                <a:srgbClr val="E1E0D9"/>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midCat"/>
      </c:valAx>
      <c:spPr>
        <a:noFill/>
        <a:ln>
          <a:noFill/>
        </a:ln>
        <a:effectLst/>
      </c:spPr>
    </c:plotArea>
    <c:legend>
      <c:legendPos val="t"/>
      <c:overlay val="0"/>
      <c:txPr>
        <a:bodyPr/>
        <a:lstStyle/>
        <a:p>
          <a:pPr>
            <a:defRPr sz="1000">
              <a:solidFill>
                <a:srgbClr val="000000"/>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chart" Target="/ppt/charts/chart8.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chart" Target="/ppt/charts/chart11.xml"/><Relationship Id="rId4" Type="http://schemas.openxmlformats.org/officeDocument/2006/relationships/chart" Target="/ppt/charts/chart12.xml"/><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chart" Target="/ppt/charts/chart14.xml"/><Relationship Id="rId3" Type="http://schemas.openxmlformats.org/officeDocument/2006/relationships/chart" Target="/ppt/charts/chart15.xml"/><Relationship Id="rId4" Type="http://schemas.openxmlformats.org/officeDocument/2006/relationships/chart" Target="/ppt/charts/chart16.xml"/><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chart" Target="/ppt/charts/chart18.xml"/><Relationship Id="rId3" Type="http://schemas.openxmlformats.org/officeDocument/2006/relationships/chart" Target="/ppt/charts/chart19.xml"/><Relationship Id="rId4" Type="http://schemas.openxmlformats.org/officeDocument/2006/relationships/chart" Target="/ppt/charts/chart20.xml"/><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chart" Target="/ppt/charts/chart22.xml"/><Relationship Id="rId3" Type="http://schemas.openxmlformats.org/officeDocument/2006/relationships/chart" Target="/ppt/charts/chart23.xml"/><Relationship Id="rId4" Type="http://schemas.openxmlformats.org/officeDocument/2006/relationships/chart" Target="/ppt/charts/chart24.xml"/><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chart" Target="/ppt/charts/chart26.xml"/><Relationship Id="rId3" Type="http://schemas.openxmlformats.org/officeDocument/2006/relationships/chart" Target="/ppt/charts/chart27.xml"/><Relationship Id="rId4" Type="http://schemas.openxmlformats.org/officeDocument/2006/relationships/chart" Target="/ppt/charts/chart28.xml"/><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9.xml"/><Relationship Id="rId2" Type="http://schemas.openxmlformats.org/officeDocument/2006/relationships/chart" Target="/ppt/charts/chart30.xml"/><Relationship Id="rId3" Type="http://schemas.openxmlformats.org/officeDocument/2006/relationships/chart" Target="/ppt/charts/chart31.xml"/><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2651760"/>
            <a:ext cx="10698480" cy="822960"/>
          </a:xfrm>
          <a:prstGeom prst="rect">
            <a:avLst/>
          </a:prstGeom>
          <a:noFill/>
          <a:ln/>
        </p:spPr>
        <p:txBody>
          <a:bodyPr wrap="square" lIns="0" tIns="0" rIns="0" bIns="0" rtlCol="0" anchor="t"/>
          <a:lstStyle/>
          <a:p>
            <a:pPr indent="0" marL="0">
              <a:buNone/>
            </a:pPr>
            <a:r>
              <a:rPr lang="en-US" sz="3400" b="1" dirty="0">
                <a:solidFill>
                  <a:srgbClr val="000000"/>
                </a:solidFill>
                <a:latin typeface="Calibri" pitchFamily="34" charset="0"/>
                <a:ea typeface="Calibri" pitchFamily="34" charset="-122"/>
                <a:cs typeface="Calibri" pitchFamily="34" charset="-120"/>
              </a:rPr>
              <a:t>Week 8 update</a:t>
            </a:r>
            <a:endParaRPr lang="en-US" sz="3400" dirty="0"/>
          </a:p>
        </p:txBody>
      </p:sp>
      <p:sp>
        <p:nvSpPr>
          <p:cNvPr id="3" name="Text 1"/>
          <p:cNvSpPr txBox="1"/>
          <p:nvPr/>
        </p:nvSpPr>
        <p:spPr>
          <a:xfrm>
            <a:off x="731520" y="3429000"/>
            <a:ext cx="10698480" cy="457200"/>
          </a:xfrm>
          <a:prstGeom prst="rect">
            <a:avLst/>
          </a:prstGeom>
          <a:noFill/>
          <a:ln/>
        </p:spPr>
        <p:txBody>
          <a:bodyPr wrap="square" lIns="0" tIns="0" rIns="0" bIns="0" rtlCol="0" anchor="t"/>
          <a:lstStyle/>
          <a:p>
            <a:pPr indent="0" marL="0">
              <a:buNone/>
            </a:pPr>
            <a:r>
              <a:rPr lang="en-US" sz="1500" dirty="0">
                <a:solidFill>
                  <a:srgbClr val="595959"/>
                </a:solidFill>
                <a:latin typeface="Calibri" pitchFamily="34" charset="0"/>
                <a:ea typeface="Calibri" pitchFamily="34" charset="-122"/>
                <a:cs typeface="Calibri" pitchFamily="34" charset="-120"/>
              </a:rPr>
              <a:t>Jetson harness, literature policies on real hardware, and the CityFlow dispatcher result</a:t>
            </a:r>
            <a:endParaRPr lang="en-US" sz="1500" dirty="0"/>
          </a:p>
        </p:txBody>
      </p:sp>
      <p:sp>
        <p:nvSpPr>
          <p:cNvPr id="4" name="Text 2"/>
          <p:cNvSpPr txBox="1"/>
          <p:nvPr/>
        </p:nvSpPr>
        <p:spPr>
          <a:xfrm>
            <a:off x="731520" y="5760720"/>
            <a:ext cx="10698480" cy="365760"/>
          </a:xfrm>
          <a:prstGeom prst="rect">
            <a:avLst/>
          </a:prstGeom>
          <a:noFill/>
          <a:ln/>
        </p:spPr>
        <p:txBody>
          <a:bodyPr wrap="square" lIns="0" tIns="0" rIns="0" bIns="0" rtlCol="0" anchor="t"/>
          <a:lstStyle/>
          <a:p>
            <a:pPr indent="0" marL="0">
              <a:buNone/>
            </a:pPr>
            <a:r>
              <a:rPr lang="en-US" sz="1200" dirty="0">
                <a:solidFill>
                  <a:srgbClr val="595959"/>
                </a:solidFill>
                <a:latin typeface="Calibri" pitchFamily="34" charset="0"/>
                <a:ea typeface="Calibri" pitchFamily="34" charset="-122"/>
                <a:cs typeface="Calibri" pitchFamily="34" charset="-120"/>
              </a:rPr>
              <a:t>Advisors: Prof. Gayathri Ananthanarayanan (IIT Dharwad), Dr. Marcello Traiola (INRIA)</a:t>
            </a:r>
            <a:endParaRPr lang="en-US" sz="1200" dirty="0"/>
          </a:p>
        </p:txBody>
      </p:sp>
      <p:sp>
        <p:nvSpPr>
          <p:cNvPr id="5" name="Text 3"/>
          <p:cNvSpPr txBox="1"/>
          <p:nvPr/>
        </p:nvSpPr>
        <p:spPr>
          <a:xfrm>
            <a:off x="731520" y="6126480"/>
            <a:ext cx="5486400" cy="365760"/>
          </a:xfrm>
          <a:prstGeom prst="rect">
            <a:avLst/>
          </a:prstGeom>
          <a:noFill/>
          <a:ln/>
        </p:spPr>
        <p:txBody>
          <a:bodyPr wrap="square" lIns="0" tIns="0" rIns="0" bIns="0" rtlCol="0" anchor="t"/>
          <a:lstStyle/>
          <a:p>
            <a:pPr indent="0" marL="0">
              <a:buNone/>
            </a:pPr>
            <a:r>
              <a:rPr lang="en-US" sz="1200" dirty="0">
                <a:solidFill>
                  <a:srgbClr val="595959"/>
                </a:solidFill>
                <a:latin typeface="Calibri" pitchFamily="34" charset="0"/>
                <a:ea typeface="Calibri" pitchFamily="34" charset="-122"/>
                <a:cs typeface="Calibri" pitchFamily="34" charset="-120"/>
              </a:rPr>
              <a:t>Affan Pathan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863840" y="109728"/>
            <a:ext cx="374904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OVERVIEW</a:t>
            </a:r>
            <a:endParaRPr lang="en-US" sz="1000" dirty="0"/>
          </a:p>
        </p:txBody>
      </p:sp>
      <p:sp>
        <p:nvSpPr>
          <p:cNvPr id="3" name="Text 1"/>
          <p:cNvSpPr txBox="1"/>
          <p:nvPr/>
        </p:nvSpPr>
        <p:spPr>
          <a:xfrm>
            <a:off x="548640" y="365760"/>
            <a:ext cx="11064240" cy="594360"/>
          </a:xfrm>
          <a:prstGeom prst="rect">
            <a:avLst/>
          </a:prstGeom>
          <a:noFill/>
          <a:ln/>
        </p:spPr>
        <p:txBody>
          <a:bodyPr wrap="square" lIns="0" tIns="0" rIns="0" bIns="0" rtlCol="0" anchor="t"/>
          <a:lstStyle/>
          <a:p>
            <a:pPr indent="0" marL="0">
              <a:buNone/>
            </a:pPr>
            <a:r>
              <a:rPr lang="en-US" sz="2600" b="1" dirty="0">
                <a:solidFill>
                  <a:srgbClr val="000000"/>
                </a:solidFill>
                <a:latin typeface="Calibri" pitchFamily="34" charset="0"/>
                <a:ea typeface="Calibri" pitchFamily="34" charset="-122"/>
                <a:cs typeface="Calibri" pitchFamily="34" charset="-120"/>
              </a:rPr>
              <a:t>This week in one slide</a:t>
            </a:r>
            <a:endParaRPr lang="en-US" sz="2600" dirty="0"/>
          </a:p>
        </p:txBody>
      </p:sp>
      <p:sp>
        <p:nvSpPr>
          <p:cNvPr id="4" name="Text 2"/>
          <p:cNvSpPr txBox="1"/>
          <p:nvPr/>
        </p:nvSpPr>
        <p:spPr>
          <a:xfrm>
            <a:off x="548640" y="914400"/>
            <a:ext cx="11064240" cy="36576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Two tasks from meet 7: fix the CityFlow routing, and run existing scheduling approaches on a real Jetson AGX Xavier</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194560"/>
                <a:gridCol w="5120640"/>
                <a:gridCol w="3749040"/>
              </a:tblGrid>
              <a:tr h="365760">
                <a:tc>
                  <a:txBody>
                    <a:bodyPr/>
                    <a:lstStyle/>
                    <a:p>
                      <a:pPr algn="l" indent="0" marL="0">
                        <a:buNone/>
                      </a:pPr>
                      <a:r>
                        <a:rPr lang="en-US" sz="1250" b="1" dirty="0">
                          <a:solidFill>
                            <a:srgbClr val="000000"/>
                          </a:solidFill>
                          <a:latin typeface="Calibri" pitchFamily="34" charset="0"/>
                          <a:ea typeface="Calibri" pitchFamily="34" charset="-122"/>
                          <a:cs typeface="Calibri" pitchFamily="34" charset="-120"/>
                        </a:rPr>
                        <a:t>Task</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l" indent="0" marL="0">
                        <a:buNone/>
                      </a:pPr>
                      <a:r>
                        <a:rPr lang="en-US" sz="1250" b="1" dirty="0">
                          <a:solidFill>
                            <a:srgbClr val="000000"/>
                          </a:solidFill>
                          <a:latin typeface="Calibri" pitchFamily="34" charset="0"/>
                          <a:ea typeface="Calibri" pitchFamily="34" charset="-122"/>
                          <a:cs typeface="Calibri" pitchFamily="34" charset="-120"/>
                        </a:rPr>
                        <a:t>What was done</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l" indent="0" marL="0">
                        <a:buNone/>
                      </a:pPr>
                      <a:r>
                        <a:rPr lang="en-US" sz="1250" b="1" dirty="0">
                          <a:solidFill>
                            <a:srgbClr val="000000"/>
                          </a:solidFill>
                          <a:latin typeface="Calibri" pitchFamily="34" charset="0"/>
                          <a:ea typeface="Calibri" pitchFamily="34" charset="-122"/>
                          <a:cs typeface="Calibri" pitchFamily="34" charset="-120"/>
                        </a:rPr>
                        <a:t>Outcome</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r>
              <a:tr h="1188720">
                <a:tc>
                  <a:txBody>
                    <a:bodyPr/>
                    <a:lstStyle/>
                    <a:p>
                      <a:pPr algn="l" indent="0" marL="0">
                        <a:buNone/>
                      </a:pPr>
                      <a:r>
                        <a:rPr lang="en-US" sz="1250" b="1" dirty="0">
                          <a:solidFill>
                            <a:srgbClr val="000000"/>
                          </a:solidFill>
                          <a:latin typeface="Calibri" pitchFamily="34" charset="0"/>
                          <a:ea typeface="Calibri" pitchFamily="34" charset="-122"/>
                          <a:cs typeface="Calibri" pitchFamily="34" charset="-120"/>
                        </a:rPr>
                        <a:t>1. CityFlow dispatcher</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00000"/>
                          </a:solidFill>
                          <a:latin typeface="Calibri" pitchFamily="34" charset="0"/>
                          <a:ea typeface="Calibri" pitchFamily="34" charset="-122"/>
                          <a:cs typeface="Calibri" pitchFamily="34" charset="-120"/>
                        </a:rPr>
                        <a:t>Tried to build a dispatcher for the CityFlow dataset: relabelled frames, fine-tuned the models, searched for dispatchers with NSGA-II</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00000"/>
                          </a:solidFill>
                          <a:latin typeface="Calibri" pitchFamily="34" charset="0"/>
                          <a:ea typeface="Calibri" pitchFamily="34" charset="-122"/>
                          <a:cs typeface="Calibri" pitchFamily="34" charset="-120"/>
                        </a:rPr>
                        <a:t>Failed. Fine-tuning did not help, and the dispatchers that came out performed worse than static allocation. Put on hold</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1371600">
                <a:tc>
                  <a:txBody>
                    <a:bodyPr/>
                    <a:lstStyle/>
                    <a:p>
                      <a:pPr algn="l" indent="0" marL="0">
                        <a:buNone/>
                      </a:pPr>
                      <a:r>
                        <a:rPr lang="en-US" sz="1250" b="1" dirty="0">
                          <a:solidFill>
                            <a:srgbClr val="000000"/>
                          </a:solidFill>
                          <a:latin typeface="Calibri" pitchFamily="34" charset="0"/>
                          <a:ea typeface="Calibri" pitchFamily="34" charset="-122"/>
                          <a:cs typeface="Calibri" pitchFamily="34" charset="-120"/>
                        </a:rPr>
                        <a:t>2. Scheduling policies on the Jetson</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00000"/>
                          </a:solidFill>
                          <a:latin typeface="Calibri" pitchFamily="34" charset="0"/>
                          <a:ea typeface="Calibri" pitchFamily="34" charset="-122"/>
                          <a:cs typeface="Calibri" pitchFamily="34" charset="-120"/>
                        </a:rPr>
                        <a:t>Built a real-time test harness, then implemented Clockwork, Symphony and an EdgeServing-inspired greedy policy and tested them on the Jetson AGX Xavier (682 runs: 3 deadlines, 8 traffic mixes, 4 loads, 2 to 3 seeds)</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00000"/>
                          </a:solidFill>
                          <a:latin typeface="Calibri" pitchFamily="34" charset="0"/>
                          <a:ea typeface="Calibri" pitchFamily="34" charset="-122"/>
                          <a:cs typeface="Calibri" pitchFamily="34" charset="-120"/>
                        </a:rPr>
                        <a:t>Clockwork leads goodput at tight deadlines; Symphony spends the least total energy (up to 19% less at loose deadlines); no policy has both</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4572000"/>
            <a:ext cx="11064240" cy="640080"/>
          </a:xfrm>
          <a:prstGeom prst="rect">
            <a:avLst/>
          </a:prstGeom>
          <a:noFill/>
          <a:ln/>
        </p:spPr>
        <p:txBody>
          <a:bodyPr wrap="square" lIns="0" tIns="0" rIns="0" bIns="0" rtlCol="0" anchor="t"/>
          <a:lstStyle/>
          <a:p>
            <a:pPr indent="0" marL="0">
              <a:buNone/>
            </a:pPr>
            <a:r>
              <a:rPr lang="en-US" sz="1300" b="1" dirty="0">
                <a:solidFill>
                  <a:srgbClr val="000000"/>
                </a:solidFill>
                <a:latin typeface="Calibri" pitchFamily="34" charset="0"/>
                <a:ea typeface="Calibri" pitchFamily="34" charset="-122"/>
                <a:cs typeface="Calibri" pitchFamily="34" charset="-120"/>
              </a:rPr>
              <a:t>Takeaway. </a:t>
            </a:r>
            <a:pPr indent="0" marL="0">
              <a:buNone/>
            </a:pPr>
            <a:r>
              <a:rPr lang="en-US" sz="1300" dirty="0">
                <a:solidFill>
                  <a:srgbClr val="000000"/>
                </a:solidFill>
                <a:latin typeface="Calibri" pitchFamily="34" charset="0"/>
                <a:ea typeface="Calibri" pitchFamily="34" charset="-122"/>
                <a:cs typeface="Calibri" pitchFamily="34" charset="-120"/>
              </a:rPr>
              <a:t>The EdgeServing-inspired policy is not EdgeServing itself: removing the paper's exit-layer knob changes the policy fundamentally, so I do not name it after the paper. Seed 2 is still running for the later mixes (two seeds there).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863840" y="109728"/>
            <a:ext cx="374904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PART 1  |  HARNESS</a:t>
            </a:r>
            <a:endParaRPr lang="en-US" sz="1000" dirty="0"/>
          </a:p>
        </p:txBody>
      </p:sp>
      <p:sp>
        <p:nvSpPr>
          <p:cNvPr id="3" name="Text 1"/>
          <p:cNvSpPr txBox="1"/>
          <p:nvPr/>
        </p:nvSpPr>
        <p:spPr>
          <a:xfrm>
            <a:off x="548640" y="365760"/>
            <a:ext cx="11064240" cy="594360"/>
          </a:xfrm>
          <a:prstGeom prst="rect">
            <a:avLst/>
          </a:prstGeom>
          <a:noFill/>
          <a:ln/>
        </p:spPr>
        <p:txBody>
          <a:bodyPr wrap="square" lIns="0" tIns="0" rIns="0" bIns="0" rtlCol="0" anchor="t"/>
          <a:lstStyle/>
          <a:p>
            <a:pPr indent="0" marL="0">
              <a:buNone/>
            </a:pPr>
            <a:r>
              <a:rPr lang="en-US" sz="2600" b="1" dirty="0">
                <a:solidFill>
                  <a:srgbClr val="000000"/>
                </a:solidFill>
                <a:latin typeface="Calibri" pitchFamily="34" charset="0"/>
                <a:ea typeface="Calibri" pitchFamily="34" charset="-122"/>
                <a:cs typeface="Calibri" pitchFamily="34" charset="-120"/>
              </a:rPr>
              <a:t>How the harness works</a:t>
            </a:r>
            <a:endParaRPr lang="en-US" sz="2600" dirty="0"/>
          </a:p>
        </p:txBody>
      </p:sp>
      <p:sp>
        <p:nvSpPr>
          <p:cNvPr id="4" name="Text 2"/>
          <p:cNvSpPr txBox="1"/>
          <p:nvPr/>
        </p:nvSpPr>
        <p:spPr>
          <a:xfrm>
            <a:off x="548640" y="914400"/>
            <a:ext cx="11064240" cy="36576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Everything is fixed except the policy: the same arrivals, models and board for every policy</a:t>
            </a:r>
            <a:endParaRPr lang="en-US" sz="1300" dirty="0"/>
          </a:p>
        </p:txBody>
      </p:sp>
      <p:sp>
        <p:nvSpPr>
          <p:cNvPr id="5" name="Shape 3"/>
          <p:cNvSpPr/>
          <p:nvPr/>
        </p:nvSpPr>
        <p:spPr>
          <a:xfrm>
            <a:off x="548640" y="1600200"/>
            <a:ext cx="2286000" cy="1371600"/>
          </a:xfrm>
          <a:prstGeom prst="rect">
            <a:avLst/>
          </a:prstGeom>
          <a:solidFill>
            <a:srgbClr val="F5F5F5"/>
          </a:solidFill>
          <a:ln w="9525">
            <a:solidFill>
              <a:srgbClr val="D9D9D9"/>
            </a:solidFill>
            <a:prstDash val="solid"/>
          </a:ln>
        </p:spPr>
      </p:sp>
      <p:sp>
        <p:nvSpPr>
          <p:cNvPr id="6" name="Text 4"/>
          <p:cNvSpPr txBox="1"/>
          <p:nvPr/>
        </p:nvSpPr>
        <p:spPr>
          <a:xfrm>
            <a:off x="640080" y="1645920"/>
            <a:ext cx="2103120" cy="1280160"/>
          </a:xfrm>
          <a:prstGeom prst="rect">
            <a:avLst/>
          </a:prstGeom>
          <a:noFill/>
          <a:ln/>
        </p:spPr>
        <p:txBody>
          <a:bodyPr wrap="square" lIns="0" tIns="0" rIns="0" bIns="0" rtlCol="0" anchor="ctr"/>
          <a:lstStyle/>
          <a:p>
            <a:pPr algn="ctr" indent="0" marL="0">
              <a:buNone/>
            </a:pPr>
            <a:r>
              <a:rPr lang="en-US" sz="1400" b="1" dirty="0">
                <a:solidFill>
                  <a:srgbClr val="000000"/>
                </a:solidFill>
                <a:latin typeface="Calibri" pitchFamily="34" charset="0"/>
                <a:ea typeface="Calibri" pitchFamily="34" charset="-122"/>
                <a:cs typeface="Calibri" pitchFamily="34" charset="-120"/>
              </a:rPr>
              <a:t>1. Arrivals</a:t>
            </a:r>
            <a:endParaRPr lang="en-US" sz="1400" dirty="0"/>
          </a:p>
          <a:p>
            <a:pPr algn="ctr" indent="0" marL="0">
              <a:buNone/>
            </a:pPr>
            <a:r>
              <a:rPr lang="en-US" sz="1150" dirty="0">
                <a:solidFill>
                  <a:srgbClr val="333333"/>
                </a:solidFill>
                <a:latin typeface="Calibri" pitchFamily="34" charset="0"/>
                <a:ea typeface="Calibri" pitchFamily="34" charset="-122"/>
                <a:cs typeface="Calibri" pitchFamily="34" charset="-120"/>
              </a:rPr>
              <a:t>Random requests at a set rate (req/s), split across the four models by a traffic mix; same seed, same list</a:t>
            </a:r>
            <a:endParaRPr lang="en-US" sz="1400" dirty="0"/>
          </a:p>
        </p:txBody>
      </p:sp>
      <p:sp>
        <p:nvSpPr>
          <p:cNvPr id="7" name="Shape 5"/>
          <p:cNvSpPr/>
          <p:nvPr/>
        </p:nvSpPr>
        <p:spPr>
          <a:xfrm>
            <a:off x="3474720" y="1600200"/>
            <a:ext cx="2286000" cy="1371600"/>
          </a:xfrm>
          <a:prstGeom prst="rect">
            <a:avLst/>
          </a:prstGeom>
          <a:solidFill>
            <a:srgbClr val="F5F5F5"/>
          </a:solidFill>
          <a:ln w="9525">
            <a:solidFill>
              <a:srgbClr val="D9D9D9"/>
            </a:solidFill>
            <a:prstDash val="solid"/>
          </a:ln>
        </p:spPr>
      </p:sp>
      <p:sp>
        <p:nvSpPr>
          <p:cNvPr id="8" name="Text 6"/>
          <p:cNvSpPr txBox="1"/>
          <p:nvPr/>
        </p:nvSpPr>
        <p:spPr>
          <a:xfrm>
            <a:off x="3566160" y="1645920"/>
            <a:ext cx="2103120" cy="1280160"/>
          </a:xfrm>
          <a:prstGeom prst="rect">
            <a:avLst/>
          </a:prstGeom>
          <a:noFill/>
          <a:ln/>
        </p:spPr>
        <p:txBody>
          <a:bodyPr wrap="square" lIns="0" tIns="0" rIns="0" bIns="0" rtlCol="0" anchor="ctr"/>
          <a:lstStyle/>
          <a:p>
            <a:pPr algn="ctr" indent="0" marL="0">
              <a:buNone/>
            </a:pPr>
            <a:r>
              <a:rPr lang="en-US" sz="1400" b="1" dirty="0">
                <a:solidFill>
                  <a:srgbClr val="000000"/>
                </a:solidFill>
                <a:latin typeface="Calibri" pitchFamily="34" charset="0"/>
                <a:ea typeface="Calibri" pitchFamily="34" charset="-122"/>
                <a:cs typeface="Calibri" pitchFamily="34" charset="-120"/>
              </a:rPr>
              <a:t>2. Four queues</a:t>
            </a:r>
            <a:endParaRPr lang="en-US" sz="1400" dirty="0"/>
          </a:p>
          <a:p>
            <a:pPr algn="ctr" indent="0" marL="0">
              <a:buNone/>
            </a:pPr>
            <a:r>
              <a:rPr lang="en-US" sz="1150" dirty="0">
                <a:solidFill>
                  <a:srgbClr val="333333"/>
                </a:solidFill>
                <a:latin typeface="Calibri" pitchFamily="34" charset="0"/>
                <a:ea typeface="Calibri" pitchFamily="34" charset="-122"/>
                <a:cs typeface="Calibri" pitchFamily="34" charset="-120"/>
              </a:rPr>
              <a:t>One waiting line per model: yolov8 n, s, m, l</a:t>
            </a:r>
            <a:endParaRPr lang="en-US" sz="1400" dirty="0"/>
          </a:p>
        </p:txBody>
      </p:sp>
      <p:sp>
        <p:nvSpPr>
          <p:cNvPr id="9" name="Shape 7"/>
          <p:cNvSpPr/>
          <p:nvPr/>
        </p:nvSpPr>
        <p:spPr>
          <a:xfrm>
            <a:off x="6400800" y="1600200"/>
            <a:ext cx="2286000" cy="1371600"/>
          </a:xfrm>
          <a:prstGeom prst="rect">
            <a:avLst/>
          </a:prstGeom>
          <a:solidFill>
            <a:srgbClr val="EAF2FC"/>
          </a:solidFill>
          <a:ln w="22225">
            <a:solidFill>
              <a:srgbClr val="2A78D6"/>
            </a:solidFill>
            <a:prstDash val="solid"/>
          </a:ln>
        </p:spPr>
      </p:sp>
      <p:sp>
        <p:nvSpPr>
          <p:cNvPr id="10" name="Text 8"/>
          <p:cNvSpPr txBox="1"/>
          <p:nvPr/>
        </p:nvSpPr>
        <p:spPr>
          <a:xfrm>
            <a:off x="6492240" y="1645920"/>
            <a:ext cx="2103120" cy="1280160"/>
          </a:xfrm>
          <a:prstGeom prst="rect">
            <a:avLst/>
          </a:prstGeom>
          <a:noFill/>
          <a:ln/>
        </p:spPr>
        <p:txBody>
          <a:bodyPr wrap="square" lIns="0" tIns="0" rIns="0" bIns="0" rtlCol="0" anchor="ctr"/>
          <a:lstStyle/>
          <a:p>
            <a:pPr algn="ctr" indent="0" marL="0">
              <a:buNone/>
            </a:pPr>
            <a:r>
              <a:rPr lang="en-US" sz="1400" b="1" dirty="0">
                <a:solidFill>
                  <a:srgbClr val="000000"/>
                </a:solidFill>
                <a:latin typeface="Calibri" pitchFamily="34" charset="0"/>
                <a:ea typeface="Calibri" pitchFamily="34" charset="-122"/>
                <a:cs typeface="Calibri" pitchFamily="34" charset="-120"/>
              </a:rPr>
              <a:t>3. Policy</a:t>
            </a:r>
            <a:endParaRPr lang="en-US" sz="1400" dirty="0"/>
          </a:p>
          <a:p>
            <a:pPr algn="ctr" indent="0" marL="0">
              <a:buNone/>
            </a:pPr>
            <a:r>
              <a:rPr lang="en-US" sz="1150" dirty="0">
                <a:solidFill>
                  <a:srgbClr val="000000"/>
                </a:solidFill>
                <a:latin typeface="Calibri" pitchFamily="34" charset="0"/>
                <a:ea typeface="Calibri" pitchFamily="34" charset="-122"/>
                <a:cs typeface="Calibri" pitchFamily="34" charset="-120"/>
              </a:rPr>
              <a:t>Whenever the GPU is free, picks which queue to serve and how many requests to batch, or waits</a:t>
            </a:r>
            <a:endParaRPr lang="en-US" sz="1400" dirty="0"/>
          </a:p>
        </p:txBody>
      </p:sp>
      <p:sp>
        <p:nvSpPr>
          <p:cNvPr id="11" name="Shape 9"/>
          <p:cNvSpPr/>
          <p:nvPr/>
        </p:nvSpPr>
        <p:spPr>
          <a:xfrm>
            <a:off x="9326880" y="1600200"/>
            <a:ext cx="2286000" cy="1371600"/>
          </a:xfrm>
          <a:prstGeom prst="rect">
            <a:avLst/>
          </a:prstGeom>
          <a:solidFill>
            <a:srgbClr val="F5F5F5"/>
          </a:solidFill>
          <a:ln w="9525">
            <a:solidFill>
              <a:srgbClr val="D9D9D9"/>
            </a:solidFill>
            <a:prstDash val="solid"/>
          </a:ln>
        </p:spPr>
      </p:sp>
      <p:sp>
        <p:nvSpPr>
          <p:cNvPr id="12" name="Text 10"/>
          <p:cNvSpPr txBox="1"/>
          <p:nvPr/>
        </p:nvSpPr>
        <p:spPr>
          <a:xfrm>
            <a:off x="9418320" y="1645920"/>
            <a:ext cx="2103120" cy="1280160"/>
          </a:xfrm>
          <a:prstGeom prst="rect">
            <a:avLst/>
          </a:prstGeom>
          <a:noFill/>
          <a:ln/>
        </p:spPr>
        <p:txBody>
          <a:bodyPr wrap="square" lIns="0" tIns="0" rIns="0" bIns="0" rtlCol="0" anchor="ctr"/>
          <a:lstStyle/>
          <a:p>
            <a:pPr algn="ctr" indent="0" marL="0">
              <a:buNone/>
            </a:pPr>
            <a:r>
              <a:rPr lang="en-US" sz="1400" b="1" dirty="0">
                <a:solidFill>
                  <a:srgbClr val="000000"/>
                </a:solidFill>
                <a:latin typeface="Calibri" pitchFamily="34" charset="0"/>
                <a:ea typeface="Calibri" pitchFamily="34" charset="-122"/>
                <a:cs typeface="Calibri" pitchFamily="34" charset="-120"/>
              </a:rPr>
              <a:t>4. GPU</a:t>
            </a:r>
            <a:endParaRPr lang="en-US" sz="1400" dirty="0"/>
          </a:p>
          <a:p>
            <a:pPr algn="ctr" indent="0" marL="0">
              <a:buNone/>
            </a:pPr>
            <a:r>
              <a:rPr lang="en-US" sz="1150" dirty="0">
                <a:solidFill>
                  <a:srgbClr val="333333"/>
                </a:solidFill>
                <a:latin typeface="Calibri" pitchFamily="34" charset="0"/>
                <a:ea typeface="Calibri" pitchFamily="34" charset="-122"/>
                <a:cs typeface="Calibri" pitchFamily="34" charset="-120"/>
              </a:rPr>
              <a:t>Runs that batch: copy, detect, post-process. One batch at a time</a:t>
            </a:r>
            <a:endParaRPr lang="en-US" sz="1400" dirty="0"/>
          </a:p>
        </p:txBody>
      </p:sp>
      <p:sp>
        <p:nvSpPr>
          <p:cNvPr id="13" name="Shape 11"/>
          <p:cNvSpPr/>
          <p:nvPr/>
        </p:nvSpPr>
        <p:spPr>
          <a:xfrm>
            <a:off x="2834640" y="2286000"/>
            <a:ext cx="640080" cy="0"/>
          </a:xfrm>
          <a:prstGeom prst="line">
            <a:avLst/>
          </a:prstGeom>
          <a:noFill/>
          <a:ln w="22225">
            <a:solidFill>
              <a:srgbClr val="595959"/>
            </a:solidFill>
            <a:prstDash val="solid"/>
            <a:tailEnd type="triangle"/>
          </a:ln>
        </p:spPr>
      </p:sp>
      <p:sp>
        <p:nvSpPr>
          <p:cNvPr id="14" name="Shape 12"/>
          <p:cNvSpPr/>
          <p:nvPr/>
        </p:nvSpPr>
        <p:spPr>
          <a:xfrm>
            <a:off x="5760720" y="2286000"/>
            <a:ext cx="640080" cy="0"/>
          </a:xfrm>
          <a:prstGeom prst="line">
            <a:avLst/>
          </a:prstGeom>
          <a:noFill/>
          <a:ln w="22225">
            <a:solidFill>
              <a:srgbClr val="595959"/>
            </a:solidFill>
            <a:prstDash val="solid"/>
            <a:tailEnd type="triangle"/>
          </a:ln>
        </p:spPr>
      </p:sp>
      <p:sp>
        <p:nvSpPr>
          <p:cNvPr id="15" name="Shape 13"/>
          <p:cNvSpPr/>
          <p:nvPr/>
        </p:nvSpPr>
        <p:spPr>
          <a:xfrm>
            <a:off x="8686800" y="2286000"/>
            <a:ext cx="640080" cy="0"/>
          </a:xfrm>
          <a:prstGeom prst="line">
            <a:avLst/>
          </a:prstGeom>
          <a:noFill/>
          <a:ln w="22225">
            <a:solidFill>
              <a:srgbClr val="595959"/>
            </a:solidFill>
            <a:prstDash val="solid"/>
            <a:tailEnd type="triangle"/>
          </a:ln>
        </p:spPr>
      </p:sp>
      <p:sp>
        <p:nvSpPr>
          <p:cNvPr id="16" name="Shape 14"/>
          <p:cNvSpPr/>
          <p:nvPr/>
        </p:nvSpPr>
        <p:spPr>
          <a:xfrm>
            <a:off x="9326880" y="3931920"/>
            <a:ext cx="2286000" cy="1188720"/>
          </a:xfrm>
          <a:prstGeom prst="rect">
            <a:avLst/>
          </a:prstGeom>
          <a:solidFill>
            <a:srgbClr val="F5F5F5"/>
          </a:solidFill>
          <a:ln w="9525">
            <a:solidFill>
              <a:srgbClr val="D9D9D9"/>
            </a:solidFill>
            <a:prstDash val="solid"/>
          </a:ln>
        </p:spPr>
      </p:sp>
      <p:sp>
        <p:nvSpPr>
          <p:cNvPr id="17" name="Text 15"/>
          <p:cNvSpPr txBox="1"/>
          <p:nvPr/>
        </p:nvSpPr>
        <p:spPr>
          <a:xfrm>
            <a:off x="9418320" y="3977640"/>
            <a:ext cx="2103120" cy="1097280"/>
          </a:xfrm>
          <a:prstGeom prst="rect">
            <a:avLst/>
          </a:prstGeom>
          <a:noFill/>
          <a:ln/>
        </p:spPr>
        <p:txBody>
          <a:bodyPr wrap="square" lIns="0" tIns="0" rIns="0" bIns="0" rtlCol="0" anchor="ctr"/>
          <a:lstStyle/>
          <a:p>
            <a:pPr algn="ctr" indent="0" marL="0">
              <a:buNone/>
            </a:pPr>
            <a:r>
              <a:rPr lang="en-US" sz="1400" b="1" dirty="0">
                <a:solidFill>
                  <a:srgbClr val="000000"/>
                </a:solidFill>
                <a:latin typeface="Calibri" pitchFamily="34" charset="0"/>
                <a:ea typeface="Calibri" pitchFamily="34" charset="-122"/>
                <a:cs typeface="Calibri" pitchFamily="34" charset="-120"/>
              </a:rPr>
              <a:t>5. Results</a:t>
            </a:r>
            <a:endParaRPr lang="en-US" sz="1400" dirty="0"/>
          </a:p>
          <a:p>
            <a:pPr algn="ctr" indent="0" marL="0">
              <a:buNone/>
            </a:pPr>
            <a:r>
              <a:rPr lang="en-US" sz="1150" dirty="0">
                <a:solidFill>
                  <a:srgbClr val="333333"/>
                </a:solidFill>
                <a:latin typeface="Calibri" pitchFamily="34" charset="0"/>
                <a:ea typeface="Calibri" pitchFamily="34" charset="-122"/>
                <a:cs typeface="Calibri" pitchFamily="34" charset="-120"/>
              </a:rPr>
              <a:t>Latency, deadline hits, drops, energy per request</a:t>
            </a:r>
            <a:endParaRPr lang="en-US" sz="1400" dirty="0"/>
          </a:p>
        </p:txBody>
      </p:sp>
      <p:sp>
        <p:nvSpPr>
          <p:cNvPr id="18" name="Shape 16"/>
          <p:cNvSpPr/>
          <p:nvPr/>
        </p:nvSpPr>
        <p:spPr>
          <a:xfrm>
            <a:off x="6400800" y="3931920"/>
            <a:ext cx="2286000" cy="1188720"/>
          </a:xfrm>
          <a:prstGeom prst="rect">
            <a:avLst/>
          </a:prstGeom>
          <a:solidFill>
            <a:srgbClr val="F5F5F5"/>
          </a:solidFill>
          <a:ln w="9525">
            <a:solidFill>
              <a:srgbClr val="D9D9D9"/>
            </a:solidFill>
            <a:prstDash val="solid"/>
          </a:ln>
        </p:spPr>
      </p:sp>
      <p:sp>
        <p:nvSpPr>
          <p:cNvPr id="19" name="Text 17"/>
          <p:cNvSpPr txBox="1"/>
          <p:nvPr/>
        </p:nvSpPr>
        <p:spPr>
          <a:xfrm>
            <a:off x="6492240" y="3977640"/>
            <a:ext cx="2103120" cy="1097280"/>
          </a:xfrm>
          <a:prstGeom prst="rect">
            <a:avLst/>
          </a:prstGeom>
          <a:noFill/>
          <a:ln/>
        </p:spPr>
        <p:txBody>
          <a:bodyPr wrap="square" lIns="0" tIns="0" rIns="0" bIns="0" rtlCol="0" anchor="ctr"/>
          <a:lstStyle/>
          <a:p>
            <a:pPr algn="ctr" indent="0" marL="0">
              <a:buNone/>
            </a:pPr>
            <a:r>
              <a:rPr lang="en-US" sz="1400" b="1" dirty="0">
                <a:solidFill>
                  <a:srgbClr val="000000"/>
                </a:solidFill>
                <a:latin typeface="Calibri" pitchFamily="34" charset="0"/>
                <a:ea typeface="Calibri" pitchFamily="34" charset="-122"/>
                <a:cs typeface="Calibri" pitchFamily="34" charset="-120"/>
              </a:rPr>
              <a:t>Power meter</a:t>
            </a:r>
            <a:endParaRPr lang="en-US" sz="1400" dirty="0"/>
          </a:p>
          <a:p>
            <a:pPr algn="ctr" indent="0" marL="0">
              <a:buNone/>
            </a:pPr>
            <a:r>
              <a:rPr lang="en-US" sz="1150" dirty="0">
                <a:solidFill>
                  <a:srgbClr val="333333"/>
                </a:solidFill>
                <a:latin typeface="Calibri" pitchFamily="34" charset="0"/>
                <a:ea typeface="Calibri" pitchFamily="34" charset="-122"/>
                <a:cs typeface="Calibri" pitchFamily="34" charset="-120"/>
              </a:rPr>
              <a:t>Board power read about 8 times a second, summed over the run</a:t>
            </a:r>
            <a:endParaRPr lang="en-US" sz="1400" dirty="0"/>
          </a:p>
        </p:txBody>
      </p:sp>
      <p:sp>
        <p:nvSpPr>
          <p:cNvPr id="20" name="Shape 18"/>
          <p:cNvSpPr/>
          <p:nvPr/>
        </p:nvSpPr>
        <p:spPr>
          <a:xfrm>
            <a:off x="10469880" y="2971800"/>
            <a:ext cx="0" cy="960120"/>
          </a:xfrm>
          <a:prstGeom prst="line">
            <a:avLst/>
          </a:prstGeom>
          <a:noFill/>
          <a:ln w="22225">
            <a:solidFill>
              <a:srgbClr val="595959"/>
            </a:solidFill>
            <a:prstDash val="solid"/>
            <a:tailEnd type="triangle"/>
          </a:ln>
        </p:spPr>
      </p:sp>
      <p:sp>
        <p:nvSpPr>
          <p:cNvPr id="21" name="Shape 19"/>
          <p:cNvSpPr/>
          <p:nvPr/>
        </p:nvSpPr>
        <p:spPr>
          <a:xfrm>
            <a:off x="8686800" y="4526280"/>
            <a:ext cx="640080" cy="0"/>
          </a:xfrm>
          <a:prstGeom prst="line">
            <a:avLst/>
          </a:prstGeom>
          <a:noFill/>
          <a:ln w="22225">
            <a:solidFill>
              <a:srgbClr val="595959"/>
            </a:solidFill>
            <a:prstDash val="solid"/>
            <a:tailEnd type="triangle"/>
          </a:ln>
        </p:spPr>
      </p:sp>
      <p:sp>
        <p:nvSpPr>
          <p:cNvPr id="22" name="Text 20"/>
          <p:cNvSpPr txBox="1"/>
          <p:nvPr/>
        </p:nvSpPr>
        <p:spPr>
          <a:xfrm>
            <a:off x="6400800" y="3063240"/>
            <a:ext cx="2743200" cy="457200"/>
          </a:xfrm>
          <a:prstGeom prst="rect">
            <a:avLst/>
          </a:prstGeom>
          <a:noFill/>
          <a:ln/>
        </p:spPr>
        <p:txBody>
          <a:bodyPr wrap="square" lIns="0" tIns="0" rIns="0" bIns="0" rtlCol="0" anchor="t"/>
          <a:lstStyle/>
          <a:p>
            <a:pPr indent="0" marL="0">
              <a:buNone/>
            </a:pPr>
            <a:r>
              <a:rPr lang="en-US" sz="1100" i="1" dirty="0">
                <a:solidFill>
                  <a:srgbClr val="595959"/>
                </a:solidFill>
                <a:latin typeface="Calibri" pitchFamily="34" charset="0"/>
                <a:ea typeface="Calibri" pitchFamily="34" charset="-122"/>
                <a:cs typeface="Calibri" pitchFamily="34" charset="-120"/>
              </a:rPr>
              <a:t>When the batch finishes, the policy decides again.</a:t>
            </a:r>
            <a:endParaRPr lang="en-US" sz="1100" dirty="0"/>
          </a:p>
        </p:txBody>
      </p:sp>
      <p:sp>
        <p:nvSpPr>
          <p:cNvPr id="23" name="Text 21"/>
          <p:cNvSpPr txBox="1"/>
          <p:nvPr/>
        </p:nvSpPr>
        <p:spPr>
          <a:xfrm>
            <a:off x="548640" y="3611880"/>
            <a:ext cx="5486400" cy="1828800"/>
          </a:xfrm>
          <a:prstGeom prst="rect">
            <a:avLst/>
          </a:prstGeom>
          <a:noFill/>
          <a:ln/>
        </p:spPr>
        <p:txBody>
          <a:bodyPr wrap="square" lIns="0" tIns="0" rIns="0" bIns="0" rtlCol="0" anchor="t"/>
          <a:lstStyle/>
          <a:p>
            <a:pPr indent="0" marL="0">
              <a:spcAft>
                <a:spcPts val="400"/>
              </a:spcAft>
              <a:buNone/>
            </a:pPr>
            <a:r>
              <a:rPr lang="en-US" sz="1250" b="1" dirty="0">
                <a:solidFill>
                  <a:srgbClr val="000000"/>
                </a:solidFill>
                <a:latin typeface="Calibri" pitchFamily="34" charset="0"/>
                <a:ea typeface="Calibri" pitchFamily="34" charset="-122"/>
                <a:cs typeface="Calibri" pitchFamily="34" charset="-120"/>
              </a:rPr>
              <a:t>Held fixed</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Board: Jetson AGX Xavier, 15 W mode, clocks locked</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Models: YOLOv8 n, s, m, l (FP16), all loaded in memory</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Each run: 15 s warm-up, 120 s measured, then drain</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Deadline: one value per run (150, 600 or 2400 ms)</a:t>
            </a:r>
            <a:endParaRPr lang="en-US" sz="1250" dirty="0"/>
          </a:p>
        </p:txBody>
      </p:sp>
      <p:sp>
        <p:nvSpPr>
          <p:cNvPr id="24" name="Text 22"/>
          <p:cNvSpPr txBox="1"/>
          <p:nvPr/>
        </p:nvSpPr>
        <p:spPr>
          <a:xfrm>
            <a:off x="548640" y="5760720"/>
            <a:ext cx="11064240" cy="640080"/>
          </a:xfrm>
          <a:prstGeom prst="rect">
            <a:avLst/>
          </a:prstGeom>
          <a:noFill/>
          <a:ln/>
        </p:spPr>
        <p:txBody>
          <a:bodyPr wrap="square" lIns="0" tIns="0" rIns="0" bIns="0" rtlCol="0" anchor="t"/>
          <a:lstStyle/>
          <a:p>
            <a:pPr indent="0" marL="0">
              <a:buNone/>
            </a:pPr>
            <a:r>
              <a:rPr lang="en-US" sz="1300" b="1" dirty="0">
                <a:solidFill>
                  <a:srgbClr val="000000"/>
                </a:solidFill>
                <a:latin typeface="Calibri" pitchFamily="34" charset="0"/>
                <a:ea typeface="Calibri" pitchFamily="34" charset="-122"/>
                <a:cs typeface="Calibri" pitchFamily="34" charset="-120"/>
              </a:rPr>
              <a:t>Takeaway. </a:t>
            </a:r>
            <a:pPr indent="0" marL="0">
              <a:buNone/>
            </a:pPr>
            <a:r>
              <a:rPr lang="en-US" sz="1300" dirty="0">
                <a:solidFill>
                  <a:srgbClr val="000000"/>
                </a:solidFill>
                <a:latin typeface="Calibri" pitchFamily="34" charset="0"/>
                <a:ea typeface="Calibri" pitchFamily="34" charset="-122"/>
                <a:cs typeface="Calibri" pitchFamily="34" charset="-120"/>
              </a:rPr>
              <a:t>Only box 3 changes between experiments, so any difference in the results comes from the policy.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863840" y="109728"/>
            <a:ext cx="374904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PART 1  |  HARNESS</a:t>
            </a:r>
            <a:endParaRPr lang="en-US" sz="1000" dirty="0"/>
          </a:p>
        </p:txBody>
      </p:sp>
      <p:sp>
        <p:nvSpPr>
          <p:cNvPr id="3" name="Text 1"/>
          <p:cNvSpPr txBox="1"/>
          <p:nvPr/>
        </p:nvSpPr>
        <p:spPr>
          <a:xfrm>
            <a:off x="548640" y="365760"/>
            <a:ext cx="11064240" cy="594360"/>
          </a:xfrm>
          <a:prstGeom prst="rect">
            <a:avLst/>
          </a:prstGeom>
          <a:noFill/>
          <a:ln/>
        </p:spPr>
        <p:txBody>
          <a:bodyPr wrap="square" lIns="0" tIns="0" rIns="0" bIns="0" rtlCol="0" anchor="t"/>
          <a:lstStyle/>
          <a:p>
            <a:pPr indent="0" marL="0">
              <a:buNone/>
            </a:pPr>
            <a:r>
              <a:rPr lang="en-US" sz="2600" b="1" dirty="0">
                <a:solidFill>
                  <a:srgbClr val="000000"/>
                </a:solidFill>
                <a:latin typeface="Calibri" pitchFamily="34" charset="0"/>
                <a:ea typeface="Calibri" pitchFamily="34" charset="-122"/>
                <a:cs typeface="Calibri" pitchFamily="34" charset="-120"/>
              </a:rPr>
              <a:t>How arrivals are modelled</a:t>
            </a:r>
            <a:endParaRPr lang="en-US" sz="2600" dirty="0"/>
          </a:p>
        </p:txBody>
      </p:sp>
      <p:sp>
        <p:nvSpPr>
          <p:cNvPr id="4" name="Text 2"/>
          <p:cNvSpPr txBox="1"/>
          <p:nvPr/>
        </p:nvSpPr>
        <p:spPr>
          <a:xfrm>
            <a:off x="548640" y="914400"/>
            <a:ext cx="11064240" cy="36576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Random requests at a fixed average rate, split across the four models by a traffic mix</a:t>
            </a:r>
            <a:endParaRPr lang="en-US" sz="1300" dirty="0"/>
          </a:p>
        </p:txBody>
      </p:sp>
      <p:graphicFrame>
        <p:nvGraphicFramePr>
          <p:cNvPr id="5" name="Chart 0" descr=""/>
          <p:cNvGraphicFramePr/>
          <p:nvPr/>
        </p:nvGraphicFramePr>
        <p:xfrm>
          <a:off x="548640" y="1417320"/>
          <a:ext cx="658368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406640" y="1463040"/>
          <a:ext cx="4206240" cy="914400"/>
        </p:xfrm>
        <a:graphic>
          <a:graphicData uri="http://schemas.openxmlformats.org/drawingml/2006/table">
            <a:tbl>
              <a:tblPr/>
              <a:tblGrid>
                <a:gridCol w="868680"/>
                <a:gridCol w="3337560"/>
              </a:tblGrid>
              <a:tr h="320040">
                <a:tc>
                  <a:txBody>
                    <a:bodyPr/>
                    <a:lstStyle/>
                    <a:p>
                      <a:pPr algn="l" indent="0" marL="0">
                        <a:buNone/>
                      </a:pPr>
                      <a:r>
                        <a:rPr lang="en-US" sz="1100" b="1" dirty="0">
                          <a:solidFill>
                            <a:srgbClr val="000000"/>
                          </a:solidFill>
                          <a:latin typeface="Calibri" pitchFamily="34" charset="0"/>
                          <a:ea typeface="Calibri" pitchFamily="34" charset="-122"/>
                          <a:cs typeface="Calibri" pitchFamily="34" charset="-120"/>
                        </a:rPr>
                        <a:t>Step</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l" indent="0" marL="0">
                        <a:buNone/>
                      </a:pPr>
                      <a:r>
                        <a:rPr lang="en-US" sz="1100" b="1" dirty="0">
                          <a:solidFill>
                            <a:srgbClr val="000000"/>
                          </a:solidFill>
                          <a:latin typeface="Calibri" pitchFamily="34" charset="0"/>
                          <a:ea typeface="Calibri" pitchFamily="34" charset="-122"/>
                          <a:cs typeface="Calibri" pitchFamily="34" charset="-120"/>
                        </a:rPr>
                        <a:t>How it works</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r>
              <a:tr h="685800">
                <a:tc>
                  <a:txBody>
                    <a:bodyPr/>
                    <a:lstStyle/>
                    <a:p>
                      <a:pPr algn="l" indent="0" marL="0">
                        <a:buNone/>
                      </a:pPr>
                      <a:r>
                        <a:rPr lang="en-US" sz="1100" b="1" dirty="0">
                          <a:solidFill>
                            <a:srgbClr val="000000"/>
                          </a:solidFill>
                          <a:latin typeface="Calibri" pitchFamily="34" charset="0"/>
                          <a:ea typeface="Calibri" pitchFamily="34" charset="-122"/>
                          <a:cs typeface="Calibri" pitchFamily="34" charset="-120"/>
                        </a:rPr>
                        <a:t>Rate</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Total load Λ in req/s (8, 16, 24 or 36); queue i gets rate Λ × its share in the mix</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685800">
                <a:tc>
                  <a:txBody>
                    <a:bodyPr/>
                    <a:lstStyle/>
                    <a:p>
                      <a:pPr algn="l" indent="0" marL="0">
                        <a:buNone/>
                      </a:pPr>
                      <a:r>
                        <a:rPr lang="en-US" sz="1100" b="1" dirty="0">
                          <a:solidFill>
                            <a:srgbClr val="000000"/>
                          </a:solidFill>
                          <a:latin typeface="Calibri" pitchFamily="34" charset="0"/>
                          <a:ea typeface="Calibri" pitchFamily="34" charset="-122"/>
                          <a:cs typeface="Calibri" pitchFamily="34" charset="-120"/>
                        </a:rPr>
                        <a:t>Timing</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Poisson process per queue: gaps between requests are exponential with mean 1 / rate</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48640">
                <a:tc>
                  <a:txBody>
                    <a:bodyPr/>
                    <a:lstStyle/>
                    <a:p>
                      <a:pPr algn="l" indent="0" marL="0">
                        <a:buNone/>
                      </a:pPr>
                      <a:r>
                        <a:rPr lang="en-US" sz="1100" b="1" dirty="0">
                          <a:solidFill>
                            <a:srgbClr val="000000"/>
                          </a:solidFill>
                          <a:latin typeface="Calibri" pitchFamily="34" charset="0"/>
                          <a:ea typeface="Calibri" pitchFamily="34" charset="-122"/>
                          <a:cs typeface="Calibri" pitchFamily="34" charset="-120"/>
                        </a:rPr>
                        <a:t>Input</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Each request picks a random image from a fixed pool of sample images</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48640">
                <a:tc>
                  <a:txBody>
                    <a:bodyPr/>
                    <a:lstStyle/>
                    <a:p>
                      <a:pPr algn="l" indent="0" marL="0">
                        <a:buNone/>
                      </a:pPr>
                      <a:r>
                        <a:rPr lang="en-US" sz="1100" b="1" dirty="0">
                          <a:solidFill>
                            <a:srgbClr val="000000"/>
                          </a:solidFill>
                          <a:latin typeface="Calibri" pitchFamily="34" charset="0"/>
                          <a:ea typeface="Calibri" pitchFamily="34" charset="-122"/>
                          <a:cs typeface="Calibri" pitchFamily="34" charset="-120"/>
                        </a:rPr>
                        <a:t>Deadline</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Arrival time plus the run's deadline (150, 600 or 2400 ms)</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777240">
                <a:tc>
                  <a:txBody>
                    <a:bodyPr/>
                    <a:lstStyle/>
                    <a:p>
                      <a:pPr algn="l" indent="0" marL="0">
                        <a:buNone/>
                      </a:pPr>
                      <a:r>
                        <a:rPr lang="en-US" sz="1100" b="1" dirty="0">
                          <a:solidFill>
                            <a:srgbClr val="000000"/>
                          </a:solidFill>
                          <a:latin typeface="Calibri" pitchFamily="34" charset="0"/>
                          <a:ea typeface="Calibri" pitchFamily="34" charset="-122"/>
                          <a:cs typeface="Calibri" pitchFamily="34" charset="-120"/>
                        </a:rPr>
                        <a:t>Seed</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Fixed seed gives the identical request list for every policy, so policies see the same traffic</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5760720"/>
            <a:ext cx="11064240" cy="640080"/>
          </a:xfrm>
          <a:prstGeom prst="rect">
            <a:avLst/>
          </a:prstGeom>
          <a:noFill/>
          <a:ln/>
        </p:spPr>
        <p:txBody>
          <a:bodyPr wrap="square" lIns="0" tIns="0" rIns="0" bIns="0" rtlCol="0" anchor="t"/>
          <a:lstStyle/>
          <a:p>
            <a:pPr indent="0" marL="0">
              <a:buNone/>
            </a:pPr>
            <a:r>
              <a:rPr lang="en-US" sz="1300" b="1" dirty="0">
                <a:solidFill>
                  <a:srgbClr val="000000"/>
                </a:solidFill>
                <a:latin typeface="Calibri" pitchFamily="34" charset="0"/>
                <a:ea typeface="Calibri" pitchFamily="34" charset="-122"/>
                <a:cs typeface="Calibri" pitchFamily="34" charset="-120"/>
              </a:rPr>
              <a:t>Takeaway. </a:t>
            </a:r>
            <a:pPr indent="0" marL="0">
              <a:buNone/>
            </a:pPr>
            <a:r>
              <a:rPr lang="en-US" sz="1300" dirty="0">
                <a:solidFill>
                  <a:srgbClr val="000000"/>
                </a:solidFill>
                <a:latin typeface="Calibri" pitchFamily="34" charset="0"/>
                <a:ea typeface="Calibri" pitchFamily="34" charset="-122"/>
                <a:cs typeface="Calibri" pitchFamily="34" charset="-120"/>
              </a:rPr>
              <a:t>Capacity is the rate the board could serve if every batch were full (size 16); it falls as the mix leans toward the heavy model, so 16 req/s is well under capacity on n85 and above it on l85.</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863840" y="109728"/>
            <a:ext cx="374904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PART 1  |  HARNESS</a:t>
            </a:r>
            <a:endParaRPr lang="en-US" sz="1000" dirty="0"/>
          </a:p>
        </p:txBody>
      </p:sp>
      <p:sp>
        <p:nvSpPr>
          <p:cNvPr id="3" name="Text 1"/>
          <p:cNvSpPr txBox="1"/>
          <p:nvPr/>
        </p:nvSpPr>
        <p:spPr>
          <a:xfrm>
            <a:off x="548640" y="365760"/>
            <a:ext cx="11064240" cy="594360"/>
          </a:xfrm>
          <a:prstGeom prst="rect">
            <a:avLst/>
          </a:prstGeom>
          <a:noFill/>
          <a:ln/>
        </p:spPr>
        <p:txBody>
          <a:bodyPr wrap="square" lIns="0" tIns="0" rIns="0" bIns="0" rtlCol="0" anchor="t"/>
          <a:lstStyle/>
          <a:p>
            <a:pPr indent="0" marL="0">
              <a:buNone/>
            </a:pPr>
            <a:r>
              <a:rPr lang="en-US" sz="2600" b="1" dirty="0">
                <a:solidFill>
                  <a:srgbClr val="000000"/>
                </a:solidFill>
                <a:latin typeface="Calibri" pitchFamily="34" charset="0"/>
                <a:ea typeface="Calibri" pitchFamily="34" charset="-122"/>
                <a:cs typeface="Calibri" pitchFamily="34" charset="-120"/>
              </a:rPr>
              <a:t>Batch time is linear in b: batching saves the fixed term only</a:t>
            </a:r>
            <a:endParaRPr lang="en-US" sz="2600" dirty="0"/>
          </a:p>
        </p:txBody>
      </p:sp>
      <p:sp>
        <p:nvSpPr>
          <p:cNvPr id="4" name="Text 2"/>
          <p:cNvSpPr txBox="1"/>
          <p:nvPr/>
        </p:nvSpPr>
        <p:spPr>
          <a:xfrm>
            <a:off x="548640" y="914400"/>
            <a:ext cx="11064240" cy="36576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Measured on the board before the runs: median time of 100 batches per model and size (after 20 warm-up batches), copy + detect + post-process; line fit a + c·b</a:t>
            </a:r>
            <a:endParaRPr lang="en-US" sz="1300" dirty="0"/>
          </a:p>
        </p:txBody>
      </p:sp>
      <p:graphicFrame>
        <p:nvGraphicFramePr>
          <p:cNvPr id="5" name="Chart 0" descr=""/>
          <p:cNvGraphicFramePr/>
          <p:nvPr/>
        </p:nvGraphicFramePr>
        <p:xfrm>
          <a:off x="548640" y="1417320"/>
          <a:ext cx="676656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589520" y="1554480"/>
          <a:ext cx="4023360" cy="914400"/>
        </p:xfrm>
        <a:graphic>
          <a:graphicData uri="http://schemas.openxmlformats.org/drawingml/2006/table">
            <a:tbl>
              <a:tblPr/>
              <a:tblGrid>
                <a:gridCol w="868680"/>
                <a:gridCol w="1097280"/>
                <a:gridCol w="731520"/>
                <a:gridCol w="777240"/>
                <a:gridCol w="548640"/>
              </a:tblGrid>
              <a:tr h="384048">
                <a:tc>
                  <a:txBody>
                    <a:bodyPr/>
                    <a:lstStyle/>
                    <a:p>
                      <a:pPr algn="l" indent="0" marL="0">
                        <a:buNone/>
                      </a:pPr>
                      <a:r>
                        <a:rPr lang="en-US" sz="1100" b="1" dirty="0">
                          <a:solidFill>
                            <a:srgbClr val="000000"/>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a + c·b (ms)</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ms/frame, b=1</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ms/frame, b=16</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saving</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r>
              <a:tr h="384048">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yolov8n</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9 + 15·b</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21.9</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15.5</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-29%</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yolov8s</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14 + 25.4·b</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36</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26.3</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-27%</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yolov8m</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20.8 + 52.8·b</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71.7</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54</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yolov8l</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31.8 + 80.9·b</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109.9</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82.7</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7589520" y="3749040"/>
            <a:ext cx="4023360" cy="1463040"/>
          </a:xfrm>
          <a:prstGeom prst="rect">
            <a:avLst/>
          </a:prstGeom>
          <a:noFill/>
          <a:ln/>
        </p:spPr>
        <p:txBody>
          <a:bodyPr wrap="square" lIns="0" tIns="0" rIns="0" bIns="0" rtlCol="0" anchor="t"/>
          <a:lstStyle/>
          <a:p>
            <a:pPr indent="0" marL="0">
              <a:buNone/>
            </a:pPr>
            <a:r>
              <a:rPr lang="en-US" sz="1200" dirty="0">
                <a:solidFill>
                  <a:srgbClr val="595959"/>
                </a:solidFill>
                <a:latin typeface="Calibri" pitchFamily="34" charset="0"/>
                <a:ea typeface="Calibri" pitchFamily="34" charset="-122"/>
                <a:cs typeface="Calibri" pitchFamily="34" charset="-120"/>
              </a:rPr>
              <a:t>Capacity at b up to 16: 22.4 req/s for the balanced mix, 27.5 req/s for the skewed mix. Sizes between the measured ones (5, 7, 9...) were not measured; they run slower than this fit.</a:t>
            </a:r>
            <a:endParaRPr lang="en-US" sz="1200" dirty="0"/>
          </a:p>
        </p:txBody>
      </p:sp>
      <p:sp>
        <p:nvSpPr>
          <p:cNvPr id="8" name="Text 4"/>
          <p:cNvSpPr txBox="1"/>
          <p:nvPr/>
        </p:nvSpPr>
        <p:spPr>
          <a:xfrm>
            <a:off x="548640" y="5806440"/>
            <a:ext cx="11064240" cy="640080"/>
          </a:xfrm>
          <a:prstGeom prst="rect">
            <a:avLst/>
          </a:prstGeom>
          <a:noFill/>
          <a:ln/>
        </p:spPr>
        <p:txBody>
          <a:bodyPr wrap="square" lIns="0" tIns="0" rIns="0" bIns="0" rtlCol="0" anchor="t"/>
          <a:lstStyle/>
          <a:p>
            <a:pPr indent="0" marL="0">
              <a:buNone/>
            </a:pPr>
            <a:r>
              <a:rPr lang="en-US" sz="1300" b="1" dirty="0">
                <a:solidFill>
                  <a:srgbClr val="000000"/>
                </a:solidFill>
                <a:latin typeface="Calibri" pitchFamily="34" charset="0"/>
                <a:ea typeface="Calibri" pitchFamily="34" charset="-122"/>
                <a:cs typeface="Calibri" pitchFamily="34" charset="-120"/>
              </a:rPr>
              <a:t>Takeaway. </a:t>
            </a:r>
            <a:pPr indent="0" marL="0">
              <a:buNone/>
            </a:pPr>
            <a:r>
              <a:rPr lang="en-US" sz="1300" dirty="0">
                <a:solidFill>
                  <a:srgbClr val="000000"/>
                </a:solidFill>
                <a:latin typeface="Calibri" pitchFamily="34" charset="0"/>
                <a:ea typeface="Calibri" pitchFamily="34" charset="-122"/>
                <a:cs typeface="Calibri" pitchFamily="34" charset="-120"/>
              </a:rPr>
              <a:t>Batching removes 25 to 29% of the per-frame time and no more, so the headroom for batching on this board is smaller than a size-independent-cost model predicts.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863840" y="109728"/>
            <a:ext cx="374904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PART 1  |  HARNESS</a:t>
            </a:r>
            <a:endParaRPr lang="en-US" sz="1000" dirty="0"/>
          </a:p>
        </p:txBody>
      </p:sp>
      <p:sp>
        <p:nvSpPr>
          <p:cNvPr id="3" name="Text 1"/>
          <p:cNvSpPr txBox="1"/>
          <p:nvPr/>
        </p:nvSpPr>
        <p:spPr>
          <a:xfrm>
            <a:off x="548640" y="365760"/>
            <a:ext cx="11064240" cy="594360"/>
          </a:xfrm>
          <a:prstGeom prst="rect">
            <a:avLst/>
          </a:prstGeom>
          <a:noFill/>
          <a:ln/>
        </p:spPr>
        <p:txBody>
          <a:bodyPr wrap="square" lIns="0" tIns="0" rIns="0" bIns="0" rtlCol="0" anchor="t"/>
          <a:lstStyle/>
          <a:p>
            <a:pPr indent="0" marL="0">
              <a:buNone/>
            </a:pPr>
            <a:r>
              <a:rPr lang="en-US" sz="2600" b="1" dirty="0">
                <a:solidFill>
                  <a:srgbClr val="000000"/>
                </a:solidFill>
                <a:latin typeface="Calibri" pitchFamily="34" charset="0"/>
                <a:ea typeface="Calibri" pitchFamily="34" charset="-122"/>
                <a:cs typeface="Calibri" pitchFamily="34" charset="-120"/>
              </a:rPr>
              <a:t>Energy against batch size: per batch and per frame</a:t>
            </a:r>
            <a:endParaRPr lang="en-US" sz="2600" dirty="0"/>
          </a:p>
        </p:txBody>
      </p:sp>
      <p:sp>
        <p:nvSpPr>
          <p:cNvPr id="4" name="Text 2"/>
          <p:cNvSpPr txBox="1"/>
          <p:nvPr/>
        </p:nvSpPr>
        <p:spPr>
          <a:xfrm>
            <a:off x="548640" y="914400"/>
            <a:ext cx="11064240" cy="36576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Board energy while a batch runs, estimated from the 682 runs (not a direct calibration measurement)</a:t>
            </a:r>
            <a:endParaRPr lang="en-US" sz="1300" dirty="0"/>
          </a:p>
        </p:txBody>
      </p:sp>
      <p:graphicFrame>
        <p:nvGraphicFramePr>
          <p:cNvPr id="5" name="Chart 0" descr=""/>
          <p:cNvGraphicFramePr/>
          <p:nvPr/>
        </p:nvGraphicFramePr>
        <p:xfrm>
          <a:off x="548640" y="1417320"/>
          <a:ext cx="5486400" cy="36576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217920" y="1417320"/>
          <a:ext cx="5394960" cy="365760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548640" y="5120640"/>
            <a:ext cx="11064240" cy="640080"/>
          </a:xfrm>
          <a:prstGeom prst="rect">
            <a:avLst/>
          </a:prstGeom>
          <a:noFill/>
          <a:ln/>
        </p:spPr>
        <p:txBody>
          <a:bodyPr wrap="square" lIns="0" tIns="0" rIns="0" bIns="0" rtlCol="0" anchor="t"/>
          <a:lstStyle/>
          <a:p>
            <a:pPr indent="0" marL="0">
              <a:buNone/>
            </a:pPr>
            <a:r>
              <a:rPr lang="en-US" sz="1200" dirty="0">
                <a:solidFill>
                  <a:srgbClr val="595959"/>
                </a:solidFill>
                <a:latin typeface="Calibri" pitchFamily="34" charset="0"/>
                <a:ea typeface="Calibri" pitchFamily="34" charset="-122"/>
                <a:cs typeface="Calibri" pitchFamily="34" charset="-120"/>
              </a:rPr>
              <a:t>Method: whole-run board energy (power log) is fitted against the number of batches and frames of each model in the batch log. Each batch costs a fixed part (the launch time a at one shared power) plus a per-frame part. Board power is the total without the 5 V system rail; the board's own idle draw (about 4 W) is not counted in the batch.</a:t>
            </a:r>
            <a:endParaRPr lang="en-US" sz="1200" dirty="0"/>
          </a:p>
        </p:txBody>
      </p:sp>
      <p:sp>
        <p:nvSpPr>
          <p:cNvPr id="8" name="Text 4"/>
          <p:cNvSpPr txBox="1"/>
          <p:nvPr/>
        </p:nvSpPr>
        <p:spPr>
          <a:xfrm>
            <a:off x="548640" y="5852160"/>
            <a:ext cx="11064240" cy="640080"/>
          </a:xfrm>
          <a:prstGeom prst="rect">
            <a:avLst/>
          </a:prstGeom>
          <a:noFill/>
          <a:ln/>
        </p:spPr>
        <p:txBody>
          <a:bodyPr wrap="square" lIns="0" tIns="0" rIns="0" bIns="0" rtlCol="0" anchor="t"/>
          <a:lstStyle/>
          <a:p>
            <a:pPr indent="0" marL="0">
              <a:buNone/>
            </a:pPr>
            <a:r>
              <a:rPr lang="en-US" sz="1300" b="1" dirty="0">
                <a:solidFill>
                  <a:srgbClr val="000000"/>
                </a:solidFill>
                <a:latin typeface="Calibri" pitchFamily="34" charset="0"/>
                <a:ea typeface="Calibri" pitchFamily="34" charset="-122"/>
                <a:cs typeface="Calibri" pitchFamily="34" charset="-120"/>
              </a:rPr>
              <a:t>Takeaway. </a:t>
            </a:r>
            <a:pPr indent="0" marL="0">
              <a:buNone/>
            </a:pPr>
            <a:r>
              <a:rPr lang="en-US" sz="1300" dirty="0">
                <a:solidFill>
                  <a:srgbClr val="000000"/>
                </a:solidFill>
                <a:latin typeface="Calibri" pitchFamily="34" charset="0"/>
                <a:ea typeface="Calibri" pitchFamily="34" charset="-122"/>
                <a:cs typeface="Calibri" pitchFamily="34" charset="-120"/>
              </a:rPr>
              <a:t>Energy per frame falls 27% (n), 24% (s), 17% (m) and 16% (l) from b = 1 to 16, no larger than the time saved (29 to 25%), and most of it comes by b = 8.</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863840" y="109728"/>
            <a:ext cx="374904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PART 2  |  POLICIES</a:t>
            </a:r>
            <a:endParaRPr lang="en-US" sz="1000" dirty="0"/>
          </a:p>
        </p:txBody>
      </p:sp>
      <p:sp>
        <p:nvSpPr>
          <p:cNvPr id="3" name="Text 1"/>
          <p:cNvSpPr txBox="1"/>
          <p:nvPr/>
        </p:nvSpPr>
        <p:spPr>
          <a:xfrm>
            <a:off x="548640" y="365760"/>
            <a:ext cx="11064240" cy="594360"/>
          </a:xfrm>
          <a:prstGeom prst="rect">
            <a:avLst/>
          </a:prstGeom>
          <a:noFill/>
          <a:ln/>
        </p:spPr>
        <p:txBody>
          <a:bodyPr wrap="square" lIns="0" tIns="0" rIns="0" bIns="0" rtlCol="0" anchor="t"/>
          <a:lstStyle/>
          <a:p>
            <a:pPr indent="0" marL="0">
              <a:buNone/>
            </a:pPr>
            <a:r>
              <a:rPr lang="en-US" sz="2600" b="1" dirty="0">
                <a:solidFill>
                  <a:srgbClr val="000000"/>
                </a:solidFill>
                <a:latin typeface="Calibri" pitchFamily="34" charset="0"/>
                <a:ea typeface="Calibri" pitchFamily="34" charset="-122"/>
                <a:cs typeface="Calibri" pitchFamily="34" charset="-120"/>
              </a:rPr>
              <a:t>Three policies on one GPU: two from the literature, one inspired by it</a:t>
            </a:r>
            <a:endParaRPr lang="en-US" sz="2600" dirty="0"/>
          </a:p>
        </p:txBody>
      </p:sp>
      <p:sp>
        <p:nvSpPr>
          <p:cNvPr id="4" name="Text 2"/>
          <p:cNvSpPr txBox="1"/>
          <p:nvPr/>
        </p:nvSpPr>
        <p:spPr>
          <a:xfrm>
            <a:off x="548640" y="914400"/>
            <a:ext cx="11064240" cy="36576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Read from the papers: EdgeServing (arXiv 2605.05527), Clockwork (OSDI 2020), Symphony (arXiv 2308.07470)</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463040"/>
                <a:gridCol w="3749040"/>
                <a:gridCol w="1188720"/>
                <a:gridCol w="822960"/>
                <a:gridCol w="3840480"/>
              </a:tblGrid>
              <a:tr h="41148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Policy</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Core idea</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Waits?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Drops?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What I changed</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r>
              <a:tr h="82296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Greedy-2D (EdgeServing-inspired)</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Picks queue and batch size by an urgency score summed over every queued job</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Paper picks model, exit layer and depth; the exit knob is removed, leaving (queue, batch size). Not EdgeServing itself</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82296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Clockwork</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Earliest latest-start first; largest batch the oldest deadline allows; cancels hopeless requests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INFER only; static p99 service times; batch sizes 1, 2, 4, 8, 16; no load/unload</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82296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Symphony</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Holds each queue until the last moment to grow the batch; serves the smallest latest-start</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yes, on purpose</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One GPU, four queues; calibrated batch sizes only; static p99 service times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4572000"/>
            <a:ext cx="11064240" cy="914400"/>
          </a:xfrm>
          <a:prstGeom prst="rect">
            <a:avLst/>
          </a:prstGeom>
          <a:noFill/>
          <a:ln/>
        </p:spPr>
        <p:txBody>
          <a:bodyPr wrap="square" lIns="0" tIns="0" rIns="0" bIns="0" rtlCol="0" anchor="t"/>
          <a:lstStyle/>
          <a:p>
            <a:pPr indent="0" marL="0">
              <a:buNone/>
            </a:pPr>
            <a:r>
              <a:rPr lang="en-US" sz="1200" dirty="0">
                <a:solidFill>
                  <a:srgbClr val="595959"/>
                </a:solidFill>
                <a:latin typeface="Calibri" pitchFamily="34" charset="0"/>
                <a:ea typeface="Calibri" pitchFamily="34" charset="-122"/>
                <a:cs typeface="Calibri" pitchFamily="34" charset="-120"/>
              </a:rPr>
              <a:t>Every policy gets the same deadline (150, 600 or 2400 ms per run). A miss is a request served late or dropped; goodput is the share served within the deadline. Drops are counted, never hidden.</a:t>
            </a:r>
            <a:endParaRPr lang="en-US" sz="1200" dirty="0"/>
          </a:p>
        </p:txBody>
      </p:sp>
      <p:sp>
        <p:nvSpPr>
          <p:cNvPr id="7" name="Text 4"/>
          <p:cNvSpPr txBox="1"/>
          <p:nvPr/>
        </p:nvSpPr>
        <p:spPr>
          <a:xfrm>
            <a:off x="548640" y="5623560"/>
            <a:ext cx="11064240" cy="640080"/>
          </a:xfrm>
          <a:prstGeom prst="rect">
            <a:avLst/>
          </a:prstGeom>
          <a:noFill/>
          <a:ln/>
        </p:spPr>
        <p:txBody>
          <a:bodyPr wrap="square" lIns="0" tIns="0" rIns="0" bIns="0" rtlCol="0" anchor="t"/>
          <a:lstStyle/>
          <a:p>
            <a:pPr indent="0" marL="0">
              <a:buNone/>
            </a:pPr>
            <a:r>
              <a:rPr lang="en-US" sz="1300" b="1" dirty="0">
                <a:solidFill>
                  <a:srgbClr val="000000"/>
                </a:solidFill>
                <a:latin typeface="Calibri" pitchFamily="34" charset="0"/>
                <a:ea typeface="Calibri" pitchFamily="34" charset="-122"/>
                <a:cs typeface="Calibri" pitchFamily="34" charset="-120"/>
              </a:rPr>
              <a:t>Takeaway. </a:t>
            </a:r>
            <a:pPr indent="0" marL="0">
              <a:buNone/>
            </a:pPr>
            <a:r>
              <a:rPr lang="en-US" sz="1300" dirty="0">
                <a:solidFill>
                  <a:srgbClr val="000000"/>
                </a:solidFill>
                <a:latin typeface="Calibri" pitchFamily="34" charset="0"/>
                <a:ea typeface="Calibri" pitchFamily="34" charset="-122"/>
                <a:cs typeface="Calibri" pitchFamily="34" charset="-120"/>
              </a:rPr>
              <a:t>The mechanisms are kept. What is dropped (exit and depth knobs, load/unload, multi-GPU staggering) does not exist with all models resident on one GPU, but it changes how the Greedy-2D and Symphony policies behave.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863840" y="109728"/>
            <a:ext cx="374904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RESULTS  |  GOODPUT</a:t>
            </a:r>
            <a:endParaRPr lang="en-US" sz="1000" dirty="0"/>
          </a:p>
        </p:txBody>
      </p:sp>
      <p:sp>
        <p:nvSpPr>
          <p:cNvPr id="3" name="Text 1"/>
          <p:cNvSpPr txBox="1"/>
          <p:nvPr/>
        </p:nvSpPr>
        <p:spPr>
          <a:xfrm>
            <a:off x="548640" y="365760"/>
            <a:ext cx="11064240" cy="594360"/>
          </a:xfrm>
          <a:prstGeom prst="rect">
            <a:avLst/>
          </a:prstGeom>
          <a:noFill/>
          <a:ln/>
        </p:spPr>
        <p:txBody>
          <a:bodyPr wrap="square" lIns="0" tIns="0" rIns="0" bIns="0" rtlCol="0" anchor="t"/>
          <a:lstStyle/>
          <a:p>
            <a:pPr indent="0" marL="0">
              <a:buNone/>
            </a:pPr>
            <a:r>
              <a:rPr lang="en-US" sz="2600" b="1" dirty="0">
                <a:solidFill>
                  <a:srgbClr val="000000"/>
                </a:solidFill>
                <a:latin typeface="Calibri" pitchFamily="34" charset="0"/>
                <a:ea typeface="Calibri" pitchFamily="34" charset="-122"/>
                <a:cs typeface="Calibri" pitchFamily="34" charset="-120"/>
              </a:rPr>
              <a:t>Goodput: the share of requests that meet their deadline</a:t>
            </a:r>
            <a:endParaRPr lang="en-US" sz="2600" dirty="0"/>
          </a:p>
        </p:txBody>
      </p:sp>
      <p:sp>
        <p:nvSpPr>
          <p:cNvPr id="4" name="Text 2"/>
          <p:cNvSpPr txBox="1"/>
          <p:nvPr/>
        </p:nvSpPr>
        <p:spPr>
          <a:xfrm>
            <a:off x="548640" y="914400"/>
            <a:ext cx="11064240" cy="36576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Goodput = requests completed within the deadline / all requests that arrived in the window; dropped requests count as misses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377440"/>
                <a:gridCol w="2743200"/>
                <a:gridCol w="1554480"/>
                <a:gridCol w="1463040"/>
                <a:gridCol w="1463040"/>
                <a:gridCol w="1463040"/>
              </a:tblGrid>
              <a:tr h="457200">
                <a:tc>
                  <a:txBody>
                    <a:bodyPr/>
                    <a:lstStyle/>
                    <a:p>
                      <a:pPr algn="l" indent="0" marL="0">
                        <a:buNone/>
                      </a:pPr>
                      <a:r>
                        <a:rPr lang="en-US" sz="1250" b="1" dirty="0">
                          <a:solidFill>
                            <a:srgbClr val="000000"/>
                          </a:solidFill>
                          <a:latin typeface="Calibri" pitchFamily="34" charset="0"/>
                          <a:ea typeface="Calibri" pitchFamily="34" charset="-122"/>
                          <a:cs typeface="Calibri" pitchFamily="34" charset="-120"/>
                        </a:rPr>
                        <a:t>Traffic mix</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ctr" indent="0" marL="0">
                        <a:buNone/>
                      </a:pPr>
                      <a:r>
                        <a:rPr lang="en-US" sz="1250" b="1" dirty="0">
                          <a:solidFill>
                            <a:srgbClr val="000000"/>
                          </a:solidFill>
                          <a:latin typeface="Calibri" pitchFamily="34" charset="0"/>
                          <a:ea typeface="Calibri" pitchFamily="34" charset="-122"/>
                          <a:cs typeface="Calibri" pitchFamily="34" charset="-120"/>
                        </a:rPr>
                        <a:t>Share of requests (n / s / m / l)</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ctr" indent="0" marL="0">
                        <a:buNone/>
                      </a:pPr>
                      <a:r>
                        <a:rPr lang="en-US" sz="1250" b="1" dirty="0">
                          <a:solidFill>
                            <a:srgbClr val="000000"/>
                          </a:solidFill>
                          <a:latin typeface="Calibri" pitchFamily="34" charset="0"/>
                          <a:ea typeface="Calibri" pitchFamily="34" charset="-122"/>
                          <a:cs typeface="Calibri" pitchFamily="34" charset="-120"/>
                        </a:rPr>
                        <a:t>Capacity (req/s)</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ctr" indent="0" marL="0">
                        <a:buNone/>
                      </a:pPr>
                      <a:r>
                        <a:rPr lang="en-US" sz="1250" b="1" dirty="0">
                          <a:solidFill>
                            <a:srgbClr val="000000"/>
                          </a:solidFill>
                          <a:latin typeface="Calibri" pitchFamily="34" charset="0"/>
                          <a:ea typeface="Calibri" pitchFamily="34" charset="-122"/>
                          <a:cs typeface="Calibri" pitchFamily="34" charset="-120"/>
                        </a:rPr>
                        <a:t>Low load: 8 req/s</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ctr" indent="0" marL="0">
                        <a:buNone/>
                      </a:pPr>
                      <a:r>
                        <a:rPr lang="en-US" sz="1250" b="1" dirty="0">
                          <a:solidFill>
                            <a:srgbClr val="000000"/>
                          </a:solidFill>
                          <a:latin typeface="Calibri" pitchFamily="34" charset="0"/>
                          <a:ea typeface="Calibri" pitchFamily="34" charset="-122"/>
                          <a:cs typeface="Calibri" pitchFamily="34" charset="-120"/>
                        </a:rPr>
                        <a:t>Medium load: 16 req/s</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ctr" indent="0" marL="0">
                        <a:buNone/>
                      </a:pPr>
                      <a:r>
                        <a:rPr lang="en-US" sz="1250" b="1" dirty="0">
                          <a:solidFill>
                            <a:srgbClr val="000000"/>
                          </a:solidFill>
                          <a:latin typeface="Calibri" pitchFamily="34" charset="0"/>
                          <a:ea typeface="Calibri" pitchFamily="34" charset="-122"/>
                          <a:cs typeface="Calibri" pitchFamily="34" charset="-120"/>
                        </a:rPr>
                        <a:t>High load: 24 req/s</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r>
              <a:tr h="457200">
                <a:tc>
                  <a:txBody>
                    <a:bodyPr/>
                    <a:lstStyle/>
                    <a:p>
                      <a:pPr algn="l" indent="0" marL="0">
                        <a:buNone/>
                      </a:pPr>
                      <a:r>
                        <a:rPr lang="en-US" sz="1250" b="1" dirty="0">
                          <a:solidFill>
                            <a:srgbClr val="000000"/>
                          </a:solidFill>
                          <a:latin typeface="Calibri" pitchFamily="34" charset="0"/>
                          <a:ea typeface="Calibri" pitchFamily="34" charset="-122"/>
                          <a:cs typeface="Calibri" pitchFamily="34" charset="-120"/>
                        </a:rPr>
                        <a:t>heavy mix (l55)</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15 / 15 / 15 / 55 %</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16.7</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48% of capacity</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96%</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144%</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00000"/>
                          </a:solidFill>
                          <a:latin typeface="Calibri" pitchFamily="34" charset="0"/>
                          <a:ea typeface="Calibri" pitchFamily="34" charset="-122"/>
                          <a:cs typeface="Calibri" pitchFamily="34" charset="-120"/>
                        </a:rPr>
                        <a:t>balanced mix</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25 / 25 / 25 / 25 %</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22.4</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36%</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71%</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107%</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00000"/>
                          </a:solidFill>
                          <a:latin typeface="Calibri" pitchFamily="34" charset="0"/>
                          <a:ea typeface="Calibri" pitchFamily="34" charset="-122"/>
                          <a:cs typeface="Calibri" pitchFamily="34" charset="-120"/>
                        </a:rPr>
                        <a:t>skewed mix</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52.8 / 14.9 / 8.3 / 24.0 %</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27.5</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29%</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58%</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87%</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00000"/>
                          </a:solidFill>
                          <a:latin typeface="Calibri" pitchFamily="34" charset="0"/>
                          <a:ea typeface="Calibri" pitchFamily="34" charset="-122"/>
                          <a:cs typeface="Calibri" pitchFamily="34" charset="-120"/>
                        </a:rPr>
                        <a:t>light mix (n70)</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70 / 10 / 10 / 10 %</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36.8</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22%</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43%</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65%</a:t>
                      </a:r>
                      <a:endParaRPr lang="en-US" sz="12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4297680"/>
            <a:ext cx="11064240" cy="822960"/>
          </a:xfrm>
          <a:prstGeom prst="rect">
            <a:avLst/>
          </a:prstGeom>
          <a:noFill/>
          <a:ln/>
        </p:spPr>
        <p:txBody>
          <a:bodyPr wrap="square" lIns="0" tIns="0" rIns="0" bIns="0" rtlCol="0" anchor="t"/>
          <a:lstStyle/>
          <a:p>
            <a:pPr indent="0" marL="0">
              <a:buNone/>
            </a:pPr>
            <a:r>
              <a:rPr lang="en-US" sz="1200" dirty="0">
                <a:solidFill>
                  <a:srgbClr val="595959"/>
                </a:solidFill>
                <a:latin typeface="Calibri" pitchFamily="34" charset="0"/>
                <a:ea typeface="Calibri" pitchFamily="34" charset="-122"/>
                <a:cs typeface="Calibri" pitchFamily="34" charset="-120"/>
              </a:rPr>
              <a:t>Each of the next slides fixes the load and shows the four mixes; inside each chart the x-axis is the deadline (150, 600, 2400 ms) and the bars are the three policies. Capacity is the rate the board sustains with full batches of 16. Values are means over the seeds run so far (3 for balanced and skewed, 2 for the heavy and light mixes; seed 2 is still running).</a:t>
            </a:r>
            <a:endParaRPr lang="en-US" sz="1200" dirty="0"/>
          </a:p>
        </p:txBody>
      </p:sp>
      <p:sp>
        <p:nvSpPr>
          <p:cNvPr id="7" name="Text 4"/>
          <p:cNvSpPr txBox="1"/>
          <p:nvPr/>
        </p:nvSpPr>
        <p:spPr>
          <a:xfrm>
            <a:off x="548640" y="5349240"/>
            <a:ext cx="11064240" cy="640080"/>
          </a:xfrm>
          <a:prstGeom prst="rect">
            <a:avLst/>
          </a:prstGeom>
          <a:noFill/>
          <a:ln/>
        </p:spPr>
        <p:txBody>
          <a:bodyPr wrap="square" lIns="0" tIns="0" rIns="0" bIns="0" rtlCol="0" anchor="t"/>
          <a:lstStyle/>
          <a:p>
            <a:pPr indent="0" marL="0">
              <a:buNone/>
            </a:pPr>
            <a:r>
              <a:rPr lang="en-US" sz="1300" b="1" dirty="0">
                <a:solidFill>
                  <a:srgbClr val="000000"/>
                </a:solidFill>
                <a:latin typeface="Calibri" pitchFamily="34" charset="0"/>
                <a:ea typeface="Calibri" pitchFamily="34" charset="-122"/>
                <a:cs typeface="Calibri" pitchFamily="34" charset="-120"/>
              </a:rPr>
              <a:t>Takeaway. </a:t>
            </a:r>
            <a:pPr indent="0" marL="0">
              <a:buNone/>
            </a:pPr>
            <a:r>
              <a:rPr lang="en-US" sz="1300" dirty="0">
                <a:solidFill>
                  <a:srgbClr val="000000"/>
                </a:solidFill>
                <a:latin typeface="Calibri" pitchFamily="34" charset="0"/>
                <a:ea typeface="Calibri" pitchFamily="34" charset="-122"/>
                <a:cs typeface="Calibri" pitchFamily="34" charset="-120"/>
              </a:rPr>
              <a:t>The same three loads span a mix at 22% of capacity to the same mix beyond it, so the comparison covers light, near-capacity and overloaded conditions.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863840" y="109728"/>
            <a:ext cx="374904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RESULTS  |  GOODPUT</a:t>
            </a:r>
            <a:endParaRPr lang="en-US" sz="1000" dirty="0"/>
          </a:p>
        </p:txBody>
      </p:sp>
      <p:sp>
        <p:nvSpPr>
          <p:cNvPr id="3" name="Text 1"/>
          <p:cNvSpPr txBox="1"/>
          <p:nvPr/>
        </p:nvSpPr>
        <p:spPr>
          <a:xfrm>
            <a:off x="548640" y="365760"/>
            <a:ext cx="11064240" cy="594360"/>
          </a:xfrm>
          <a:prstGeom prst="rect">
            <a:avLst/>
          </a:prstGeom>
          <a:noFill/>
          <a:ln/>
        </p:spPr>
        <p:txBody>
          <a:bodyPr wrap="square" lIns="0" tIns="0" rIns="0" bIns="0" rtlCol="0" anchor="t"/>
          <a:lstStyle/>
          <a:p>
            <a:pPr indent="0" marL="0">
              <a:buNone/>
            </a:pPr>
            <a:r>
              <a:rPr lang="en-US" sz="2600" b="1" dirty="0">
                <a:solidFill>
                  <a:srgbClr val="000000"/>
                </a:solidFill>
                <a:latin typeface="Calibri" pitchFamily="34" charset="0"/>
                <a:ea typeface="Calibri" pitchFamily="34" charset="-122"/>
                <a:cs typeface="Calibri" pitchFamily="34" charset="-120"/>
              </a:rPr>
              <a:t>Goodput at low load (8 req/s)</a:t>
            </a:r>
            <a:endParaRPr lang="en-US" sz="2600" dirty="0"/>
          </a:p>
        </p:txBody>
      </p:sp>
      <p:sp>
        <p:nvSpPr>
          <p:cNvPr id="4" name="Text 2"/>
          <p:cNvSpPr txBox="1"/>
          <p:nvPr/>
        </p:nvSpPr>
        <p:spPr>
          <a:xfrm>
            <a:off x="548640" y="914400"/>
            <a:ext cx="11064240" cy="36576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Goodput (%) against deadline, four mixes; 8 req/s is 48%, 36%, 29% and 22% of capacity</a:t>
            </a:r>
            <a:endParaRPr lang="en-US" sz="1300" dirty="0"/>
          </a:p>
        </p:txBody>
      </p:sp>
      <p:graphicFrame>
        <p:nvGraphicFramePr>
          <p:cNvPr id="5" name="Chart 0" descr=""/>
          <p:cNvGraphicFramePr/>
          <p:nvPr/>
        </p:nvGraphicFramePr>
        <p:xfrm>
          <a:off x="365760" y="1371600"/>
          <a:ext cx="2880360" cy="37947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3291840" y="1371600"/>
          <a:ext cx="2880360" cy="379476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6217920" y="1371600"/>
          <a:ext cx="2880360" cy="3794760"/>
        </p:xfrm>
        <a:graphic xmlns:a="http://schemas.openxmlformats.org/drawingml/2006/main">
          <a:graphicData uri="http://schemas.openxmlformats.org/drawingml/2006/chart">
            <c:chart xmlns:c="http://schemas.openxmlformats.org/drawingml/2006/chart" r:id="rId3"/>
          </a:graphicData>
        </a:graphic>
      </p:graphicFrame>
      <p:graphicFrame>
        <p:nvGraphicFramePr>
          <p:cNvPr id="8" name="Chart 3" descr=""/>
          <p:cNvGraphicFramePr/>
          <p:nvPr/>
        </p:nvGraphicFramePr>
        <p:xfrm>
          <a:off x="9144000" y="1371600"/>
          <a:ext cx="2880360" cy="3794760"/>
        </p:xfrm>
        <a:graphic xmlns:a="http://schemas.openxmlformats.org/drawingml/2006/main">
          <a:graphicData uri="http://schemas.openxmlformats.org/drawingml/2006/chart">
            <c:chart xmlns:c="http://schemas.openxmlformats.org/drawingml/2006/chart" r:id="rId4"/>
          </a:graphicData>
        </a:graphic>
      </p:graphicFrame>
      <p:sp>
        <p:nvSpPr>
          <p:cNvPr id="9" name="Text 3"/>
          <p:cNvSpPr txBox="1"/>
          <p:nvPr/>
        </p:nvSpPr>
        <p:spPr>
          <a:xfrm>
            <a:off x="548640" y="5349240"/>
            <a:ext cx="11064240" cy="640080"/>
          </a:xfrm>
          <a:prstGeom prst="rect">
            <a:avLst/>
          </a:prstGeom>
          <a:noFill/>
          <a:ln/>
        </p:spPr>
        <p:txBody>
          <a:bodyPr wrap="square" lIns="0" tIns="0" rIns="0" bIns="0" rtlCol="0" anchor="t"/>
          <a:lstStyle/>
          <a:p>
            <a:pPr indent="0" marL="0">
              <a:buNone/>
            </a:pPr>
            <a:r>
              <a:rPr lang="en-US" sz="1300" b="1" dirty="0">
                <a:solidFill>
                  <a:srgbClr val="000000"/>
                </a:solidFill>
                <a:latin typeface="Calibri" pitchFamily="34" charset="0"/>
                <a:ea typeface="Calibri" pitchFamily="34" charset="-122"/>
                <a:cs typeface="Calibri" pitchFamily="34" charset="-120"/>
              </a:rPr>
              <a:t>Takeaway. </a:t>
            </a:r>
            <a:pPr indent="0" marL="0">
              <a:buNone/>
            </a:pPr>
            <a:r>
              <a:rPr lang="en-US" sz="1300" dirty="0">
                <a:solidFill>
                  <a:srgbClr val="000000"/>
                </a:solidFill>
                <a:latin typeface="Calibri" pitchFamily="34" charset="0"/>
                <a:ea typeface="Calibri" pitchFamily="34" charset="-122"/>
                <a:cs typeface="Calibri" pitchFamily="34" charset="-120"/>
              </a:rPr>
              <a:t>From 600 ms every policy meets nearly all deadlines. At 150 ms Clockwork is best or tied (79 to 97%). Symphony loses 1 to 6 points even at 2400 ms because it waits to build batches.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863840" y="109728"/>
            <a:ext cx="374904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RESULTS  |  GOODPUT</a:t>
            </a:r>
            <a:endParaRPr lang="en-US" sz="1000" dirty="0"/>
          </a:p>
        </p:txBody>
      </p:sp>
      <p:sp>
        <p:nvSpPr>
          <p:cNvPr id="3" name="Text 1"/>
          <p:cNvSpPr txBox="1"/>
          <p:nvPr/>
        </p:nvSpPr>
        <p:spPr>
          <a:xfrm>
            <a:off x="548640" y="365760"/>
            <a:ext cx="11064240" cy="594360"/>
          </a:xfrm>
          <a:prstGeom prst="rect">
            <a:avLst/>
          </a:prstGeom>
          <a:noFill/>
          <a:ln/>
        </p:spPr>
        <p:txBody>
          <a:bodyPr wrap="square" lIns="0" tIns="0" rIns="0" bIns="0" rtlCol="0" anchor="t"/>
          <a:lstStyle/>
          <a:p>
            <a:pPr indent="0" marL="0">
              <a:buNone/>
            </a:pPr>
            <a:r>
              <a:rPr lang="en-US" sz="2600" b="1" dirty="0">
                <a:solidFill>
                  <a:srgbClr val="000000"/>
                </a:solidFill>
                <a:latin typeface="Calibri" pitchFamily="34" charset="0"/>
                <a:ea typeface="Calibri" pitchFamily="34" charset="-122"/>
                <a:cs typeface="Calibri" pitchFamily="34" charset="-120"/>
              </a:rPr>
              <a:t>Goodput at medium load (16 req/s)</a:t>
            </a:r>
            <a:endParaRPr lang="en-US" sz="2600" dirty="0"/>
          </a:p>
        </p:txBody>
      </p:sp>
      <p:sp>
        <p:nvSpPr>
          <p:cNvPr id="4" name="Text 2"/>
          <p:cNvSpPr txBox="1"/>
          <p:nvPr/>
        </p:nvSpPr>
        <p:spPr>
          <a:xfrm>
            <a:off x="548640" y="914400"/>
            <a:ext cx="11064240" cy="36576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Goodput (%) against deadline, four mixes; 16 req/s is 96%, 71%, 58% and 43% of capacity</a:t>
            </a:r>
            <a:endParaRPr lang="en-US" sz="1300" dirty="0"/>
          </a:p>
        </p:txBody>
      </p:sp>
      <p:graphicFrame>
        <p:nvGraphicFramePr>
          <p:cNvPr id="5" name="Chart 0" descr=""/>
          <p:cNvGraphicFramePr/>
          <p:nvPr/>
        </p:nvGraphicFramePr>
        <p:xfrm>
          <a:off x="365760" y="1371600"/>
          <a:ext cx="2880360" cy="37947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3291840" y="1371600"/>
          <a:ext cx="2880360" cy="379476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6217920" y="1371600"/>
          <a:ext cx="2880360" cy="3794760"/>
        </p:xfrm>
        <a:graphic xmlns:a="http://schemas.openxmlformats.org/drawingml/2006/main">
          <a:graphicData uri="http://schemas.openxmlformats.org/drawingml/2006/chart">
            <c:chart xmlns:c="http://schemas.openxmlformats.org/drawingml/2006/chart" r:id="rId3"/>
          </a:graphicData>
        </a:graphic>
      </p:graphicFrame>
      <p:graphicFrame>
        <p:nvGraphicFramePr>
          <p:cNvPr id="8" name="Chart 3" descr=""/>
          <p:cNvGraphicFramePr/>
          <p:nvPr/>
        </p:nvGraphicFramePr>
        <p:xfrm>
          <a:off x="9144000" y="1371600"/>
          <a:ext cx="2880360" cy="3794760"/>
        </p:xfrm>
        <a:graphic xmlns:a="http://schemas.openxmlformats.org/drawingml/2006/main">
          <a:graphicData uri="http://schemas.openxmlformats.org/drawingml/2006/chart">
            <c:chart xmlns:c="http://schemas.openxmlformats.org/drawingml/2006/chart" r:id="rId4"/>
          </a:graphicData>
        </a:graphic>
      </p:graphicFrame>
      <p:sp>
        <p:nvSpPr>
          <p:cNvPr id="9" name="Text 3"/>
          <p:cNvSpPr txBox="1"/>
          <p:nvPr/>
        </p:nvSpPr>
        <p:spPr>
          <a:xfrm>
            <a:off x="548640" y="5349240"/>
            <a:ext cx="11064240" cy="640080"/>
          </a:xfrm>
          <a:prstGeom prst="rect">
            <a:avLst/>
          </a:prstGeom>
          <a:noFill/>
          <a:ln/>
        </p:spPr>
        <p:txBody>
          <a:bodyPr wrap="square" lIns="0" tIns="0" rIns="0" bIns="0" rtlCol="0" anchor="t"/>
          <a:lstStyle/>
          <a:p>
            <a:pPr indent="0" marL="0">
              <a:buNone/>
            </a:pPr>
            <a:r>
              <a:rPr lang="en-US" sz="1300" b="1" dirty="0">
                <a:solidFill>
                  <a:srgbClr val="000000"/>
                </a:solidFill>
                <a:latin typeface="Calibri" pitchFamily="34" charset="0"/>
                <a:ea typeface="Calibri" pitchFamily="34" charset="-122"/>
                <a:cs typeface="Calibri" pitchFamily="34" charset="-120"/>
              </a:rPr>
              <a:t>Takeaway. </a:t>
            </a:r>
            <a:pPr indent="0" marL="0">
              <a:buNone/>
            </a:pPr>
            <a:r>
              <a:rPr lang="en-US" sz="1300" dirty="0">
                <a:solidFill>
                  <a:srgbClr val="000000"/>
                </a:solidFill>
                <a:latin typeface="Calibri" pitchFamily="34" charset="0"/>
                <a:ea typeface="Calibri" pitchFamily="34" charset="-122"/>
                <a:cs typeface="Calibri" pitchFamily="34" charset="-120"/>
              </a:rPr>
              <a:t>Clockwork has the best goodput at 150 ms on every mix. Greedy-2D collapses to about 10% on the heavy and balanced mixes at 150 ms (and on l55 at every deadline) and to 63% on skewed. On l55, near capacity, no policy exceeds 91%.</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863840" y="109728"/>
            <a:ext cx="374904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RESULTS  |  GOODPUT</a:t>
            </a:r>
            <a:endParaRPr lang="en-US" sz="1000" dirty="0"/>
          </a:p>
        </p:txBody>
      </p:sp>
      <p:sp>
        <p:nvSpPr>
          <p:cNvPr id="3" name="Text 1"/>
          <p:cNvSpPr txBox="1"/>
          <p:nvPr/>
        </p:nvSpPr>
        <p:spPr>
          <a:xfrm>
            <a:off x="548640" y="365760"/>
            <a:ext cx="11064240" cy="594360"/>
          </a:xfrm>
          <a:prstGeom prst="rect">
            <a:avLst/>
          </a:prstGeom>
          <a:noFill/>
          <a:ln/>
        </p:spPr>
        <p:txBody>
          <a:bodyPr wrap="square" lIns="0" tIns="0" rIns="0" bIns="0" rtlCol="0" anchor="t"/>
          <a:lstStyle/>
          <a:p>
            <a:pPr indent="0" marL="0">
              <a:buNone/>
            </a:pPr>
            <a:r>
              <a:rPr lang="en-US" sz="2600" b="1" dirty="0">
                <a:solidFill>
                  <a:srgbClr val="000000"/>
                </a:solidFill>
                <a:latin typeface="Calibri" pitchFamily="34" charset="0"/>
                <a:ea typeface="Calibri" pitchFamily="34" charset="-122"/>
                <a:cs typeface="Calibri" pitchFamily="34" charset="-120"/>
              </a:rPr>
              <a:t>Goodput at high load (24 req/s)</a:t>
            </a:r>
            <a:endParaRPr lang="en-US" sz="2600" dirty="0"/>
          </a:p>
        </p:txBody>
      </p:sp>
      <p:sp>
        <p:nvSpPr>
          <p:cNvPr id="4" name="Text 2"/>
          <p:cNvSpPr txBox="1"/>
          <p:nvPr/>
        </p:nvSpPr>
        <p:spPr>
          <a:xfrm>
            <a:off x="548640" y="914400"/>
            <a:ext cx="11064240" cy="36576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Goodput (%) against deadline, four mixes; 24 req/s is 144%, 107%, 87% and 65% of capacity</a:t>
            </a:r>
            <a:endParaRPr lang="en-US" sz="1300" dirty="0"/>
          </a:p>
        </p:txBody>
      </p:sp>
      <p:graphicFrame>
        <p:nvGraphicFramePr>
          <p:cNvPr id="5" name="Chart 0" descr=""/>
          <p:cNvGraphicFramePr/>
          <p:nvPr/>
        </p:nvGraphicFramePr>
        <p:xfrm>
          <a:off x="365760" y="1371600"/>
          <a:ext cx="2880360" cy="37947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3291840" y="1371600"/>
          <a:ext cx="2880360" cy="379476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6217920" y="1371600"/>
          <a:ext cx="2880360" cy="3794760"/>
        </p:xfrm>
        <a:graphic xmlns:a="http://schemas.openxmlformats.org/drawingml/2006/main">
          <a:graphicData uri="http://schemas.openxmlformats.org/drawingml/2006/chart">
            <c:chart xmlns:c="http://schemas.openxmlformats.org/drawingml/2006/chart" r:id="rId3"/>
          </a:graphicData>
        </a:graphic>
      </p:graphicFrame>
      <p:graphicFrame>
        <p:nvGraphicFramePr>
          <p:cNvPr id="8" name="Chart 3" descr=""/>
          <p:cNvGraphicFramePr/>
          <p:nvPr/>
        </p:nvGraphicFramePr>
        <p:xfrm>
          <a:off x="9144000" y="1371600"/>
          <a:ext cx="2880360" cy="3794760"/>
        </p:xfrm>
        <a:graphic xmlns:a="http://schemas.openxmlformats.org/drawingml/2006/main">
          <a:graphicData uri="http://schemas.openxmlformats.org/drawingml/2006/chart">
            <c:chart xmlns:c="http://schemas.openxmlformats.org/drawingml/2006/chart" r:id="rId4"/>
          </a:graphicData>
        </a:graphic>
      </p:graphicFrame>
      <p:sp>
        <p:nvSpPr>
          <p:cNvPr id="9" name="Text 3"/>
          <p:cNvSpPr txBox="1"/>
          <p:nvPr/>
        </p:nvSpPr>
        <p:spPr>
          <a:xfrm>
            <a:off x="548640" y="5349240"/>
            <a:ext cx="11064240" cy="640080"/>
          </a:xfrm>
          <a:prstGeom prst="rect">
            <a:avLst/>
          </a:prstGeom>
          <a:noFill/>
          <a:ln/>
        </p:spPr>
        <p:txBody>
          <a:bodyPr wrap="square" lIns="0" tIns="0" rIns="0" bIns="0" rtlCol="0" anchor="t"/>
          <a:lstStyle/>
          <a:p>
            <a:pPr indent="0" marL="0">
              <a:buNone/>
            </a:pPr>
            <a:r>
              <a:rPr lang="en-US" sz="1300" b="1" dirty="0">
                <a:solidFill>
                  <a:srgbClr val="000000"/>
                </a:solidFill>
                <a:latin typeface="Calibri" pitchFamily="34" charset="0"/>
                <a:ea typeface="Calibri" pitchFamily="34" charset="-122"/>
                <a:cs typeface="Calibri" pitchFamily="34" charset="-120"/>
              </a:rPr>
              <a:t>Takeaway. </a:t>
            </a:r>
            <a:pPr indent="0" marL="0">
              <a:buNone/>
            </a:pPr>
            <a:r>
              <a:rPr lang="en-US" sz="1300" dirty="0">
                <a:solidFill>
                  <a:srgbClr val="000000"/>
                </a:solidFill>
                <a:latin typeface="Calibri" pitchFamily="34" charset="0"/>
                <a:ea typeface="Calibri" pitchFamily="34" charset="-122"/>
                <a:cs typeface="Calibri" pitchFamily="34" charset="-120"/>
              </a:rPr>
              <a:t>Overloaded mixes cap at 84% (balanced) and 62 to 64% (l55), where Symphony matches Clockwork at 2400 ms. On skewed Clockwork keeps 75 to 100% against Symphony 62 to 95%. Greedy-2D is at 3 to 17% on the three heavier mixes.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863840" y="109728"/>
            <a:ext cx="374904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RESULTS  |  GOODPUT</a:t>
            </a:r>
            <a:endParaRPr lang="en-US" sz="1000" dirty="0"/>
          </a:p>
        </p:txBody>
      </p:sp>
      <p:sp>
        <p:nvSpPr>
          <p:cNvPr id="3" name="Text 1"/>
          <p:cNvSpPr txBox="1"/>
          <p:nvPr/>
        </p:nvSpPr>
        <p:spPr>
          <a:xfrm>
            <a:off x="548640" y="365760"/>
            <a:ext cx="11064240" cy="594360"/>
          </a:xfrm>
          <a:prstGeom prst="rect">
            <a:avLst/>
          </a:prstGeom>
          <a:noFill/>
          <a:ln/>
        </p:spPr>
        <p:txBody>
          <a:bodyPr wrap="square" lIns="0" tIns="0" rIns="0" bIns="0" rtlCol="0" anchor="t"/>
          <a:lstStyle/>
          <a:p>
            <a:pPr indent="0" marL="0">
              <a:buNone/>
            </a:pPr>
            <a:r>
              <a:rPr lang="en-US" sz="2600" b="1" dirty="0">
                <a:solidFill>
                  <a:srgbClr val="000000"/>
                </a:solidFill>
                <a:latin typeface="Calibri" pitchFamily="34" charset="0"/>
                <a:ea typeface="Calibri" pitchFamily="34" charset="-122"/>
                <a:cs typeface="Calibri" pitchFamily="34" charset="-120"/>
              </a:rPr>
              <a:t>Greedy-2D spirals when load nears capacity</a:t>
            </a:r>
            <a:endParaRPr lang="en-US" sz="2600" dirty="0"/>
          </a:p>
        </p:txBody>
      </p:sp>
      <p:sp>
        <p:nvSpPr>
          <p:cNvPr id="4" name="Text 2"/>
          <p:cNvSpPr txBox="1"/>
          <p:nvPr/>
        </p:nvSpPr>
        <p:spPr>
          <a:xfrm>
            <a:off x="548640" y="914400"/>
            <a:ext cx="11064240" cy="36576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Skewed mix, 24 req/s (87% of capacity), mean of 3 seeds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583680" cy="914400"/>
        </p:xfrm>
        <a:graphic>
          <a:graphicData uri="http://schemas.openxmlformats.org/drawingml/2006/table">
            <a:tbl>
              <a:tblPr/>
              <a:tblGrid>
                <a:gridCol w="1828800"/>
                <a:gridCol w="1097280"/>
                <a:gridCol w="1097280"/>
                <a:gridCol w="1371600"/>
                <a:gridCol w="1188720"/>
              </a:tblGrid>
              <a:tr h="41148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Policy</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Deadline</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Goodput</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Mean latency</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Mean batch size</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r>
              <a:tr h="41148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Greedy-2D</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150 ms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8.4%</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8.6 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1.02</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1148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Greedy-2D</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600 ms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2.9%</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9.1 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1.03</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1148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Greedy-2D</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2400 ms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16.8%</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8.6 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1.24</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1148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Clockwork</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150 ms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74.9%</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0.08 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1.17</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1148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Clockwork</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600 ms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89.8%</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0.35 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2.15</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1148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Clockwork</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2400 ms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99.6%</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0.8 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3.88</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7498080" y="1463040"/>
            <a:ext cx="4114800" cy="2011680"/>
          </a:xfrm>
          <a:prstGeom prst="rect">
            <a:avLst/>
          </a:prstGeom>
          <a:noFill/>
          <a:ln/>
        </p:spPr>
        <p:txBody>
          <a:bodyPr wrap="square" lIns="0" tIns="0" rIns="0" bIns="0" rtlCol="0" anchor="t"/>
          <a:lstStyle/>
          <a:p>
            <a:pPr indent="0" marL="0">
              <a:spcAft>
                <a:spcPts val="600"/>
              </a:spcAft>
              <a:buNone/>
            </a:pPr>
            <a:r>
              <a:rPr lang="en-US" sz="1300" b="1" dirty="0">
                <a:solidFill>
                  <a:srgbClr val="000000"/>
                </a:solidFill>
                <a:latin typeface="Calibri" pitchFamily="34" charset="0"/>
                <a:ea typeface="Calibri" pitchFamily="34" charset="-122"/>
                <a:cs typeface="Calibri" pitchFamily="34" charset="-120"/>
              </a:rPr>
              <a:t>Mechanism</a:t>
            </a:r>
            <a:endParaRPr lang="en-US" sz="1300" dirty="0"/>
          </a:p>
          <a:p>
            <a:pPr indent="0" marL="0">
              <a:spcAft>
                <a:spcPts val="600"/>
              </a:spcAft>
              <a:buNone/>
            </a:pPr>
            <a:r>
              <a:rPr lang="en-US" sz="1300" dirty="0">
                <a:solidFill>
                  <a:srgbClr val="000000"/>
                </a:solidFill>
                <a:latin typeface="Calibri" pitchFamily="34" charset="0"/>
                <a:ea typeface="Calibri" pitchFamily="34" charset="-122"/>
                <a:cs typeface="Calibri" pitchFamily="34" charset="-120"/>
              </a:rPr>
              <a:t>1. The oldest job outlives its deadline, so no batch size fits.</a:t>
            </a:r>
            <a:endParaRPr lang="en-US" sz="1300" dirty="0"/>
          </a:p>
          <a:p>
            <a:pPr indent="0" marL="0">
              <a:spcAft>
                <a:spcPts val="600"/>
              </a:spcAft>
              <a:buNone/>
            </a:pPr>
            <a:r>
              <a:rPr lang="en-US" sz="1300" dirty="0">
                <a:solidFill>
                  <a:srgbClr val="000000"/>
                </a:solidFill>
                <a:latin typeface="Calibri" pitchFamily="34" charset="0"/>
                <a:ea typeface="Calibri" pitchFamily="34" charset="-122"/>
                <a:cs typeface="Calibri" pitchFamily="34" charset="-120"/>
              </a:rPr>
              <a:t>2. The rule falls back to b = 1: service falls below the arrival rate.</a:t>
            </a:r>
            <a:endParaRPr lang="en-US" sz="1300" dirty="0"/>
          </a:p>
          <a:p>
            <a:pPr indent="0" marL="0">
              <a:spcAft>
                <a:spcPts val="600"/>
              </a:spcAft>
              <a:buNone/>
            </a:pPr>
            <a:r>
              <a:rPr lang="en-US" sz="1300" dirty="0">
                <a:solidFill>
                  <a:srgbClr val="000000"/>
                </a:solidFill>
                <a:latin typeface="Calibri" pitchFamily="34" charset="0"/>
                <a:ea typeface="Calibri" pitchFamily="34" charset="-122"/>
                <a:cs typeface="Calibri" pitchFamily="34" charset="-120"/>
              </a:rPr>
              <a:t>3. The queue never drains, because the policy never sheds.</a:t>
            </a:r>
            <a:endParaRPr lang="en-US" sz="1300" dirty="0"/>
          </a:p>
        </p:txBody>
      </p:sp>
      <p:sp>
        <p:nvSpPr>
          <p:cNvPr id="7" name="Text 4"/>
          <p:cNvSpPr txBox="1"/>
          <p:nvPr/>
        </p:nvSpPr>
        <p:spPr>
          <a:xfrm>
            <a:off x="548640" y="4572000"/>
            <a:ext cx="11064240" cy="822960"/>
          </a:xfrm>
          <a:prstGeom prst="rect">
            <a:avLst/>
          </a:prstGeom>
          <a:noFill/>
          <a:ln/>
        </p:spPr>
        <p:txBody>
          <a:bodyPr wrap="square" lIns="0" tIns="0" rIns="0" bIns="0" rtlCol="0" anchor="t"/>
          <a:lstStyle/>
          <a:p>
            <a:pPr indent="0" marL="0">
              <a:buNone/>
            </a:pPr>
            <a:r>
              <a:rPr lang="en-US" sz="1200" dirty="0">
                <a:solidFill>
                  <a:srgbClr val="595959"/>
                </a:solidFill>
                <a:latin typeface="Calibri" pitchFamily="34" charset="0"/>
                <a:ea typeface="Calibri" pitchFamily="34" charset="-122"/>
                <a:cs typeface="Calibri" pitchFamily="34" charset="-120"/>
              </a:rPr>
              <a:t>This is my own greedy policy inspired by EdgeServing, without the paper's exit and depth knobs, which shorten service under pressure. It is not a claim that EdgeServing itself fails. In the ladder it spirals above roughly 65 to 85% of a mix's capacity; below that it ties with Clockwork.</a:t>
            </a:r>
            <a:endParaRPr lang="en-US" sz="1200" dirty="0"/>
          </a:p>
        </p:txBody>
      </p:sp>
      <p:sp>
        <p:nvSpPr>
          <p:cNvPr id="8" name="Text 5"/>
          <p:cNvSpPr txBox="1"/>
          <p:nvPr/>
        </p:nvSpPr>
        <p:spPr>
          <a:xfrm>
            <a:off x="548640" y="5486400"/>
            <a:ext cx="11064240" cy="640080"/>
          </a:xfrm>
          <a:prstGeom prst="rect">
            <a:avLst/>
          </a:prstGeom>
          <a:noFill/>
          <a:ln/>
        </p:spPr>
        <p:txBody>
          <a:bodyPr wrap="square" lIns="0" tIns="0" rIns="0" bIns="0" rtlCol="0" anchor="t"/>
          <a:lstStyle/>
          <a:p>
            <a:pPr indent="0" marL="0">
              <a:buNone/>
            </a:pPr>
            <a:r>
              <a:rPr lang="en-US" sz="1300" b="1" dirty="0">
                <a:solidFill>
                  <a:srgbClr val="000000"/>
                </a:solidFill>
                <a:latin typeface="Calibri" pitchFamily="34" charset="0"/>
                <a:ea typeface="Calibri" pitchFamily="34" charset="-122"/>
                <a:cs typeface="Calibri" pitchFamily="34" charset="-120"/>
              </a:rPr>
              <a:t>Takeaway. </a:t>
            </a:r>
            <a:pPr indent="0" marL="0">
              <a:buNone/>
            </a:pPr>
            <a:r>
              <a:rPr lang="en-US" sz="1300" dirty="0">
                <a:solidFill>
                  <a:srgbClr val="000000"/>
                </a:solidFill>
                <a:latin typeface="Calibri" pitchFamily="34" charset="0"/>
                <a:ea typeface="Calibri" pitchFamily="34" charset="-122"/>
                <a:cs typeface="Calibri" pitchFamily="34" charset="-120"/>
              </a:rPr>
              <a:t>A deadline-aware policy that never drops cannot recover from overload. Shedding (Clockwork, Symphony) is what keeps goodput up.</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863840" y="109728"/>
            <a:ext cx="374904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RESULTS  |  ENERGY</a:t>
            </a:r>
            <a:endParaRPr lang="en-US" sz="1000" dirty="0"/>
          </a:p>
        </p:txBody>
      </p:sp>
      <p:sp>
        <p:nvSpPr>
          <p:cNvPr id="3" name="Text 1"/>
          <p:cNvSpPr txBox="1"/>
          <p:nvPr/>
        </p:nvSpPr>
        <p:spPr>
          <a:xfrm>
            <a:off x="548640" y="365760"/>
            <a:ext cx="11064240" cy="594360"/>
          </a:xfrm>
          <a:prstGeom prst="rect">
            <a:avLst/>
          </a:prstGeom>
          <a:noFill/>
          <a:ln/>
        </p:spPr>
        <p:txBody>
          <a:bodyPr wrap="square" lIns="0" tIns="0" rIns="0" bIns="0" rtlCol="0" anchor="t"/>
          <a:lstStyle/>
          <a:p>
            <a:pPr indent="0" marL="0">
              <a:buNone/>
            </a:pPr>
            <a:r>
              <a:rPr lang="en-US" sz="2600" b="1" dirty="0">
                <a:solidFill>
                  <a:srgbClr val="000000"/>
                </a:solidFill>
                <a:latin typeface="Calibri" pitchFamily="34" charset="0"/>
                <a:ea typeface="Calibri" pitchFamily="34" charset="-122"/>
                <a:cs typeface="Calibri" pitchFamily="34" charset="-120"/>
              </a:rPr>
              <a:t>Total energy at low load (8 req/s)</a:t>
            </a:r>
            <a:endParaRPr lang="en-US" sz="2600" dirty="0"/>
          </a:p>
        </p:txBody>
      </p:sp>
      <p:sp>
        <p:nvSpPr>
          <p:cNvPr id="4" name="Text 2"/>
          <p:cNvSpPr txBox="1"/>
          <p:nvPr/>
        </p:nvSpPr>
        <p:spPr>
          <a:xfrm>
            <a:off x="548640" y="914400"/>
            <a:ext cx="11064240" cy="36576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Total board energy over the same fixed 120 s measured window for every run (idle draw included, no 5 V system rail), against deadline; four mixes</a:t>
            </a:r>
            <a:endParaRPr lang="en-US" sz="1300" dirty="0"/>
          </a:p>
        </p:txBody>
      </p:sp>
      <p:graphicFrame>
        <p:nvGraphicFramePr>
          <p:cNvPr id="5" name="Chart 0" descr=""/>
          <p:cNvGraphicFramePr/>
          <p:nvPr/>
        </p:nvGraphicFramePr>
        <p:xfrm>
          <a:off x="365760" y="1371600"/>
          <a:ext cx="2880360" cy="37947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3291840" y="1371600"/>
          <a:ext cx="2880360" cy="379476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6217920" y="1371600"/>
          <a:ext cx="2880360" cy="3794760"/>
        </p:xfrm>
        <a:graphic xmlns:a="http://schemas.openxmlformats.org/drawingml/2006/main">
          <a:graphicData uri="http://schemas.openxmlformats.org/drawingml/2006/chart">
            <c:chart xmlns:c="http://schemas.openxmlformats.org/drawingml/2006/chart" r:id="rId3"/>
          </a:graphicData>
        </a:graphic>
      </p:graphicFrame>
      <p:graphicFrame>
        <p:nvGraphicFramePr>
          <p:cNvPr id="8" name="Chart 3" descr=""/>
          <p:cNvGraphicFramePr/>
          <p:nvPr/>
        </p:nvGraphicFramePr>
        <p:xfrm>
          <a:off x="9144000" y="1371600"/>
          <a:ext cx="2880360" cy="3794760"/>
        </p:xfrm>
        <a:graphic xmlns:a="http://schemas.openxmlformats.org/drawingml/2006/main">
          <a:graphicData uri="http://schemas.openxmlformats.org/drawingml/2006/chart">
            <c:chart xmlns:c="http://schemas.openxmlformats.org/drawingml/2006/chart" r:id="rId4"/>
          </a:graphicData>
        </a:graphic>
      </p:graphicFrame>
      <p:sp>
        <p:nvSpPr>
          <p:cNvPr id="9" name="Text 3"/>
          <p:cNvSpPr txBox="1"/>
          <p:nvPr/>
        </p:nvSpPr>
        <p:spPr>
          <a:xfrm>
            <a:off x="548640" y="5120640"/>
            <a:ext cx="11064240" cy="274320"/>
          </a:xfrm>
          <a:prstGeom prst="rect">
            <a:avLst/>
          </a:prstGeom>
          <a:noFill/>
          <a:ln/>
        </p:spPr>
        <p:txBody>
          <a:bodyPr wrap="square" lIns="0" tIns="0" rIns="0" bIns="0" rtlCol="0" anchor="t"/>
          <a:lstStyle/>
          <a:p>
            <a:pPr indent="0" marL="0">
              <a:buNone/>
            </a:pPr>
            <a:r>
              <a:rPr lang="en-US" sz="1200" dirty="0">
                <a:solidFill>
                  <a:srgbClr val="595959"/>
                </a:solidFill>
                <a:latin typeface="Calibri" pitchFamily="34" charset="0"/>
                <a:ea typeface="Calibri" pitchFamily="34" charset="-122"/>
                <a:cs typeface="Calibri" pitchFamily="34" charset="-120"/>
              </a:rPr>
              <a:t>Number above each bar: % of requests dropped (cancelled by the policy or lost to queue overflow). Greedy-2D mostly does not drop (queue overflow only at 24 req/s on the two heaviest mixes), but its requests complete late.</a:t>
            </a:r>
            <a:endParaRPr lang="en-US" sz="1200" dirty="0"/>
          </a:p>
        </p:txBody>
      </p:sp>
      <p:sp>
        <p:nvSpPr>
          <p:cNvPr id="10" name="Text 4"/>
          <p:cNvSpPr txBox="1"/>
          <p:nvPr/>
        </p:nvSpPr>
        <p:spPr>
          <a:xfrm>
            <a:off x="548640" y="5486400"/>
            <a:ext cx="11064240" cy="640080"/>
          </a:xfrm>
          <a:prstGeom prst="rect">
            <a:avLst/>
          </a:prstGeom>
          <a:noFill/>
          <a:ln/>
        </p:spPr>
        <p:txBody>
          <a:bodyPr wrap="square" lIns="0" tIns="0" rIns="0" bIns="0" rtlCol="0" anchor="t"/>
          <a:lstStyle/>
          <a:p>
            <a:pPr indent="0" marL="0">
              <a:buNone/>
            </a:pPr>
            <a:r>
              <a:rPr lang="en-US" sz="1300" b="1" dirty="0">
                <a:solidFill>
                  <a:srgbClr val="000000"/>
                </a:solidFill>
                <a:latin typeface="Calibri" pitchFamily="34" charset="0"/>
                <a:ea typeface="Calibri" pitchFamily="34" charset="-122"/>
                <a:cs typeface="Calibri" pitchFamily="34" charset="-120"/>
              </a:rPr>
              <a:t>Takeaway. </a:t>
            </a:r>
            <a:pPr indent="0" marL="0">
              <a:buNone/>
            </a:pPr>
            <a:r>
              <a:rPr lang="en-US" sz="1300" dirty="0">
                <a:solidFill>
                  <a:srgbClr val="000000"/>
                </a:solidFill>
                <a:latin typeface="Calibri" pitchFamily="34" charset="0"/>
                <a:ea typeface="Calibri" pitchFamily="34" charset="-122"/>
                <a:cs typeface="Calibri" pitchFamily="34" charset="-120"/>
              </a:rPr>
              <a:t>Symphony spends the least energy on every mix: at 2400 ms 11 to 19% less than Clockwork, at 150 ms 1 to 3% less, partly because it drops more (6% against 0% at 2400 ms on l55). Greedy-2D matches Clockwork from 600 ms.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863840" y="109728"/>
            <a:ext cx="374904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RESULTS  |  ENERGY</a:t>
            </a:r>
            <a:endParaRPr lang="en-US" sz="1000" dirty="0"/>
          </a:p>
        </p:txBody>
      </p:sp>
      <p:sp>
        <p:nvSpPr>
          <p:cNvPr id="3" name="Text 1"/>
          <p:cNvSpPr txBox="1"/>
          <p:nvPr/>
        </p:nvSpPr>
        <p:spPr>
          <a:xfrm>
            <a:off x="548640" y="365760"/>
            <a:ext cx="11064240" cy="594360"/>
          </a:xfrm>
          <a:prstGeom prst="rect">
            <a:avLst/>
          </a:prstGeom>
          <a:noFill/>
          <a:ln/>
        </p:spPr>
        <p:txBody>
          <a:bodyPr wrap="square" lIns="0" tIns="0" rIns="0" bIns="0" rtlCol="0" anchor="t"/>
          <a:lstStyle/>
          <a:p>
            <a:pPr indent="0" marL="0">
              <a:buNone/>
            </a:pPr>
            <a:r>
              <a:rPr lang="en-US" sz="2600" b="1" dirty="0">
                <a:solidFill>
                  <a:srgbClr val="000000"/>
                </a:solidFill>
                <a:latin typeface="Calibri" pitchFamily="34" charset="0"/>
                <a:ea typeface="Calibri" pitchFamily="34" charset="-122"/>
                <a:cs typeface="Calibri" pitchFamily="34" charset="-120"/>
              </a:rPr>
              <a:t>Total energy at medium load (16 req/s)</a:t>
            </a:r>
            <a:endParaRPr lang="en-US" sz="2600" dirty="0"/>
          </a:p>
        </p:txBody>
      </p:sp>
      <p:sp>
        <p:nvSpPr>
          <p:cNvPr id="4" name="Text 2"/>
          <p:cNvSpPr txBox="1"/>
          <p:nvPr/>
        </p:nvSpPr>
        <p:spPr>
          <a:xfrm>
            <a:off x="548640" y="914400"/>
            <a:ext cx="11064240" cy="36576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Total board energy over the same fixed 120 s measured window for every run (idle draw included, no 5 V system rail), against deadline; four mixes</a:t>
            </a:r>
            <a:endParaRPr lang="en-US" sz="1300" dirty="0"/>
          </a:p>
        </p:txBody>
      </p:sp>
      <p:graphicFrame>
        <p:nvGraphicFramePr>
          <p:cNvPr id="5" name="Chart 0" descr=""/>
          <p:cNvGraphicFramePr/>
          <p:nvPr/>
        </p:nvGraphicFramePr>
        <p:xfrm>
          <a:off x="365760" y="1371600"/>
          <a:ext cx="2880360" cy="37947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3291840" y="1371600"/>
          <a:ext cx="2880360" cy="379476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6217920" y="1371600"/>
          <a:ext cx="2880360" cy="3794760"/>
        </p:xfrm>
        <a:graphic xmlns:a="http://schemas.openxmlformats.org/drawingml/2006/main">
          <a:graphicData uri="http://schemas.openxmlformats.org/drawingml/2006/chart">
            <c:chart xmlns:c="http://schemas.openxmlformats.org/drawingml/2006/chart" r:id="rId3"/>
          </a:graphicData>
        </a:graphic>
      </p:graphicFrame>
      <p:graphicFrame>
        <p:nvGraphicFramePr>
          <p:cNvPr id="8" name="Chart 3" descr=""/>
          <p:cNvGraphicFramePr/>
          <p:nvPr/>
        </p:nvGraphicFramePr>
        <p:xfrm>
          <a:off x="9144000" y="1371600"/>
          <a:ext cx="2880360" cy="3794760"/>
        </p:xfrm>
        <a:graphic xmlns:a="http://schemas.openxmlformats.org/drawingml/2006/main">
          <a:graphicData uri="http://schemas.openxmlformats.org/drawingml/2006/chart">
            <c:chart xmlns:c="http://schemas.openxmlformats.org/drawingml/2006/chart" r:id="rId4"/>
          </a:graphicData>
        </a:graphic>
      </p:graphicFrame>
      <p:sp>
        <p:nvSpPr>
          <p:cNvPr id="9" name="Text 3"/>
          <p:cNvSpPr txBox="1"/>
          <p:nvPr/>
        </p:nvSpPr>
        <p:spPr>
          <a:xfrm>
            <a:off x="548640" y="5120640"/>
            <a:ext cx="11064240" cy="274320"/>
          </a:xfrm>
          <a:prstGeom prst="rect">
            <a:avLst/>
          </a:prstGeom>
          <a:noFill/>
          <a:ln/>
        </p:spPr>
        <p:txBody>
          <a:bodyPr wrap="square" lIns="0" tIns="0" rIns="0" bIns="0" rtlCol="0" anchor="t"/>
          <a:lstStyle/>
          <a:p>
            <a:pPr indent="0" marL="0">
              <a:buNone/>
            </a:pPr>
            <a:r>
              <a:rPr lang="en-US" sz="1200" dirty="0">
                <a:solidFill>
                  <a:srgbClr val="595959"/>
                </a:solidFill>
                <a:latin typeface="Calibri" pitchFamily="34" charset="0"/>
                <a:ea typeface="Calibri" pitchFamily="34" charset="-122"/>
                <a:cs typeface="Calibri" pitchFamily="34" charset="-120"/>
              </a:rPr>
              <a:t>Number above each bar: % of requests dropped (cancelled by the policy or lost to queue overflow). Greedy-2D mostly does not drop (queue overflow only at 24 req/s on the two heaviest mixes), but its requests complete late.</a:t>
            </a:r>
            <a:endParaRPr lang="en-US" sz="1200" dirty="0"/>
          </a:p>
        </p:txBody>
      </p:sp>
      <p:sp>
        <p:nvSpPr>
          <p:cNvPr id="10" name="Text 4"/>
          <p:cNvSpPr txBox="1"/>
          <p:nvPr/>
        </p:nvSpPr>
        <p:spPr>
          <a:xfrm>
            <a:off x="548640" y="5486400"/>
            <a:ext cx="11064240" cy="640080"/>
          </a:xfrm>
          <a:prstGeom prst="rect">
            <a:avLst/>
          </a:prstGeom>
          <a:noFill/>
          <a:ln/>
        </p:spPr>
        <p:txBody>
          <a:bodyPr wrap="square" lIns="0" tIns="0" rIns="0" bIns="0" rtlCol="0" anchor="t"/>
          <a:lstStyle/>
          <a:p>
            <a:pPr indent="0" marL="0">
              <a:buNone/>
            </a:pPr>
            <a:r>
              <a:rPr lang="en-US" sz="1300" b="1" dirty="0">
                <a:solidFill>
                  <a:srgbClr val="000000"/>
                </a:solidFill>
                <a:latin typeface="Calibri" pitchFamily="34" charset="0"/>
                <a:ea typeface="Calibri" pitchFamily="34" charset="-122"/>
                <a:cs typeface="Calibri" pitchFamily="34" charset="-120"/>
              </a:rPr>
              <a:t>Takeaway. </a:t>
            </a:r>
            <a:pPr indent="0" marL="0">
              <a:buNone/>
            </a:pPr>
            <a:r>
              <a:rPr lang="en-US" sz="1300" dirty="0">
                <a:solidFill>
                  <a:srgbClr val="000000"/>
                </a:solidFill>
                <a:latin typeface="Calibri" pitchFamily="34" charset="0"/>
                <a:ea typeface="Calibri" pitchFamily="34" charset="-122"/>
                <a:cs typeface="Calibri" pitchFamily="34" charset="-120"/>
              </a:rPr>
              <a:t>Symphony is again lowest on every mix (at 2400 ms 4% below Clockwork on l55, 12 to 16% on the others). Greedy-2D sits at the saturation level (about 1.1 to 1.2 kJ) wherever it collapses, because the board runs at full tilt but serves little.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863840" y="109728"/>
            <a:ext cx="374904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RESULTS  |  ENERGY</a:t>
            </a:r>
            <a:endParaRPr lang="en-US" sz="1000" dirty="0"/>
          </a:p>
        </p:txBody>
      </p:sp>
      <p:sp>
        <p:nvSpPr>
          <p:cNvPr id="3" name="Text 1"/>
          <p:cNvSpPr txBox="1"/>
          <p:nvPr/>
        </p:nvSpPr>
        <p:spPr>
          <a:xfrm>
            <a:off x="548640" y="365760"/>
            <a:ext cx="11064240" cy="594360"/>
          </a:xfrm>
          <a:prstGeom prst="rect">
            <a:avLst/>
          </a:prstGeom>
          <a:noFill/>
          <a:ln/>
        </p:spPr>
        <p:txBody>
          <a:bodyPr wrap="square" lIns="0" tIns="0" rIns="0" bIns="0" rtlCol="0" anchor="t"/>
          <a:lstStyle/>
          <a:p>
            <a:pPr indent="0" marL="0">
              <a:buNone/>
            </a:pPr>
            <a:r>
              <a:rPr lang="en-US" sz="2600" b="1" dirty="0">
                <a:solidFill>
                  <a:srgbClr val="000000"/>
                </a:solidFill>
                <a:latin typeface="Calibri" pitchFamily="34" charset="0"/>
                <a:ea typeface="Calibri" pitchFamily="34" charset="-122"/>
                <a:cs typeface="Calibri" pitchFamily="34" charset="-120"/>
              </a:rPr>
              <a:t>Total energy at high load (24 req/s)</a:t>
            </a:r>
            <a:endParaRPr lang="en-US" sz="2600" dirty="0"/>
          </a:p>
        </p:txBody>
      </p:sp>
      <p:sp>
        <p:nvSpPr>
          <p:cNvPr id="4" name="Text 2"/>
          <p:cNvSpPr txBox="1"/>
          <p:nvPr/>
        </p:nvSpPr>
        <p:spPr>
          <a:xfrm>
            <a:off x="548640" y="914400"/>
            <a:ext cx="11064240" cy="36576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Total board energy over the same fixed 120 s measured window for every run (idle draw included, no 5 V system rail), against deadline; four mixes</a:t>
            </a:r>
            <a:endParaRPr lang="en-US" sz="1300" dirty="0"/>
          </a:p>
        </p:txBody>
      </p:sp>
      <p:graphicFrame>
        <p:nvGraphicFramePr>
          <p:cNvPr id="5" name="Chart 0" descr=""/>
          <p:cNvGraphicFramePr/>
          <p:nvPr/>
        </p:nvGraphicFramePr>
        <p:xfrm>
          <a:off x="365760" y="1371600"/>
          <a:ext cx="2880360" cy="37947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3291840" y="1371600"/>
          <a:ext cx="2880360" cy="379476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6217920" y="1371600"/>
          <a:ext cx="2880360" cy="3794760"/>
        </p:xfrm>
        <a:graphic xmlns:a="http://schemas.openxmlformats.org/drawingml/2006/main">
          <a:graphicData uri="http://schemas.openxmlformats.org/drawingml/2006/chart">
            <c:chart xmlns:c="http://schemas.openxmlformats.org/drawingml/2006/chart" r:id="rId3"/>
          </a:graphicData>
        </a:graphic>
      </p:graphicFrame>
      <p:graphicFrame>
        <p:nvGraphicFramePr>
          <p:cNvPr id="8" name="Chart 3" descr=""/>
          <p:cNvGraphicFramePr/>
          <p:nvPr/>
        </p:nvGraphicFramePr>
        <p:xfrm>
          <a:off x="9144000" y="1371600"/>
          <a:ext cx="2880360" cy="3794760"/>
        </p:xfrm>
        <a:graphic xmlns:a="http://schemas.openxmlformats.org/drawingml/2006/main">
          <a:graphicData uri="http://schemas.openxmlformats.org/drawingml/2006/chart">
            <c:chart xmlns:c="http://schemas.openxmlformats.org/drawingml/2006/chart" r:id="rId4"/>
          </a:graphicData>
        </a:graphic>
      </p:graphicFrame>
      <p:sp>
        <p:nvSpPr>
          <p:cNvPr id="9" name="Text 3"/>
          <p:cNvSpPr txBox="1"/>
          <p:nvPr/>
        </p:nvSpPr>
        <p:spPr>
          <a:xfrm>
            <a:off x="548640" y="5120640"/>
            <a:ext cx="11064240" cy="274320"/>
          </a:xfrm>
          <a:prstGeom prst="rect">
            <a:avLst/>
          </a:prstGeom>
          <a:noFill/>
          <a:ln/>
        </p:spPr>
        <p:txBody>
          <a:bodyPr wrap="square" lIns="0" tIns="0" rIns="0" bIns="0" rtlCol="0" anchor="t"/>
          <a:lstStyle/>
          <a:p>
            <a:pPr indent="0" marL="0">
              <a:buNone/>
            </a:pPr>
            <a:r>
              <a:rPr lang="en-US" sz="1200" dirty="0">
                <a:solidFill>
                  <a:srgbClr val="595959"/>
                </a:solidFill>
                <a:latin typeface="Calibri" pitchFamily="34" charset="0"/>
                <a:ea typeface="Calibri" pitchFamily="34" charset="-122"/>
                <a:cs typeface="Calibri" pitchFamily="34" charset="-120"/>
              </a:rPr>
              <a:t>Number above each bar: % of requests dropped (cancelled by the policy or lost to queue overflow). Greedy-2D mostly does not drop (queue overflow only at 24 req/s on the two heaviest mixes), but its requests complete late.</a:t>
            </a:r>
            <a:endParaRPr lang="en-US" sz="1200" dirty="0"/>
          </a:p>
        </p:txBody>
      </p:sp>
      <p:sp>
        <p:nvSpPr>
          <p:cNvPr id="10" name="Text 4"/>
          <p:cNvSpPr txBox="1"/>
          <p:nvPr/>
        </p:nvSpPr>
        <p:spPr>
          <a:xfrm>
            <a:off x="548640" y="5486400"/>
            <a:ext cx="11064240" cy="640080"/>
          </a:xfrm>
          <a:prstGeom prst="rect">
            <a:avLst/>
          </a:prstGeom>
          <a:noFill/>
          <a:ln/>
        </p:spPr>
        <p:txBody>
          <a:bodyPr wrap="square" lIns="0" tIns="0" rIns="0" bIns="0" rtlCol="0" anchor="t"/>
          <a:lstStyle/>
          <a:p>
            <a:pPr indent="0" marL="0">
              <a:buNone/>
            </a:pPr>
            <a:r>
              <a:rPr lang="en-US" sz="1300" b="1" dirty="0">
                <a:solidFill>
                  <a:srgbClr val="000000"/>
                </a:solidFill>
                <a:latin typeface="Calibri" pitchFamily="34" charset="0"/>
                <a:ea typeface="Calibri" pitchFamily="34" charset="-122"/>
                <a:cs typeface="Calibri" pitchFamily="34" charset="-120"/>
              </a:rPr>
              <a:t>Takeaway. </a:t>
            </a:r>
            <a:pPr indent="0" marL="0">
              <a:buNone/>
            </a:pPr>
            <a:r>
              <a:rPr lang="en-US" sz="1300" dirty="0">
                <a:solidFill>
                  <a:srgbClr val="000000"/>
                </a:solidFill>
                <a:latin typeface="Calibri" pitchFamily="34" charset="0"/>
                <a:ea typeface="Calibri" pitchFamily="34" charset="-122"/>
                <a:cs typeface="Calibri" pitchFamily="34" charset="-120"/>
              </a:rPr>
              <a:t>Energy rises toward a ceiling of about 1.25 kJ as the board saturates. Symphony stays lowest on skewed (9% below Clockwork at 2400 ms) and the light mix (11%), and level with Clockwork on the overloaded heavy and balanced mixes.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863840" y="109728"/>
            <a:ext cx="374904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RESULTS  |  THE GAP</a:t>
            </a:r>
            <a:endParaRPr lang="en-US" sz="1000" dirty="0"/>
          </a:p>
        </p:txBody>
      </p:sp>
      <p:sp>
        <p:nvSpPr>
          <p:cNvPr id="3" name="Text 1"/>
          <p:cNvSpPr txBox="1"/>
          <p:nvPr/>
        </p:nvSpPr>
        <p:spPr>
          <a:xfrm>
            <a:off x="548640" y="365760"/>
            <a:ext cx="11064240" cy="594360"/>
          </a:xfrm>
          <a:prstGeom prst="rect">
            <a:avLst/>
          </a:prstGeom>
          <a:noFill/>
          <a:ln/>
        </p:spPr>
        <p:txBody>
          <a:bodyPr wrap="square" lIns="0" tIns="0" rIns="0" bIns="0" rtlCol="0" anchor="t"/>
          <a:lstStyle/>
          <a:p>
            <a:pPr indent="0" marL="0">
              <a:buNone/>
            </a:pPr>
            <a:r>
              <a:rPr lang="en-US" sz="2600" b="1" dirty="0">
                <a:solidFill>
                  <a:srgbClr val="000000"/>
                </a:solidFill>
                <a:latin typeface="Calibri" pitchFamily="34" charset="0"/>
                <a:ea typeface="Calibri" pitchFamily="34" charset="-122"/>
                <a:cs typeface="Calibri" pitchFamily="34" charset="-120"/>
              </a:rPr>
              <a:t>Goodput against total energy: more goodput costs more energy</a:t>
            </a:r>
            <a:endParaRPr lang="en-US" sz="2600" dirty="0"/>
          </a:p>
        </p:txBody>
      </p:sp>
      <p:sp>
        <p:nvSpPr>
          <p:cNvPr id="4" name="Text 2"/>
          <p:cNvSpPr txBox="1"/>
          <p:nvPr/>
        </p:nvSpPr>
        <p:spPr>
          <a:xfrm>
            <a:off x="548640" y="914400"/>
            <a:ext cx="11064240" cy="36576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Skewed mix, three loads; each point is a policy at one deadline; total board energy over the 120 s window; mean of 3 seeds</a:t>
            </a:r>
            <a:endParaRPr lang="en-US" sz="1300" dirty="0"/>
          </a:p>
        </p:txBody>
      </p:sp>
      <p:graphicFrame>
        <p:nvGraphicFramePr>
          <p:cNvPr id="5" name="Chart 0" descr=""/>
          <p:cNvGraphicFramePr/>
          <p:nvPr/>
        </p:nvGraphicFramePr>
        <p:xfrm>
          <a:off x="365760" y="1417320"/>
          <a:ext cx="3749040" cy="37490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206240" y="1417320"/>
          <a:ext cx="3749040" cy="374904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8046720" y="1417320"/>
          <a:ext cx="3749040" cy="3749040"/>
        </p:xfrm>
        <a:graphic xmlns:a="http://schemas.openxmlformats.org/drawingml/2006/main">
          <a:graphicData uri="http://schemas.openxmlformats.org/drawingml/2006/chart">
            <c:chart xmlns:c="http://schemas.openxmlformats.org/drawingml/2006/chart" r:id="rId3"/>
          </a:graphicData>
        </a:graphic>
      </p:graphicFrame>
      <p:sp>
        <p:nvSpPr>
          <p:cNvPr id="8" name="Text 3"/>
          <p:cNvSpPr txBox="1"/>
          <p:nvPr/>
        </p:nvSpPr>
        <p:spPr>
          <a:xfrm>
            <a:off x="548640" y="5212080"/>
            <a:ext cx="11064240" cy="457200"/>
          </a:xfrm>
          <a:prstGeom prst="rect">
            <a:avLst/>
          </a:prstGeom>
          <a:noFill/>
          <a:ln/>
        </p:spPr>
        <p:txBody>
          <a:bodyPr wrap="square" lIns="0" tIns="0" rIns="0" bIns="0" rtlCol="0" anchor="t"/>
          <a:lstStyle/>
          <a:p>
            <a:pPr indent="0" marL="0">
              <a:buNone/>
            </a:pPr>
            <a:r>
              <a:rPr lang="en-US" sz="1200" dirty="0">
                <a:solidFill>
                  <a:srgbClr val="595959"/>
                </a:solidFill>
                <a:latin typeface="Calibri" pitchFamily="34" charset="0"/>
                <a:ea typeface="Calibri" pitchFamily="34" charset="-122"/>
                <a:cs typeface="Calibri" pitchFamily="34" charset="-120"/>
              </a:rPr>
              <a:t>Labels mark the deadline for Clockwork and Symphony. Greedy-2D is unlabelled: at 16 and 24 req/s it collapses (3 to 17% goodput at 24 req/s) and still spends about as much energy as the others.</a:t>
            </a:r>
            <a:endParaRPr lang="en-US" sz="1200" dirty="0"/>
          </a:p>
        </p:txBody>
      </p:sp>
      <p:sp>
        <p:nvSpPr>
          <p:cNvPr id="9" name="Text 4"/>
          <p:cNvSpPr txBox="1"/>
          <p:nvPr/>
        </p:nvSpPr>
        <p:spPr>
          <a:xfrm>
            <a:off x="548640" y="5760720"/>
            <a:ext cx="11064240" cy="640080"/>
          </a:xfrm>
          <a:prstGeom prst="rect">
            <a:avLst/>
          </a:prstGeom>
          <a:noFill/>
          <a:ln/>
        </p:spPr>
        <p:txBody>
          <a:bodyPr wrap="square" lIns="0" tIns="0" rIns="0" bIns="0" rtlCol="0" anchor="t"/>
          <a:lstStyle/>
          <a:p>
            <a:pPr indent="0" marL="0">
              <a:buNone/>
            </a:pPr>
            <a:r>
              <a:rPr lang="en-US" sz="1300" b="1" dirty="0">
                <a:solidFill>
                  <a:srgbClr val="000000"/>
                </a:solidFill>
                <a:latin typeface="Calibri" pitchFamily="34" charset="0"/>
                <a:ea typeface="Calibri" pitchFamily="34" charset="-122"/>
                <a:cs typeface="Calibri" pitchFamily="34" charset="-120"/>
              </a:rPr>
              <a:t>Takeaway. </a:t>
            </a:r>
            <a:pPr indent="0" marL="0">
              <a:buNone/>
            </a:pPr>
            <a:r>
              <a:rPr lang="en-US" sz="1300" dirty="0">
                <a:solidFill>
                  <a:srgbClr val="000000"/>
                </a:solidFill>
                <a:latin typeface="Calibri" pitchFamily="34" charset="0"/>
                <a:ea typeface="Calibri" pitchFamily="34" charset="-122"/>
                <a:cs typeface="Calibri" pitchFamily="34" charset="-120"/>
              </a:rPr>
              <a:t>Symphony always spends less than Clockwork, but at 150 ms Clockwork's 3 to 7% extra energy buys 11 to 14 points of goodput, while at 2400 ms its 10 to 19% extra buys only 2 to 4. No policy reaches high goodput at low energy.</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863840" y="109728"/>
            <a:ext cx="374904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PART 5  |  CITYFLOW DISPATCHER</a:t>
            </a:r>
            <a:endParaRPr lang="en-US" sz="1000" dirty="0"/>
          </a:p>
        </p:txBody>
      </p:sp>
      <p:sp>
        <p:nvSpPr>
          <p:cNvPr id="3" name="Text 1"/>
          <p:cNvSpPr txBox="1"/>
          <p:nvPr/>
        </p:nvSpPr>
        <p:spPr>
          <a:xfrm>
            <a:off x="548640" y="365760"/>
            <a:ext cx="11064240" cy="594360"/>
          </a:xfrm>
          <a:prstGeom prst="rect">
            <a:avLst/>
          </a:prstGeom>
          <a:noFill/>
          <a:ln/>
        </p:spPr>
        <p:txBody>
          <a:bodyPr wrap="square" lIns="0" tIns="0" rIns="0" bIns="0" rtlCol="0" anchor="t"/>
          <a:lstStyle/>
          <a:p>
            <a:pPr indent="0" marL="0">
              <a:buNone/>
            </a:pPr>
            <a:r>
              <a:rPr lang="en-US" sz="2600" b="1" dirty="0">
                <a:solidFill>
                  <a:srgbClr val="000000"/>
                </a:solidFill>
                <a:latin typeface="Calibri" pitchFamily="34" charset="0"/>
                <a:ea typeface="Calibri" pitchFamily="34" charset="-122"/>
                <a:cs typeface="Calibri" pitchFamily="34" charset="-120"/>
              </a:rPr>
              <a:t>CityFlow dispatcher: methodology</a:t>
            </a:r>
            <a:endParaRPr lang="en-US" sz="2600" dirty="0"/>
          </a:p>
        </p:txBody>
      </p:sp>
      <p:sp>
        <p:nvSpPr>
          <p:cNvPr id="4" name="Text 2"/>
          <p:cNvSpPr txBox="1"/>
          <p:nvPr/>
        </p:nvSpPr>
        <p:spPr>
          <a:xfrm>
            <a:off x="548640" y="914400"/>
            <a:ext cx="11064240" cy="36576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PERTINENCE-style NSGA-II dispatcher search on CityFlow CCTV frames</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103120"/>
                <a:gridCol w="8961120"/>
              </a:tblGrid>
              <a:tr h="36576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Step</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What was done</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r>
              <a:tr h="91440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Label</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 frame is correct for a model if its box recall against yolov8l is at least 0.80 (IoU 0.5, road classes, conf 0.25). Ideal label = cheapest correct model; yolov8l is correct by definition. CityFlow GT has no classes and covers only vehicles seen by 2 or more cameras, so yolov8l is the reference</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Model pool</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yolov8 n, s, m fine-tuned on CityFlow frames (v1); l stock. Fine-tuning on pseudo-labels from S05</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73152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Dispatcher</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Frame embedding from a 3.156 GFLOP extractor, then a fully connected head. 13-gene chromosome, population 50, 50 generations, penalty-matrix loss, INS / ISNS / ENS class weighting; 2,500 evaluations, front over all evaluations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4864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Split (clean protocol)</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Head trained on S05 camera fold A (7,729 frames); NSGA-II fitness on S05 fold B (7,046 frames); final result reported once on S02</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4864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Metric</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alpha_sys (fraction of frames routed to a correct model) against GFLOPs, extractor cost included; compared with the static n / s / m / l policies and their hull</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669280"/>
            <a:ext cx="11064240" cy="640080"/>
          </a:xfrm>
          <a:prstGeom prst="rect">
            <a:avLst/>
          </a:prstGeom>
          <a:noFill/>
          <a:ln/>
        </p:spPr>
        <p:txBody>
          <a:bodyPr wrap="square" lIns="0" tIns="0" rIns="0" bIns="0" rtlCol="0" anchor="t"/>
          <a:lstStyle/>
          <a:p>
            <a:pPr indent="0" marL="0">
              <a:buNone/>
            </a:pPr>
            <a:r>
              <a:rPr lang="en-US" sz="1300" b="1" dirty="0">
                <a:solidFill>
                  <a:srgbClr val="000000"/>
                </a:solidFill>
                <a:latin typeface="Calibri" pitchFamily="34" charset="0"/>
                <a:ea typeface="Calibri" pitchFamily="34" charset="-122"/>
                <a:cs typeface="Calibri" pitchFamily="34" charset="-120"/>
              </a:rPr>
              <a:t>Takeaway. </a:t>
            </a:r>
            <a:pPr indent="0" marL="0">
              <a:buNone/>
            </a:pPr>
            <a:r>
              <a:rPr lang="en-US" sz="1300" dirty="0">
                <a:solidFill>
                  <a:srgbClr val="000000"/>
                </a:solidFill>
                <a:latin typeface="Calibri" pitchFamily="34" charset="0"/>
                <a:ea typeface="Calibri" pitchFamily="34" charset="-122"/>
                <a:cs typeface="Calibri" pitchFamily="34" charset="-120"/>
              </a:rPr>
              <a:t>Labels, pool and split were fixed before looking at S02, and S02 was scored once.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863840" y="109728"/>
            <a:ext cx="374904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PART 5  |  CITYFLOW DISPATCHER</a:t>
            </a:r>
            <a:endParaRPr lang="en-US" sz="1000" dirty="0"/>
          </a:p>
        </p:txBody>
      </p:sp>
      <p:sp>
        <p:nvSpPr>
          <p:cNvPr id="3" name="Text 1"/>
          <p:cNvSpPr txBox="1"/>
          <p:nvPr/>
        </p:nvSpPr>
        <p:spPr>
          <a:xfrm>
            <a:off x="548640" y="365760"/>
            <a:ext cx="11064240" cy="594360"/>
          </a:xfrm>
          <a:prstGeom prst="rect">
            <a:avLst/>
          </a:prstGeom>
          <a:noFill/>
          <a:ln/>
        </p:spPr>
        <p:txBody>
          <a:bodyPr wrap="square" lIns="0" tIns="0" rIns="0" bIns="0" rtlCol="0" anchor="t"/>
          <a:lstStyle/>
          <a:p>
            <a:pPr indent="0" marL="0">
              <a:buNone/>
            </a:pPr>
            <a:r>
              <a:rPr lang="en-US" sz="2600" b="1" dirty="0">
                <a:solidFill>
                  <a:srgbClr val="000000"/>
                </a:solidFill>
                <a:latin typeface="Calibri" pitchFamily="34" charset="0"/>
                <a:ea typeface="Calibri" pitchFamily="34" charset="-122"/>
                <a:cs typeface="Calibri" pitchFamily="34" charset="-120"/>
              </a:rPr>
              <a:t>CityFlow dispatcher: the fix did not work</a:t>
            </a:r>
            <a:endParaRPr lang="en-US" sz="2600" dirty="0"/>
          </a:p>
        </p:txBody>
      </p:sp>
      <p:sp>
        <p:nvSpPr>
          <p:cNvPr id="4" name="Text 2"/>
          <p:cNvSpPr txBox="1"/>
          <p:nvPr/>
        </p:nvSpPr>
        <p:spPr>
          <a:xfrm>
            <a:off x="548640" y="914400"/>
            <a:ext cx="11064240" cy="36576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S02 result, scored once. Static policies against the NSGA-II front (v1 pool, v1 labels)</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566160"/>
                <a:gridCol w="1645920"/>
                <a:gridCol w="1188720"/>
                <a:gridCol w="4663440"/>
              </a:tblGrid>
              <a:tr h="41148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Policy</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alpha_sys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GFLOPs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Note</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r>
              <a:tr h="41148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Static n</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0.518</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8.7</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1148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Static 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0.780</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28.6</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1148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Static m</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0.867</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78.9</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1148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Static l</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165.1</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1148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Oracle (cheapest correct)</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32.1</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about 80% cheaper than always-l</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1148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Dispatcher, clean protocol (S05 folds)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+0.013 over hull</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146</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109 front points, 8 above the static hull; 84% of frames sent to l</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1148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Dispatcher, train-split protocol</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+0.038 over hull</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21.8</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28 of 119 above hull; 50% n / 50% s; train labels 88% n, not trustworthy</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4892040"/>
            <a:ext cx="11064240" cy="365760"/>
          </a:xfrm>
          <a:prstGeom prst="rect">
            <a:avLst/>
          </a:prstGeom>
          <a:noFill/>
          <a:ln/>
        </p:spPr>
        <p:txBody>
          <a:bodyPr wrap="square" lIns="0" tIns="0" rIns="0" bIns="0" rtlCol="0" anchor="t"/>
          <a:lstStyle/>
          <a:p>
            <a:pPr indent="0" marL="0">
              <a:buNone/>
            </a:pPr>
            <a:r>
              <a:rPr lang="en-US" sz="1200" dirty="0">
                <a:solidFill>
                  <a:srgbClr val="595959"/>
                </a:solidFill>
                <a:latin typeface="Calibri" pitchFamily="34" charset="0"/>
                <a:ea typeface="Calibri" pitchFamily="34" charset="-122"/>
                <a:cs typeface="Calibri" pitchFamily="34" charset="-120"/>
              </a:rPr>
              <a:t>No front point is balanced (largest share at most 0.7 and smallest at least 0.05) in either protocol.</a:t>
            </a:r>
            <a:endParaRPr lang="en-US" sz="1200" dirty="0"/>
          </a:p>
        </p:txBody>
      </p:sp>
      <p:sp>
        <p:nvSpPr>
          <p:cNvPr id="7" name="Text 4"/>
          <p:cNvSpPr txBox="1"/>
          <p:nvPr/>
        </p:nvSpPr>
        <p:spPr>
          <a:xfrm>
            <a:off x="548640" y="5349240"/>
            <a:ext cx="11064240" cy="640080"/>
          </a:xfrm>
          <a:prstGeom prst="rect">
            <a:avLst/>
          </a:prstGeom>
          <a:noFill/>
          <a:ln/>
        </p:spPr>
        <p:txBody>
          <a:bodyPr wrap="square" lIns="0" tIns="0" rIns="0" bIns="0" rtlCol="0" anchor="t"/>
          <a:lstStyle/>
          <a:p>
            <a:pPr indent="0" marL="0">
              <a:buNone/>
            </a:pPr>
            <a:r>
              <a:rPr lang="en-US" sz="1300" b="1" dirty="0">
                <a:solidFill>
                  <a:srgbClr val="000000"/>
                </a:solidFill>
                <a:latin typeface="Calibri" pitchFamily="34" charset="0"/>
                <a:ea typeface="Calibri" pitchFamily="34" charset="-122"/>
                <a:cs typeface="Calibri" pitchFamily="34" charset="-120"/>
              </a:rPr>
              <a:t>Takeaway. </a:t>
            </a:r>
            <a:pPr indent="0" marL="0">
              <a:buNone/>
            </a:pPr>
            <a:r>
              <a:rPr lang="en-US" sz="1300" dirty="0">
                <a:solidFill>
                  <a:srgbClr val="000000"/>
                </a:solidFill>
                <a:latin typeface="Calibri" pitchFamily="34" charset="0"/>
                <a:ea typeface="Calibri" pitchFamily="34" charset="-122"/>
                <a:cs typeface="Calibri" pitchFamily="34" charset="-120"/>
              </a:rPr>
              <a:t>The headroom is real (the oracle is far cheaper than always-l), but the dispatchers that came out are at best on par with static policies. I could not build a working dispatcher, so the CityFlow routing fix is not delivered.</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863840" y="109728"/>
            <a:ext cx="374904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PART 5  |  CITYFLOW DISPATCHER</a:t>
            </a:r>
            <a:endParaRPr lang="en-US" sz="1000" dirty="0"/>
          </a:p>
        </p:txBody>
      </p:sp>
      <p:sp>
        <p:nvSpPr>
          <p:cNvPr id="3" name="Text 1"/>
          <p:cNvSpPr txBox="1"/>
          <p:nvPr/>
        </p:nvSpPr>
        <p:spPr>
          <a:xfrm>
            <a:off x="548640" y="365760"/>
            <a:ext cx="11064240" cy="594360"/>
          </a:xfrm>
          <a:prstGeom prst="rect">
            <a:avLst/>
          </a:prstGeom>
          <a:noFill/>
          <a:ln/>
        </p:spPr>
        <p:txBody>
          <a:bodyPr wrap="square" lIns="0" tIns="0" rIns="0" bIns="0" rtlCol="0" anchor="t"/>
          <a:lstStyle/>
          <a:p>
            <a:pPr indent="0" marL="0">
              <a:buNone/>
            </a:pPr>
            <a:r>
              <a:rPr lang="en-US" sz="2600" b="1" dirty="0">
                <a:solidFill>
                  <a:srgbClr val="000000"/>
                </a:solidFill>
                <a:latin typeface="Calibri" pitchFamily="34" charset="0"/>
                <a:ea typeface="Calibri" pitchFamily="34" charset="-122"/>
                <a:cs typeface="Calibri" pitchFamily="34" charset="-120"/>
              </a:rPr>
              <a:t>Why it failed, and what is still open</a:t>
            </a:r>
            <a:endParaRPr lang="en-US" sz="2600" dirty="0"/>
          </a:p>
        </p:txBody>
      </p:sp>
      <p:sp>
        <p:nvSpPr>
          <p:cNvPr id="4" name="Text 2"/>
          <p:cNvSpPr txBox="1"/>
          <p:nvPr/>
        </p:nvSpPr>
        <p:spPr>
          <a:xfrm>
            <a:off x="548640" y="914400"/>
            <a:ext cx="11064240" cy="36576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Parked, not closed. The cause is not isolated yet</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926080"/>
                <a:gridCol w="8138160"/>
              </a:tblGrid>
              <a:tr h="36576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Detail</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r>
              <a:tr h="73152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Translating labels for fine-tuning did not help</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Relabelling CCTV frames by box recall and fine-tuning on the result did not give dispatchers that route correctly; the dispatchers formed were not correct on the fine-tuned models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86868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Fine-tuning flaw (v1)</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The fine-tune ran the bias parameters at a learning rate several hundred times too high in the first two epochs (a library default), so the saved models are weak, especially m</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9436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Fix written, not run</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The fine-tuning script is corrected (warm-up learning rate), but the retrain and the dispatcher rerun on the new models need the laptop GPU and have not been run</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73152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Open causes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Label criterion (per-frame F1 vs confident l boxes, count tolerance, temporal window, a reference beyond l); the weak v1 pool; single-frame features. A label shoot-out on cached data needs no GPU</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48640">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Earlier signal (week 6)</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COCO-trained dispatcher heads collapse on CityFlow: 67 of 93 heads send more than 95% of frames to one model (domain shift)</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852160"/>
            <a:ext cx="11064240" cy="640080"/>
          </a:xfrm>
          <a:prstGeom prst="rect">
            <a:avLst/>
          </a:prstGeom>
          <a:noFill/>
          <a:ln/>
        </p:spPr>
        <p:txBody>
          <a:bodyPr wrap="square" lIns="0" tIns="0" rIns="0" bIns="0" rtlCol="0" anchor="t"/>
          <a:lstStyle/>
          <a:p>
            <a:pPr indent="0" marL="0">
              <a:buNone/>
            </a:pPr>
            <a:r>
              <a:rPr lang="en-US" sz="1300" b="1" dirty="0">
                <a:solidFill>
                  <a:srgbClr val="000000"/>
                </a:solidFill>
                <a:latin typeface="Calibri" pitchFamily="34" charset="0"/>
                <a:ea typeface="Calibri" pitchFamily="34" charset="-122"/>
                <a:cs typeface="Calibri" pitchFamily="34" charset="-120"/>
              </a:rPr>
              <a:t>Takeaway. </a:t>
            </a:r>
            <a:pPr indent="0" marL="0">
              <a:buNone/>
            </a:pPr>
            <a:r>
              <a:rPr lang="en-US" sz="1300" dirty="0">
                <a:solidFill>
                  <a:srgbClr val="000000"/>
                </a:solidFill>
                <a:latin typeface="Calibri" pitchFamily="34" charset="0"/>
                <a:ea typeface="Calibri" pitchFamily="34" charset="-122"/>
                <a:cs typeface="Calibri" pitchFamily="34" charset="-120"/>
              </a:rPr>
              <a:t>Decision: parked so the week could go to the Jetson work, since the generic scheduler needs hardware numbers, not routing.</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863840" y="109728"/>
            <a:ext cx="374904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RESULTS  |  THE GAP</a:t>
            </a:r>
            <a:endParaRPr lang="en-US" sz="1000" dirty="0"/>
          </a:p>
        </p:txBody>
      </p:sp>
      <p:sp>
        <p:nvSpPr>
          <p:cNvPr id="3" name="Text 1"/>
          <p:cNvSpPr txBox="1"/>
          <p:nvPr/>
        </p:nvSpPr>
        <p:spPr>
          <a:xfrm>
            <a:off x="548640" y="365760"/>
            <a:ext cx="11064240" cy="594360"/>
          </a:xfrm>
          <a:prstGeom prst="rect">
            <a:avLst/>
          </a:prstGeom>
          <a:noFill/>
          <a:ln/>
        </p:spPr>
        <p:txBody>
          <a:bodyPr wrap="square" lIns="0" tIns="0" rIns="0" bIns="0" rtlCol="0" anchor="t"/>
          <a:lstStyle/>
          <a:p>
            <a:pPr indent="0" marL="0">
              <a:buNone/>
            </a:pPr>
            <a:r>
              <a:rPr lang="en-US" sz="2600" b="1" dirty="0">
                <a:solidFill>
                  <a:srgbClr val="000000"/>
                </a:solidFill>
                <a:latin typeface="Calibri" pitchFamily="34" charset="0"/>
                <a:ea typeface="Calibri" pitchFamily="34" charset="-122"/>
                <a:cs typeface="Calibri" pitchFamily="34" charset="-120"/>
              </a:rPr>
              <a:t>Limits of these results</a:t>
            </a:r>
            <a:endParaRPr lang="en-US" sz="2600" dirty="0"/>
          </a:p>
        </p:txBody>
      </p:sp>
      <p:sp>
        <p:nvSpPr>
          <p:cNvPr id="4" name="Text 2"/>
          <p:cNvSpPr txBox="1"/>
          <p:nvPr/>
        </p:nvSpPr>
        <p:spPr>
          <a:xfrm>
            <a:off x="548640" y="914400"/>
            <a:ext cx="11064240" cy="36576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What I would not claim yet</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743200"/>
                <a:gridCol w="8321040"/>
              </a:tblGrid>
              <a:tr h="475488">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Limit</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Detail</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5F5"/>
                    </a:solidFill>
                  </a:tcPr>
                </a:tc>
              </a:tr>
              <a:tr h="475488">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One board, one backend</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AGX Xavier, eager FP16, YOLOv8 only; TensorRT may change the batch-time curve</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75488">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Few seeds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2 to 3 per point; on the skewed mix goodput varies by at most 2 points and energy by 2 to 3%</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75488">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Overload is not steady state</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Runs above capacity show spiral and shedding behaviour; Little's law fails there by design</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75488">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Energy has soft spots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Sampler runs at 8.25 Hz; the busy/idle split is not clean ('idle' gaps draw about 7.4 W against a 2.9 W floor)</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75488">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Total energy includes idle draw</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Energy is the whole board over a fixed 120 s window, idle draw included; a policy that drops requests does less work and spends less, so read it next to goodput</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75488">
                <a:tc>
                  <a:txBody>
                    <a:bodyPr/>
                    <a:lstStyle/>
                    <a:p>
                      <a:pPr algn="l" indent="0" marL="0">
                        <a:buNone/>
                      </a:pPr>
                      <a:r>
                        <a:rPr lang="en-US" sz="1150" b="1" dirty="0">
                          <a:solidFill>
                            <a:srgbClr val="000000"/>
                          </a:solidFill>
                          <a:latin typeface="Calibri" pitchFamily="34" charset="0"/>
                          <a:ea typeface="Calibri" pitchFamily="34" charset="-122"/>
                          <a:cs typeface="Calibri" pitchFamily="34" charset="-120"/>
                        </a:rPr>
                        <a:t>Hypotheses, not results</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Symphony's drops on one GPU look like window collisions between queues, and Clockwork might drop the slow queues unfairly; neither is checked yet</a:t>
                      </a:r>
                      <a:endParaRPr lang="en-US" sz="1150" dirty="0">
                        <a:latin typeface="Calibri" charset="0"/>
                        <a:ea typeface="Calibri" charset="0"/>
                        <a:cs typeface="Calibri" charset="0"/>
                      </a:endParaRPr>
                    </a:p>
                  </a:txBody>
                  <a:tcPr marL="54864" marR="54864"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669280"/>
            <a:ext cx="11064240" cy="640080"/>
          </a:xfrm>
          <a:prstGeom prst="rect">
            <a:avLst/>
          </a:prstGeom>
          <a:noFill/>
          <a:ln/>
        </p:spPr>
        <p:txBody>
          <a:bodyPr wrap="square" lIns="0" tIns="0" rIns="0" bIns="0" rtlCol="0" anchor="t"/>
          <a:lstStyle/>
          <a:p>
            <a:pPr indent="0" marL="0">
              <a:buNone/>
            </a:pPr>
            <a:r>
              <a:rPr lang="en-US" sz="1300" b="1" dirty="0">
                <a:solidFill>
                  <a:srgbClr val="000000"/>
                </a:solidFill>
                <a:latin typeface="Calibri" pitchFamily="34" charset="0"/>
                <a:ea typeface="Calibri" pitchFamily="34" charset="-122"/>
                <a:cs typeface="Calibri" pitchFamily="34" charset="-120"/>
              </a:rPr>
              <a:t>Takeaway. </a:t>
            </a:r>
            <a:pPr indent="0" marL="0">
              <a:buNone/>
            </a:pPr>
            <a:r>
              <a:rPr lang="en-US" sz="1300" dirty="0">
                <a:solidFill>
                  <a:srgbClr val="000000"/>
                </a:solidFill>
                <a:latin typeface="Calibri" pitchFamily="34" charset="0"/>
                <a:ea typeface="Calibri" pitchFamily="34" charset="-122"/>
                <a:cs typeface="Calibri" pitchFamily="34" charset="-120"/>
              </a:rPr>
              <a:t>The ranking of the policies is consistent across mixes; the exact percentages are not (2 to 3 seeds, one board, eager FP16).</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863840" y="109728"/>
            <a:ext cx="374904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NEXT</a:t>
            </a:r>
            <a:endParaRPr lang="en-US" sz="1000" dirty="0"/>
          </a:p>
        </p:txBody>
      </p:sp>
      <p:sp>
        <p:nvSpPr>
          <p:cNvPr id="3" name="Text 1"/>
          <p:cNvSpPr txBox="1"/>
          <p:nvPr/>
        </p:nvSpPr>
        <p:spPr>
          <a:xfrm>
            <a:off x="548640" y="365760"/>
            <a:ext cx="11064240" cy="594360"/>
          </a:xfrm>
          <a:prstGeom prst="rect">
            <a:avLst/>
          </a:prstGeom>
          <a:noFill/>
          <a:ln/>
        </p:spPr>
        <p:txBody>
          <a:bodyPr wrap="square" lIns="0" tIns="0" rIns="0" bIns="0" rtlCol="0" anchor="t"/>
          <a:lstStyle/>
          <a:p>
            <a:pPr indent="0" marL="0">
              <a:buNone/>
            </a:pPr>
            <a:r>
              <a:rPr lang="en-US" sz="2600" b="1" dirty="0">
                <a:solidFill>
                  <a:srgbClr val="000000"/>
                </a:solidFill>
                <a:latin typeface="Calibri" pitchFamily="34" charset="0"/>
                <a:ea typeface="Calibri" pitchFamily="34" charset="-122"/>
                <a:cs typeface="Calibri" pitchFamily="34" charset="-120"/>
              </a:rPr>
              <a:t>Next steps and questions</a:t>
            </a:r>
            <a:endParaRPr lang="en-US" sz="2600" dirty="0"/>
          </a:p>
        </p:txBody>
      </p:sp>
      <p:sp>
        <p:nvSpPr>
          <p:cNvPr id="4" name="Text 2"/>
          <p:cNvSpPr txBox="1"/>
          <p:nvPr/>
        </p:nvSpPr>
        <p:spPr>
          <a:xfrm>
            <a:off x="548640" y="1188720"/>
            <a:ext cx="5486400" cy="365760"/>
          </a:xfrm>
          <a:prstGeom prst="rect">
            <a:avLst/>
          </a:prstGeom>
          <a:noFill/>
          <a:ln/>
        </p:spPr>
        <p:txBody>
          <a:bodyPr wrap="square" lIns="0" tIns="0" rIns="0" bIns="0" rtlCol="0" anchor="ctr"/>
          <a:lstStyle/>
          <a:p>
            <a:pPr indent="0" marL="0">
              <a:buNone/>
            </a:pPr>
            <a:r>
              <a:rPr lang="en-US" sz="1500" b="1" dirty="0">
                <a:solidFill>
                  <a:srgbClr val="000000"/>
                </a:solidFill>
                <a:latin typeface="Calibri" pitchFamily="34" charset="0"/>
                <a:ea typeface="Calibri" pitchFamily="34" charset="-122"/>
                <a:cs typeface="Calibri" pitchFamily="34" charset="-120"/>
              </a:rPr>
              <a:t>Next</a:t>
            </a:r>
            <a:endParaRPr lang="en-US" sz="1500" dirty="0"/>
          </a:p>
        </p:txBody>
      </p:sp>
      <p:sp>
        <p:nvSpPr>
          <p:cNvPr id="5" name="Text 3"/>
          <p:cNvSpPr txBox="1"/>
          <p:nvPr/>
        </p:nvSpPr>
        <p:spPr>
          <a:xfrm>
            <a:off x="548640" y="1645920"/>
            <a:ext cx="5486400" cy="38404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Decide on CityFlow: label shoot-out on cached data (no GPU), then v2 fine-tune and dispatcher rerun on the laptop GPU.</a:t>
            </a:r>
            <a:endParaRPr lang="en-US" sz="1300" dirty="0"/>
          </a:p>
          <a:p>
            <a:pPr marL="342900" indent="-342900">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Finish seed 2 for the later mixes (about 10 h left) and rerun the analysis.</a:t>
            </a:r>
            <a:endParaRPr lang="en-US" sz="1300" dirty="0"/>
          </a:p>
          <a:p>
            <a:pPr marL="342900" indent="-342900">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Calibrate every batch size from 1 to 16 (odd-size slowness).</a:t>
            </a:r>
            <a:endParaRPr lang="en-US" sz="1300" dirty="0"/>
          </a:p>
          <a:p>
            <a:pPr marL="342900" indent="-342900">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Fix the sampler cadence (8.25 Hz to 10 Hz).</a:t>
            </a:r>
            <a:endParaRPr lang="en-US" sz="1300" dirty="0"/>
          </a:p>
          <a:p>
            <a:pPr marL="342900" indent="-342900">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Check the Symphony collision hypothesis in batches.csv and Clockwork's per-queue fairness.</a:t>
            </a:r>
            <a:endParaRPr lang="en-US" sz="1300" dirty="0"/>
          </a:p>
          <a:p>
            <a:pPr marL="342900" indent="-342900">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Define index_T and run it on the same ladder.</a:t>
            </a:r>
            <a:endParaRPr lang="en-US" sz="1300" dirty="0"/>
          </a:p>
          <a:p>
            <a:pPr marL="342900" indent="-342900">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TensorRT backend as a realism step.</a:t>
            </a:r>
            <a:endParaRPr lang="en-US" sz="1300" dirty="0"/>
          </a:p>
        </p:txBody>
      </p:sp>
      <p:sp>
        <p:nvSpPr>
          <p:cNvPr id="6" name="Text 4"/>
          <p:cNvSpPr txBox="1"/>
          <p:nvPr/>
        </p:nvSpPr>
        <p:spPr>
          <a:xfrm>
            <a:off x="6400800" y="1188720"/>
            <a:ext cx="5212080" cy="365760"/>
          </a:xfrm>
          <a:prstGeom prst="rect">
            <a:avLst/>
          </a:prstGeom>
          <a:noFill/>
          <a:ln/>
        </p:spPr>
        <p:txBody>
          <a:bodyPr wrap="square" lIns="0" tIns="0" rIns="0" bIns="0" rtlCol="0" anchor="ctr"/>
          <a:lstStyle/>
          <a:p>
            <a:pPr indent="0" marL="0">
              <a:buNone/>
            </a:pPr>
            <a:r>
              <a:rPr lang="en-US" sz="1500" b="1" dirty="0">
                <a:solidFill>
                  <a:srgbClr val="000000"/>
                </a:solidFill>
                <a:latin typeface="Calibri" pitchFamily="34" charset="0"/>
                <a:ea typeface="Calibri" pitchFamily="34" charset="-122"/>
                <a:cs typeface="Calibri" pitchFamily="34" charset="-120"/>
              </a:rPr>
              <a:t>Questions for the meeting</a:t>
            </a:r>
            <a:endParaRPr lang="en-US" sz="1500" dirty="0"/>
          </a:p>
        </p:txBody>
      </p:sp>
      <p:sp>
        <p:nvSpPr>
          <p:cNvPr id="7" name="Text 5"/>
          <p:cNvSpPr txBox="1"/>
          <p:nvPr/>
        </p:nvSpPr>
        <p:spPr>
          <a:xfrm>
            <a:off x="6400800" y="1645920"/>
            <a:ext cx="5212080" cy="38404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Is a policy that defers only when slack is large and no other queue needs the GPU the right angle for the paper? (hypothesis: defer and batch like Symphony when there is slack, shed like Clockwork when there is not)</a:t>
            </a:r>
            <a:endParaRPr lang="en-US" sz="1300" dirty="0"/>
          </a:p>
          <a:p>
            <a:pPr marL="342900" indent="-342900">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Is goodput under a deadline the right headline, or should the energy-latency Pareto front be primary?</a:t>
            </a:r>
            <a:endParaRPr lang="en-US" sz="1300" dirty="0"/>
          </a:p>
          <a:p>
            <a:pPr marL="342900" indent="-342900">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Is eager FP16 acceptable for the evaluation, or should TensorRT come first?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8 update</dc:title>
  <dc:subject>PptxGenJS Presentation</dc:subject>
  <dc:creator>Affan Pathan</dc:creator>
  <cp:lastModifiedBy>Affan Pathan</cp:lastModifiedBy>
  <cp:revision>1</cp:revision>
  <dcterms:created xsi:type="dcterms:W3CDTF">2026-10-27T05:43:20Z</dcterms:created>
  <dcterms:modified xsi:type="dcterms:W3CDTF">2026-10-27T05:43:20Z</dcterms:modified>
</cp:coreProperties>
</file>